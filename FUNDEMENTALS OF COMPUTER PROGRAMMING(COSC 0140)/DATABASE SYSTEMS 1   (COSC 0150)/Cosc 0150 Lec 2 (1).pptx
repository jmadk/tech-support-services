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306" r:id="rId2"/>
    <p:sldId id="337" r:id="rId3"/>
    <p:sldId id="330" r:id="rId4"/>
    <p:sldId id="331" r:id="rId5"/>
    <p:sldId id="332" r:id="rId6"/>
    <p:sldId id="333" r:id="rId7"/>
    <p:sldId id="334" r:id="rId8"/>
    <p:sldId id="341" r:id="rId9"/>
    <p:sldId id="335" r:id="rId10"/>
    <p:sldId id="336" r:id="rId11"/>
    <p:sldId id="271" r:id="rId12"/>
    <p:sldId id="308" r:id="rId13"/>
    <p:sldId id="309" r:id="rId14"/>
    <p:sldId id="310" r:id="rId15"/>
    <p:sldId id="277" r:id="rId16"/>
    <p:sldId id="316" r:id="rId17"/>
    <p:sldId id="317" r:id="rId18"/>
    <p:sldId id="318" r:id="rId19"/>
    <p:sldId id="279" r:id="rId20"/>
    <p:sldId id="280" r:id="rId21"/>
    <p:sldId id="281" r:id="rId22"/>
    <p:sldId id="282" r:id="rId23"/>
    <p:sldId id="283" r:id="rId24"/>
    <p:sldId id="284" r:id="rId25"/>
    <p:sldId id="319" r:id="rId26"/>
    <p:sldId id="327" r:id="rId27"/>
    <p:sldId id="288" r:id="rId28"/>
    <p:sldId id="320" r:id="rId29"/>
    <p:sldId id="321" r:id="rId30"/>
    <p:sldId id="322" r:id="rId31"/>
    <p:sldId id="291" r:id="rId32"/>
    <p:sldId id="324" r:id="rId33"/>
    <p:sldId id="292" r:id="rId34"/>
    <p:sldId id="293" r:id="rId35"/>
    <p:sldId id="294" r:id="rId36"/>
    <p:sldId id="326" r:id="rId37"/>
    <p:sldId id="301" r:id="rId38"/>
    <p:sldId id="342" r:id="rId39"/>
    <p:sldId id="304" r:id="rId40"/>
    <p:sldId id="302" r:id="rId41"/>
    <p:sldId id="303" r:id="rId42"/>
    <p:sldId id="338" r:id="rId43"/>
    <p:sldId id="340" r:id="rId44"/>
    <p:sldId id="328" r:id="rId45"/>
    <p:sldId id="329" r:id="rId46"/>
    <p:sldId id="29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5" autoAdjust="0"/>
    <p:restoredTop sz="94660"/>
  </p:normalViewPr>
  <p:slideViewPr>
    <p:cSldViewPr snapToGrid="0">
      <p:cViewPr varScale="1">
        <p:scale>
          <a:sx n="78" d="100"/>
          <a:sy n="78" d="100"/>
        </p:scale>
        <p:origin x="2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10/11/2022</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17363" y="1754659"/>
            <a:ext cx="8915399" cy="786148"/>
          </a:xfrm>
        </p:spPr>
        <p:txBody>
          <a:bodyPr>
            <a:normAutofit/>
          </a:bodyPr>
          <a:lstStyle/>
          <a:p>
            <a:r>
              <a:rPr lang="en-US" sz="3800" b="1" dirty="0">
                <a:latin typeface="Calibri" panose="020F0502020204030204" pitchFamily="34" charset="0"/>
                <a:cs typeface="Calibri" panose="020F0502020204030204" pitchFamily="34" charset="0"/>
              </a:rPr>
              <a:t>DATA MODELS, SCHEMAS, AND INSTANCES</a:t>
            </a:r>
          </a:p>
        </p:txBody>
      </p:sp>
      <p:sp>
        <p:nvSpPr>
          <p:cNvPr id="3" name="Subtitle 2"/>
          <p:cNvSpPr>
            <a:spLocks noGrp="1"/>
          </p:cNvSpPr>
          <p:nvPr>
            <p:ph type="subTitle" idx="1"/>
          </p:nvPr>
        </p:nvSpPr>
        <p:spPr>
          <a:xfrm>
            <a:off x="5270629" y="3554061"/>
            <a:ext cx="2266993" cy="424816"/>
          </a:xfrm>
        </p:spPr>
        <p:txBody>
          <a:bodyPr/>
          <a:lstStyle/>
          <a:p>
            <a:r>
              <a:rPr lang="en-US" b="1" dirty="0" smtClean="0"/>
              <a:t>Lecture TWO</a:t>
            </a:r>
            <a:endParaRPr lang="en-US" b="1" dirty="0"/>
          </a:p>
        </p:txBody>
      </p:sp>
    </p:spTree>
    <p:extLst>
      <p:ext uri="{BB962C8B-B14F-4D97-AF65-F5344CB8AC3E}">
        <p14:creationId xmlns:p14="http://schemas.microsoft.com/office/powerpoint/2010/main" val="12306025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9365" y="687496"/>
            <a:ext cx="8955089" cy="560537"/>
          </a:xfrm>
        </p:spPr>
        <p:txBody>
          <a:bodyPr>
            <a:normAutofit/>
          </a:bodyPr>
          <a:lstStyle/>
          <a:p>
            <a:pPr algn="ctr"/>
            <a:r>
              <a:rPr lang="en-US" sz="2600" b="1" dirty="0" smtClean="0">
                <a:latin typeface="Calibri" panose="020F0502020204030204" pitchFamily="34" charset="0"/>
                <a:cs typeface="Calibri" panose="020F0502020204030204" pitchFamily="34" charset="0"/>
              </a:rPr>
              <a:t>DATABASE SCHEMA</a:t>
            </a:r>
            <a:endParaRPr lang="en-US" sz="2600" dirty="0"/>
          </a:p>
        </p:txBody>
      </p:sp>
      <p:sp>
        <p:nvSpPr>
          <p:cNvPr id="3" name="Content Placeholder 2"/>
          <p:cNvSpPr>
            <a:spLocks noGrp="1"/>
          </p:cNvSpPr>
          <p:nvPr>
            <p:ph idx="1"/>
          </p:nvPr>
        </p:nvSpPr>
        <p:spPr>
          <a:xfrm>
            <a:off x="1569308" y="1606378"/>
            <a:ext cx="9947190" cy="4609071"/>
          </a:xfrm>
        </p:spPr>
        <p:txBody>
          <a:bodyPr>
            <a:noAutofit/>
          </a:bodyPr>
          <a:lstStyle/>
          <a:p>
            <a:pPr>
              <a:lnSpc>
                <a:spcPct val="150000"/>
              </a:lnSpc>
            </a:pPr>
            <a:r>
              <a:rPr lang="en-US" dirty="0" smtClean="0">
                <a:latin typeface="Calibri" panose="020F0502020204030204" pitchFamily="34" charset="0"/>
                <a:cs typeface="Calibri" panose="020F0502020204030204" pitchFamily="34" charset="0"/>
              </a:rPr>
              <a:t>When the database is designed to meet the information needs of an organization, the schema of the database and the actual data to be stored in it becomes the most important concern of the organization. It is important to note that the data in the database changes frequently, while the schema remains the same over periods of time (although not necessarily forever).</a:t>
            </a:r>
          </a:p>
          <a:p>
            <a:pPr>
              <a:lnSpc>
                <a:spcPct val="150000"/>
              </a:lnSpc>
            </a:pPr>
            <a:r>
              <a:rPr lang="en-US" dirty="0" smtClean="0">
                <a:latin typeface="Calibri" panose="020F0502020204030204" pitchFamily="34" charset="0"/>
                <a:cs typeface="Calibri" panose="020F0502020204030204" pitchFamily="34" charset="0"/>
              </a:rPr>
              <a:t>The description of the database is known as schema. It gives the names of the entities and attributes. It specifies the relationship among them. It is a framework into which values of the data fields are fitted. </a:t>
            </a:r>
          </a:p>
          <a:p>
            <a:pPr>
              <a:lnSpc>
                <a:spcPct val="150000"/>
              </a:lnSpc>
            </a:pPr>
            <a:r>
              <a:rPr lang="en-US" dirty="0" smtClean="0">
                <a:latin typeface="Calibri" panose="020F0502020204030204" pitchFamily="34" charset="0"/>
                <a:cs typeface="Calibri" panose="020F0502020204030204" pitchFamily="34" charset="0"/>
              </a:rPr>
              <a:t>The data values that populates the database at any point in time is known as an </a:t>
            </a:r>
            <a:r>
              <a:rPr lang="en-US" i="1" dirty="0" smtClean="0">
                <a:latin typeface="Calibri" panose="020F0502020204030204" pitchFamily="34" charset="0"/>
                <a:cs typeface="Calibri" panose="020F0502020204030204" pitchFamily="34" charset="0"/>
              </a:rPr>
              <a:t>instance </a:t>
            </a:r>
            <a:r>
              <a:rPr lang="en-US" dirty="0" smtClean="0">
                <a:latin typeface="Calibri" panose="020F0502020204030204" pitchFamily="34" charset="0"/>
                <a:cs typeface="Calibri" panose="020F0502020204030204" pitchFamily="34" charset="0"/>
              </a:rPr>
              <a:t>of the database. It is also referred to as the state of the database or snapshot</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82037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4281" y="514501"/>
            <a:ext cx="7628910" cy="511109"/>
          </a:xfrm>
        </p:spPr>
        <p:txBody>
          <a:bodyPr>
            <a:normAutofit/>
          </a:bodyPr>
          <a:lstStyle/>
          <a:p>
            <a:pPr algn="ctr"/>
            <a:r>
              <a:rPr lang="en-US" sz="2400" b="1" dirty="0" smtClean="0">
                <a:latin typeface="Calibri" panose="020F0502020204030204" pitchFamily="34" charset="0"/>
                <a:cs typeface="Calibri" panose="020F0502020204030204" pitchFamily="34" charset="0"/>
              </a:rPr>
              <a:t>THREE LEVEL ANSI-SPARC DATABASE ARCHITECTURE</a:t>
            </a:r>
            <a:endParaRPr lang="en-US" sz="24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976183" y="1322173"/>
            <a:ext cx="10293178" cy="5222789"/>
          </a:xfrm>
        </p:spPr>
        <p:txBody>
          <a:bodyPr>
            <a:normAutofit/>
          </a:bodyPr>
          <a:lstStyle/>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database system is a collection of interrelated data and a set of programs that allow users to access and modify these data. A major purpose of a database system is to provide users with an abstract view of the data. That is, the system hides certain details of how the data are stored and </a:t>
            </a:r>
            <a:r>
              <a:rPr lang="en-US" dirty="0" smtClean="0">
                <a:latin typeface="Calibri" panose="020F0502020204030204" pitchFamily="34" charset="0"/>
                <a:cs typeface="Calibri" panose="020F0502020204030204" pitchFamily="34" charset="0"/>
              </a:rPr>
              <a:t>maintained (data abstraction). </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For </a:t>
            </a:r>
            <a:r>
              <a:rPr lang="en-US" dirty="0">
                <a:latin typeface="Calibri" panose="020F0502020204030204" pitchFamily="34" charset="0"/>
                <a:cs typeface="Calibri" panose="020F0502020204030204" pitchFamily="34" charset="0"/>
              </a:rPr>
              <a:t>the system to be usable, it must retrieve data efficiently. The need for efficiency has led designers to use complex data structures to represent data in the database. Since many database-system users are not computer trained, developers hide the complexity from users through several levels of abstraction, to simplify users’ interactions with the </a:t>
            </a:r>
            <a:r>
              <a:rPr lang="en-US" dirty="0" smtClean="0">
                <a:latin typeface="Calibri" panose="020F0502020204030204" pitchFamily="34" charset="0"/>
                <a:cs typeface="Calibri" panose="020F0502020204030204" pitchFamily="34" charset="0"/>
              </a:rPr>
              <a:t>system.</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73520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96315" y="2063580"/>
            <a:ext cx="3954161" cy="3274540"/>
          </a:xfrm>
        </p:spPr>
        <p:txBody>
          <a:bodyPr>
            <a:normAutofit lnSpcReduction="10000"/>
          </a:bodyPr>
          <a:lstStyle/>
          <a:p>
            <a:pPr>
              <a:lnSpc>
                <a:spcPct val="200000"/>
              </a:lnSpc>
            </a:pPr>
            <a:r>
              <a:rPr lang="en-US" dirty="0" smtClean="0">
                <a:latin typeface="Calibri" panose="020F0502020204030204" pitchFamily="34" charset="0"/>
                <a:cs typeface="Calibri" panose="020F0502020204030204" pitchFamily="34" charset="0"/>
              </a:rPr>
              <a:t>The architecture consists of the following levels</a:t>
            </a:r>
          </a:p>
          <a:p>
            <a:pPr marL="400050" lvl="1" indent="0">
              <a:lnSpc>
                <a:spcPct val="200000"/>
              </a:lnSpc>
              <a:buNone/>
            </a:pPr>
            <a:r>
              <a:rPr lang="en-US" sz="1700" dirty="0">
                <a:latin typeface="Calibri" panose="020F0502020204030204" pitchFamily="34" charset="0"/>
                <a:cs typeface="Calibri" panose="020F0502020204030204" pitchFamily="34" charset="0"/>
              </a:rPr>
              <a:t>1. External level</a:t>
            </a:r>
            <a:br>
              <a:rPr lang="en-US" sz="1700" dirty="0">
                <a:latin typeface="Calibri" panose="020F0502020204030204" pitchFamily="34" charset="0"/>
                <a:cs typeface="Calibri" panose="020F0502020204030204" pitchFamily="34" charset="0"/>
              </a:rPr>
            </a:br>
            <a:r>
              <a:rPr lang="en-US" sz="1700" dirty="0">
                <a:latin typeface="Calibri" panose="020F0502020204030204" pitchFamily="34" charset="0"/>
                <a:cs typeface="Calibri" panose="020F0502020204030204" pitchFamily="34" charset="0"/>
              </a:rPr>
              <a:t>2. Conceptual level</a:t>
            </a:r>
            <a:br>
              <a:rPr lang="en-US" sz="1700" dirty="0">
                <a:latin typeface="Calibri" panose="020F0502020204030204" pitchFamily="34" charset="0"/>
                <a:cs typeface="Calibri" panose="020F0502020204030204" pitchFamily="34" charset="0"/>
              </a:rPr>
            </a:br>
            <a:r>
              <a:rPr lang="en-US" sz="1700" dirty="0">
                <a:latin typeface="Calibri" panose="020F0502020204030204" pitchFamily="34" charset="0"/>
                <a:cs typeface="Calibri" panose="020F0502020204030204" pitchFamily="34" charset="0"/>
              </a:rPr>
              <a:t>3. Internal </a:t>
            </a:r>
            <a:r>
              <a:rPr lang="en-US" sz="1700" dirty="0" smtClean="0">
                <a:latin typeface="Calibri" panose="020F0502020204030204" pitchFamily="34" charset="0"/>
                <a:cs typeface="Calibri" panose="020F0502020204030204" pitchFamily="34" charset="0"/>
              </a:rPr>
              <a:t>level</a:t>
            </a:r>
            <a:r>
              <a:rPr lang="en-US" b="1" dirty="0">
                <a:latin typeface="Calibri" panose="020F0502020204030204" pitchFamily="34" charset="0"/>
                <a:cs typeface="Calibri" panose="020F0502020204030204" pitchFamily="34" charset="0"/>
              </a:rPr>
              <a:t/>
            </a:r>
            <a:br>
              <a:rPr lang="en-US" b="1" dirty="0">
                <a:latin typeface="Calibri" panose="020F0502020204030204" pitchFamily="34" charset="0"/>
                <a:cs typeface="Calibri" panose="020F0502020204030204" pitchFamily="34" charset="0"/>
              </a:rPr>
            </a:br>
            <a:endParaRPr lang="en-US" b="1"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rotWithShape="1">
          <a:blip r:embed="rId2"/>
          <a:srcRect b="11321"/>
          <a:stretch/>
        </p:blipFill>
        <p:spPr>
          <a:xfrm>
            <a:off x="5535827" y="1892421"/>
            <a:ext cx="4497859" cy="3878184"/>
          </a:xfrm>
          <a:prstGeom prst="rect">
            <a:avLst/>
          </a:prstGeom>
        </p:spPr>
      </p:pic>
      <p:sp>
        <p:nvSpPr>
          <p:cNvPr id="7" name="Title 1"/>
          <p:cNvSpPr>
            <a:spLocks noGrp="1"/>
          </p:cNvSpPr>
          <p:nvPr>
            <p:ph type="title"/>
          </p:nvPr>
        </p:nvSpPr>
        <p:spPr>
          <a:xfrm>
            <a:off x="1915297" y="588642"/>
            <a:ext cx="7628910" cy="511109"/>
          </a:xfrm>
        </p:spPr>
        <p:txBody>
          <a:bodyPr>
            <a:normAutofit/>
          </a:bodyPr>
          <a:lstStyle/>
          <a:p>
            <a:pPr algn="ctr"/>
            <a:r>
              <a:rPr lang="en-US" sz="2400" b="1" dirty="0" smtClean="0">
                <a:latin typeface="Calibri" panose="020F0502020204030204" pitchFamily="34" charset="0"/>
                <a:cs typeface="Calibri" panose="020F0502020204030204" pitchFamily="34" charset="0"/>
              </a:rPr>
              <a:t>Three level database architecture</a:t>
            </a:r>
            <a:endParaRPr lang="en-US" sz="24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96545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5161" y="1816443"/>
            <a:ext cx="6594948" cy="4448433"/>
          </a:xfrm>
        </p:spPr>
        <p:txBody>
          <a:bodyPr>
            <a:normAutofit fontScale="92500"/>
          </a:bodyPr>
          <a:lstStyle/>
          <a:p>
            <a:pPr marL="0" indent="0">
              <a:lnSpc>
                <a:spcPct val="150000"/>
              </a:lnSpc>
              <a:buNone/>
            </a:pPr>
            <a:r>
              <a:rPr lang="en-US" b="1" dirty="0" smtClean="0">
                <a:latin typeface="Calibri" panose="020F0502020204030204" pitchFamily="34" charset="0"/>
                <a:cs typeface="Calibri" panose="020F0502020204030204" pitchFamily="34" charset="0"/>
              </a:rPr>
              <a:t>1. External </a:t>
            </a:r>
            <a:r>
              <a:rPr lang="en-US" b="1" dirty="0">
                <a:latin typeface="Calibri" panose="020F0502020204030204" pitchFamily="34" charset="0"/>
                <a:cs typeface="Calibri" panose="020F0502020204030204" pitchFamily="34" charset="0"/>
              </a:rPr>
              <a:t>level</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external level is the user’s view of the database. This level is at the highest level of abstraction where only those portions of the database of concern to a user or application program are included. </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In other words, this level describes part of the database that is relevant to the user. Any number of user views, even identical, may exist for a given conceptual or global view of the database. This external view includes only those </a:t>
            </a:r>
            <a:endParaRPr lang="en-US" dirty="0">
              <a:latin typeface="Calibri" panose="020F0502020204030204" pitchFamily="34" charset="0"/>
              <a:cs typeface="Calibri" panose="020F0502020204030204" pitchFamily="34" charset="0"/>
            </a:endParaRPr>
          </a:p>
        </p:txBody>
      </p:sp>
      <p:pic>
        <p:nvPicPr>
          <p:cNvPr id="4" name="Picture 3" descr="DBMS - Three Level Architecture"/>
          <p:cNvPicPr/>
          <p:nvPr/>
        </p:nvPicPr>
        <p:blipFill>
          <a:blip r:embed="rId2">
            <a:extLst>
              <a:ext uri="{28A0092B-C50C-407E-A947-70E740481C1C}">
                <a14:useLocalDpi xmlns:a14="http://schemas.microsoft.com/office/drawing/2010/main" val="0"/>
              </a:ext>
            </a:extLst>
          </a:blip>
          <a:srcRect/>
          <a:stretch>
            <a:fillRect/>
          </a:stretch>
        </p:blipFill>
        <p:spPr bwMode="auto">
          <a:xfrm>
            <a:off x="7920681" y="1519883"/>
            <a:ext cx="3225113" cy="3976172"/>
          </a:xfrm>
          <a:prstGeom prst="rect">
            <a:avLst/>
          </a:prstGeom>
          <a:noFill/>
          <a:ln>
            <a:noFill/>
          </a:ln>
        </p:spPr>
      </p:pic>
      <p:sp>
        <p:nvSpPr>
          <p:cNvPr id="2" name="Rectangle 1"/>
          <p:cNvSpPr/>
          <p:nvPr/>
        </p:nvSpPr>
        <p:spPr>
          <a:xfrm>
            <a:off x="3543086" y="772983"/>
            <a:ext cx="3200813" cy="369332"/>
          </a:xfrm>
          <a:prstGeom prst="rect">
            <a:avLst/>
          </a:prstGeom>
        </p:spPr>
        <p:txBody>
          <a:bodyPr wrap="none">
            <a:spAutoFit/>
          </a:bodyPr>
          <a:lstStyle/>
          <a:p>
            <a:r>
              <a:rPr lang="en-US" b="1" dirty="0">
                <a:latin typeface="Calibri" panose="020F0502020204030204" pitchFamily="34" charset="0"/>
                <a:cs typeface="Calibri" panose="020F0502020204030204" pitchFamily="34" charset="0"/>
              </a:rPr>
              <a:t>THREE-SCHEMA </a:t>
            </a:r>
            <a:r>
              <a:rPr lang="en-US" b="1" dirty="0" smtClean="0">
                <a:latin typeface="Calibri" panose="020F0502020204030204" pitchFamily="34" charset="0"/>
                <a:cs typeface="Calibri" panose="020F0502020204030204" pitchFamily="34" charset="0"/>
              </a:rPr>
              <a:t>ARCHITECTURE</a:t>
            </a:r>
            <a:endParaRPr lang="en-US" dirty="0"/>
          </a:p>
        </p:txBody>
      </p:sp>
    </p:spTree>
    <p:extLst>
      <p:ext uri="{BB962C8B-B14F-4D97-AF65-F5344CB8AC3E}">
        <p14:creationId xmlns:p14="http://schemas.microsoft.com/office/powerpoint/2010/main" val="20392630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38" y="1668160"/>
            <a:ext cx="10317892" cy="4485503"/>
          </a:xfrm>
        </p:spPr>
        <p:txBody>
          <a:bodyPr>
            <a:noAutofit/>
          </a:bodyPr>
          <a:lstStyle/>
          <a:p>
            <a:pPr marL="0" indent="0">
              <a:lnSpc>
                <a:spcPct val="150000"/>
              </a:lnSpc>
              <a:buNone/>
            </a:pPr>
            <a:r>
              <a:rPr lang="en-US" b="1" dirty="0" smtClean="0">
                <a:latin typeface="Calibri" panose="020F0502020204030204" pitchFamily="34" charset="0"/>
                <a:cs typeface="Calibri" panose="020F0502020204030204" pitchFamily="34" charset="0"/>
              </a:rPr>
              <a:t> 2. Conceptual </a:t>
            </a:r>
            <a:r>
              <a:rPr lang="en-US" b="1" dirty="0">
                <a:latin typeface="Calibri" panose="020F0502020204030204" pitchFamily="34" charset="0"/>
                <a:cs typeface="Calibri" panose="020F0502020204030204" pitchFamily="34" charset="0"/>
              </a:rPr>
              <a:t>level</a:t>
            </a:r>
          </a:p>
          <a:p>
            <a:pPr>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It is also </a:t>
            </a:r>
            <a:r>
              <a:rPr lang="en-US" dirty="0" smtClean="0">
                <a:latin typeface="Calibri" panose="020F0502020204030204" pitchFamily="34" charset="0"/>
                <a:cs typeface="Calibri" panose="020F0502020204030204" pitchFamily="34" charset="0"/>
              </a:rPr>
              <a:t>known as the </a:t>
            </a:r>
            <a:r>
              <a:rPr lang="en-US" b="1" dirty="0" smtClean="0">
                <a:latin typeface="Calibri" panose="020F0502020204030204" pitchFamily="34" charset="0"/>
                <a:cs typeface="Calibri" panose="020F0502020204030204" pitchFamily="34" charset="0"/>
              </a:rPr>
              <a:t>logical </a:t>
            </a:r>
            <a:r>
              <a:rPr lang="en-US" b="1" dirty="0">
                <a:latin typeface="Calibri" panose="020F0502020204030204" pitchFamily="34" charset="0"/>
                <a:cs typeface="Calibri" panose="020F0502020204030204" pitchFamily="34" charset="0"/>
              </a:rPr>
              <a:t>level</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At this level of database abstraction, all the database entities and relationships among them are included. This level describes what data is stored in the database and the relationships among the data. It contains the logical structure of the database as seen by the database Administrator.</a:t>
            </a:r>
            <a:endParaRPr lang="en-US"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conceptual schema hides the details of physical storage structures and concentrates on describing entities, data types, relationships, user operations, and constraints</a:t>
            </a:r>
            <a:r>
              <a:rPr lang="en-US" dirty="0" smtClean="0">
                <a:latin typeface="Calibri" panose="020F0502020204030204" pitchFamily="34" charset="0"/>
                <a:cs typeface="Calibri" panose="020F0502020204030204" pitchFamily="34" charset="0"/>
              </a:rPr>
              <a:t>.</a:t>
            </a:r>
          </a:p>
          <a:p>
            <a:pPr>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 conceptual level supports each external view, in that data available to a user must be contained in or derived from, the conceptual level.</a:t>
            </a:r>
            <a:endParaRPr lang="en-US" dirty="0">
              <a:latin typeface="Calibri" panose="020F0502020204030204" pitchFamily="34" charset="0"/>
              <a:cs typeface="Calibri" panose="020F0502020204030204" pitchFamily="34" charset="0"/>
            </a:endParaRPr>
          </a:p>
          <a:p>
            <a:pPr>
              <a:lnSpc>
                <a:spcPct val="150000"/>
              </a:lnSpc>
            </a:pPr>
            <a:endParaRPr lang="en-US" dirty="0">
              <a:latin typeface="Calibri" panose="020F0502020204030204" pitchFamily="34" charset="0"/>
              <a:cs typeface="Calibri" panose="020F0502020204030204" pitchFamily="34" charset="0"/>
            </a:endParaRPr>
          </a:p>
        </p:txBody>
      </p:sp>
      <p:sp>
        <p:nvSpPr>
          <p:cNvPr id="5" name="Rectangle 4"/>
          <p:cNvSpPr/>
          <p:nvPr/>
        </p:nvSpPr>
        <p:spPr>
          <a:xfrm>
            <a:off x="4445130" y="810053"/>
            <a:ext cx="3200813" cy="369332"/>
          </a:xfrm>
          <a:prstGeom prst="rect">
            <a:avLst/>
          </a:prstGeom>
        </p:spPr>
        <p:txBody>
          <a:bodyPr wrap="none">
            <a:spAutoFit/>
          </a:bodyPr>
          <a:lstStyle/>
          <a:p>
            <a:r>
              <a:rPr lang="en-US" b="1" dirty="0">
                <a:latin typeface="Calibri" panose="020F0502020204030204" pitchFamily="34" charset="0"/>
                <a:cs typeface="Calibri" panose="020F0502020204030204" pitchFamily="34" charset="0"/>
              </a:rPr>
              <a:t>THREE-SCHEMA </a:t>
            </a:r>
            <a:r>
              <a:rPr lang="en-US" b="1" dirty="0" smtClean="0">
                <a:latin typeface="Calibri" panose="020F0502020204030204" pitchFamily="34" charset="0"/>
                <a:cs typeface="Calibri" panose="020F0502020204030204" pitchFamily="34" charset="0"/>
              </a:rPr>
              <a:t>ARCHITECTURE</a:t>
            </a:r>
            <a:endParaRPr lang="en-US" dirty="0"/>
          </a:p>
        </p:txBody>
      </p:sp>
    </p:spTree>
    <p:extLst>
      <p:ext uri="{BB962C8B-B14F-4D97-AF65-F5344CB8AC3E}">
        <p14:creationId xmlns:p14="http://schemas.microsoft.com/office/powerpoint/2010/main" val="5722889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1" y="1631091"/>
            <a:ext cx="6882713" cy="4176585"/>
          </a:xfrm>
        </p:spPr>
        <p:txBody>
          <a:bodyPr>
            <a:noAutofit/>
          </a:bodyPr>
          <a:lstStyle/>
          <a:p>
            <a:pPr marL="0" indent="0">
              <a:lnSpc>
                <a:spcPct val="150000"/>
              </a:lnSpc>
              <a:buNone/>
            </a:pPr>
            <a:r>
              <a:rPr lang="en-US" b="1" dirty="0" smtClean="0">
                <a:latin typeface="Calibri" panose="020F0502020204030204" pitchFamily="34" charset="0"/>
                <a:cs typeface="Calibri" panose="020F0502020204030204" pitchFamily="34" charset="0"/>
              </a:rPr>
              <a:t>3. Internal </a:t>
            </a:r>
            <a:r>
              <a:rPr lang="en-US" b="1" dirty="0">
                <a:latin typeface="Calibri" panose="020F0502020204030204" pitchFamily="34" charset="0"/>
                <a:cs typeface="Calibri" panose="020F0502020204030204" pitchFamily="34" charset="0"/>
              </a:rPr>
              <a:t>level</a:t>
            </a:r>
          </a:p>
          <a:p>
            <a:pPr>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It is the physical representation of the database on the computer and this view is found at the lowest level of abstraction. This level indicates how the data will be stored in the database and describes the data structures, file structures and access methods to be used by the database. </a:t>
            </a:r>
          </a:p>
          <a:p>
            <a:pPr>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Essentially, internal schema summarizes how the relations described in the conceptual schema are actually stored on secondary storages devices such as disks and tapes..</a:t>
            </a:r>
            <a:endParaRPr lang="en-US" dirty="0">
              <a:latin typeface="Calibri" panose="020F0502020204030204" pitchFamily="34" charset="0"/>
              <a:cs typeface="Calibri" panose="020F0502020204030204" pitchFamily="34" charset="0"/>
            </a:endParaRPr>
          </a:p>
        </p:txBody>
      </p:sp>
      <p:pic>
        <p:nvPicPr>
          <p:cNvPr id="4" name="Picture 3" descr="DBMS - Three Level Architecture"/>
          <p:cNvPicPr/>
          <p:nvPr/>
        </p:nvPicPr>
        <p:blipFill>
          <a:blip r:embed="rId2">
            <a:extLst>
              <a:ext uri="{28A0092B-C50C-407E-A947-70E740481C1C}">
                <a14:useLocalDpi xmlns:a14="http://schemas.microsoft.com/office/drawing/2010/main" val="0"/>
              </a:ext>
            </a:extLst>
          </a:blip>
          <a:srcRect/>
          <a:stretch>
            <a:fillRect/>
          </a:stretch>
        </p:blipFill>
        <p:spPr bwMode="auto">
          <a:xfrm>
            <a:off x="7710617" y="1482811"/>
            <a:ext cx="4003589" cy="3185339"/>
          </a:xfrm>
          <a:prstGeom prst="rect">
            <a:avLst/>
          </a:prstGeom>
          <a:noFill/>
          <a:ln>
            <a:noFill/>
          </a:ln>
        </p:spPr>
      </p:pic>
      <p:sp>
        <p:nvSpPr>
          <p:cNvPr id="5" name="Rectangle 4"/>
          <p:cNvSpPr/>
          <p:nvPr/>
        </p:nvSpPr>
        <p:spPr>
          <a:xfrm>
            <a:off x="3456589" y="772984"/>
            <a:ext cx="3253711" cy="369332"/>
          </a:xfrm>
          <a:prstGeom prst="rect">
            <a:avLst/>
          </a:prstGeom>
        </p:spPr>
        <p:txBody>
          <a:bodyPr wrap="none">
            <a:spAutoFit/>
          </a:bodyPr>
          <a:lstStyle/>
          <a:p>
            <a:r>
              <a:rPr lang="en-US" b="1" dirty="0">
                <a:latin typeface="Calibri" panose="020F0502020204030204" pitchFamily="34" charset="0"/>
                <a:cs typeface="Calibri" panose="020F0502020204030204" pitchFamily="34" charset="0"/>
              </a:rPr>
              <a:t>THREE-SCHEMA </a:t>
            </a:r>
            <a:r>
              <a:rPr lang="en-US" b="1" dirty="0" smtClean="0">
                <a:latin typeface="Calibri" panose="020F0502020204030204" pitchFamily="34" charset="0"/>
                <a:cs typeface="Calibri" panose="020F0502020204030204" pitchFamily="34" charset="0"/>
              </a:rPr>
              <a:t>ARCHITECTURE</a:t>
            </a:r>
            <a:endParaRPr lang="en-US" dirty="0"/>
          </a:p>
        </p:txBody>
      </p:sp>
    </p:spTree>
    <p:extLst>
      <p:ext uri="{BB962C8B-B14F-4D97-AF65-F5344CB8AC3E}">
        <p14:creationId xmlns:p14="http://schemas.microsoft.com/office/powerpoint/2010/main" val="37639280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60389" y="1309814"/>
            <a:ext cx="10379677" cy="5288693"/>
          </a:xfrm>
        </p:spPr>
        <p:txBody>
          <a:bodyPr>
            <a:noAutofit/>
          </a:bodyPr>
          <a:lstStyle/>
          <a:p>
            <a:pPr marL="0" indent="0">
              <a:lnSpc>
                <a:spcPct val="150000"/>
              </a:lnSpc>
              <a:buNone/>
            </a:pPr>
            <a:r>
              <a:rPr lang="en-US" sz="1700" dirty="0" smtClean="0">
                <a:latin typeface="Calibri" panose="020F0502020204030204" pitchFamily="34" charset="0"/>
                <a:cs typeface="Calibri" panose="020F0502020204030204" pitchFamily="34" charset="0"/>
              </a:rPr>
              <a:t>The main objective of this architecture is to isolate each user’s view of the database from the way the database is physically stored or represented. Following are the advantages of the architecture</a:t>
            </a:r>
          </a:p>
          <a:p>
            <a:pPr>
              <a:lnSpc>
                <a:spcPct val="150000"/>
              </a:lnSpc>
            </a:pPr>
            <a:r>
              <a:rPr lang="en-US" sz="1700" dirty="0" smtClean="0">
                <a:latin typeface="Calibri" panose="020F0502020204030204" pitchFamily="34" charset="0"/>
                <a:cs typeface="Calibri" panose="020F0502020204030204" pitchFamily="34" charset="0"/>
              </a:rPr>
              <a:t>Each user is able to access the same data but have different customized view of the data as per their own needs. Each user can change the way he or she views the data and this change does not affect other users of the same database.</a:t>
            </a:r>
          </a:p>
          <a:p>
            <a:pPr>
              <a:lnSpc>
                <a:spcPct val="150000"/>
              </a:lnSpc>
            </a:pPr>
            <a:r>
              <a:rPr lang="en-US" sz="1700" dirty="0" smtClean="0">
                <a:latin typeface="Calibri" panose="020F0502020204030204" pitchFamily="34" charset="0"/>
                <a:cs typeface="Calibri" panose="020F0502020204030204" pitchFamily="34" charset="0"/>
              </a:rPr>
              <a:t>The user is not concerned about the physical data storage details. The user’s interaction with the database is independent of physical data storage organization.</a:t>
            </a:r>
          </a:p>
          <a:p>
            <a:pPr>
              <a:lnSpc>
                <a:spcPct val="150000"/>
              </a:lnSpc>
            </a:pPr>
            <a:r>
              <a:rPr lang="en-US" sz="1700" dirty="0" smtClean="0">
                <a:latin typeface="Calibri" panose="020F0502020204030204" pitchFamily="34" charset="0"/>
                <a:cs typeface="Calibri" panose="020F0502020204030204" pitchFamily="34" charset="0"/>
              </a:rPr>
              <a:t>The internal structure of the database is unaffected by changes to the physical storage organization, such as changeover to a new storage device.</a:t>
            </a:r>
          </a:p>
          <a:p>
            <a:pPr>
              <a:lnSpc>
                <a:spcPct val="150000"/>
              </a:lnSpc>
            </a:pPr>
            <a:r>
              <a:rPr lang="en-US" sz="1700" dirty="0" smtClean="0">
                <a:latin typeface="Calibri" panose="020F0502020204030204" pitchFamily="34" charset="0"/>
                <a:cs typeface="Calibri" panose="020F0502020204030204" pitchFamily="34" charset="0"/>
              </a:rPr>
              <a:t>The database administrator is able to change the database storage structures without affecting the user’s view</a:t>
            </a:r>
          </a:p>
          <a:p>
            <a:pPr>
              <a:lnSpc>
                <a:spcPct val="150000"/>
              </a:lnSpc>
            </a:pPr>
            <a:r>
              <a:rPr lang="en-US" sz="1700" dirty="0" smtClean="0">
                <a:latin typeface="Calibri" panose="020F0502020204030204" pitchFamily="34" charset="0"/>
                <a:cs typeface="Calibri" panose="020F0502020204030204" pitchFamily="34" charset="0"/>
              </a:rPr>
              <a:t>The database administrator is able to change the conceptual structure of the database without affecting all users.</a:t>
            </a:r>
            <a:endParaRPr lang="en-US" sz="1700" dirty="0">
              <a:latin typeface="Calibri" panose="020F0502020204030204" pitchFamily="34" charset="0"/>
              <a:cs typeface="Calibri" panose="020F0502020204030204" pitchFamily="34" charset="0"/>
            </a:endParaRPr>
          </a:p>
        </p:txBody>
      </p:sp>
      <p:sp>
        <p:nvSpPr>
          <p:cNvPr id="5" name="Rectangle 4"/>
          <p:cNvSpPr/>
          <p:nvPr/>
        </p:nvSpPr>
        <p:spPr>
          <a:xfrm>
            <a:off x="3456589" y="772984"/>
            <a:ext cx="3853234" cy="369332"/>
          </a:xfrm>
          <a:prstGeom prst="rect">
            <a:avLst/>
          </a:prstGeom>
        </p:spPr>
        <p:txBody>
          <a:bodyPr wrap="none">
            <a:spAutoFit/>
          </a:bodyPr>
          <a:lstStyle/>
          <a:p>
            <a:r>
              <a:rPr lang="en-US" b="1" dirty="0" smtClean="0">
                <a:latin typeface="Calibri" panose="020F0502020204030204" pitchFamily="34" charset="0"/>
                <a:cs typeface="Calibri" panose="020F0502020204030204" pitchFamily="34" charset="0"/>
              </a:rPr>
              <a:t>Advantages of Three level architecture</a:t>
            </a:r>
            <a:endParaRPr lang="en-US" dirty="0"/>
          </a:p>
        </p:txBody>
      </p:sp>
    </p:spTree>
    <p:extLst>
      <p:ext uri="{BB962C8B-B14F-4D97-AF65-F5344CB8AC3E}">
        <p14:creationId xmlns:p14="http://schemas.microsoft.com/office/powerpoint/2010/main" val="10316288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9815" y="1433385"/>
            <a:ext cx="9774195" cy="4769708"/>
          </a:xfrm>
        </p:spPr>
        <p:txBody>
          <a:bodyPr>
            <a:noAutofit/>
          </a:bodyPr>
          <a:lstStyle/>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Data independence is a major objective of implementing DBMS in an organization. It is the </a:t>
            </a:r>
            <a:r>
              <a:rPr lang="en-US" dirty="0">
                <a:latin typeface="Calibri" panose="020F0502020204030204" pitchFamily="34" charset="0"/>
                <a:cs typeface="Calibri" panose="020F0502020204030204" pitchFamily="34" charset="0"/>
              </a:rPr>
              <a:t>capacity to change the schema at one level of a database system without having to change the schema at the next higher level</a:t>
            </a:r>
            <a:r>
              <a:rPr lang="en-US" dirty="0" smtClean="0">
                <a:latin typeface="Calibri" panose="020F0502020204030204" pitchFamily="34" charset="0"/>
                <a:cs typeface="Calibri" panose="020F0502020204030204" pitchFamily="34" charset="0"/>
              </a:rPr>
              <a:t>.</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Data independence is achieved by DBMS through the three-schema architecture of data abstraction</a:t>
            </a:r>
          </a:p>
          <a:p>
            <a:pPr>
              <a:lnSpc>
                <a:spcPct val="20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There are two types of data </a:t>
            </a:r>
            <a:r>
              <a:rPr lang="en-US" dirty="0">
                <a:latin typeface="Calibri" panose="020F0502020204030204" pitchFamily="34" charset="0"/>
                <a:cs typeface="Calibri" panose="020F0502020204030204" pitchFamily="34" charset="0"/>
              </a:rPr>
              <a:t>independence</a:t>
            </a:r>
            <a:r>
              <a:rPr lang="en-US" dirty="0" smtClean="0">
                <a:latin typeface="Calibri" panose="020F0502020204030204" pitchFamily="34" charset="0"/>
                <a:cs typeface="Calibri" panose="020F0502020204030204" pitchFamily="34" charset="0"/>
              </a:rPr>
              <a:t>:</a:t>
            </a:r>
          </a:p>
          <a:p>
            <a:pPr marL="857250" lvl="1" indent="-457200">
              <a:lnSpc>
                <a:spcPct val="200000"/>
              </a:lnSpc>
              <a:buFont typeface="+mj-lt"/>
              <a:buAutoNum type="alphaLcParenR"/>
            </a:pPr>
            <a:r>
              <a:rPr lang="en-US" sz="1800" dirty="0" smtClean="0">
                <a:latin typeface="Calibri" panose="020F0502020204030204" pitchFamily="34" charset="0"/>
                <a:cs typeface="Calibri" panose="020F0502020204030204" pitchFamily="34" charset="0"/>
              </a:rPr>
              <a:t>Logical data independence</a:t>
            </a:r>
          </a:p>
          <a:p>
            <a:pPr marL="857250" lvl="1" indent="-457200">
              <a:lnSpc>
                <a:spcPct val="200000"/>
              </a:lnSpc>
              <a:buFont typeface="+mj-lt"/>
              <a:buAutoNum type="alphaLcParenR"/>
            </a:pPr>
            <a:r>
              <a:rPr lang="en-US" sz="1800" dirty="0" smtClean="0">
                <a:latin typeface="Calibri" panose="020F0502020204030204" pitchFamily="34" charset="0"/>
                <a:cs typeface="Calibri" panose="020F0502020204030204" pitchFamily="34" charset="0"/>
              </a:rPr>
              <a:t>Physical data independence</a:t>
            </a:r>
            <a:endParaRPr lang="en-US" sz="1800" dirty="0">
              <a:latin typeface="Calibri" panose="020F0502020204030204" pitchFamily="34" charset="0"/>
              <a:cs typeface="Calibri" panose="020F0502020204030204" pitchFamily="34" charset="0"/>
            </a:endParaRPr>
          </a:p>
        </p:txBody>
      </p:sp>
      <p:sp>
        <p:nvSpPr>
          <p:cNvPr id="5" name="Rectangle 4"/>
          <p:cNvSpPr/>
          <p:nvPr/>
        </p:nvSpPr>
        <p:spPr>
          <a:xfrm>
            <a:off x="4210351" y="637059"/>
            <a:ext cx="2698624" cy="430887"/>
          </a:xfrm>
          <a:prstGeom prst="rect">
            <a:avLst/>
          </a:prstGeom>
        </p:spPr>
        <p:txBody>
          <a:bodyPr wrap="none">
            <a:spAutoFit/>
          </a:bodyPr>
          <a:lstStyle/>
          <a:p>
            <a:r>
              <a:rPr lang="en-US" sz="2200" b="1" dirty="0" smtClean="0">
                <a:latin typeface="Calibri" panose="020F0502020204030204" pitchFamily="34" charset="0"/>
                <a:cs typeface="Calibri" panose="020F0502020204030204" pitchFamily="34" charset="0"/>
              </a:rPr>
              <a:t>DATA INDEPENDENCE</a:t>
            </a:r>
            <a:endParaRPr lang="en-US"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5162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1" y="1445742"/>
            <a:ext cx="10429102" cy="4930346"/>
          </a:xfrm>
        </p:spPr>
        <p:txBody>
          <a:bodyPr>
            <a:noAutofit/>
          </a:bodyPr>
          <a:lstStyle/>
          <a:p>
            <a:pPr>
              <a:lnSpc>
                <a:spcPct val="200000"/>
              </a:lnSpc>
              <a:buFont typeface="Wingdings" panose="05000000000000000000" pitchFamily="2" charset="2"/>
              <a:buChar char="ü"/>
            </a:pPr>
            <a:r>
              <a:rPr lang="en-US" sz="1900" b="1" dirty="0" smtClean="0">
                <a:latin typeface="Calibri" panose="020F0502020204030204" pitchFamily="34" charset="0"/>
                <a:cs typeface="Calibri" panose="020F0502020204030204" pitchFamily="34" charset="0"/>
              </a:rPr>
              <a:t>Logical </a:t>
            </a:r>
            <a:r>
              <a:rPr lang="en-US" sz="1900" b="1" dirty="0">
                <a:latin typeface="Calibri" panose="020F0502020204030204" pitchFamily="34" charset="0"/>
                <a:cs typeface="Calibri" panose="020F0502020204030204" pitchFamily="34" charset="0"/>
              </a:rPr>
              <a:t>data independence</a:t>
            </a:r>
            <a:r>
              <a:rPr lang="en-US" sz="1900" dirty="0">
                <a:latin typeface="Calibri" panose="020F0502020204030204" pitchFamily="34" charset="0"/>
                <a:cs typeface="Calibri" panose="020F0502020204030204" pitchFamily="34" charset="0"/>
              </a:rPr>
              <a:t> is the capacity to change the conceptual schema </a:t>
            </a:r>
            <a:r>
              <a:rPr lang="en-US" sz="1900" dirty="0" smtClean="0">
                <a:latin typeface="Calibri" panose="020F0502020204030204" pitchFamily="34" charset="0"/>
                <a:cs typeface="Calibri" panose="020F0502020204030204" pitchFamily="34" charset="0"/>
              </a:rPr>
              <a:t>without </a:t>
            </a:r>
            <a:r>
              <a:rPr lang="en-US" sz="1900" dirty="0">
                <a:latin typeface="Calibri" panose="020F0502020204030204" pitchFamily="34" charset="0"/>
                <a:cs typeface="Calibri" panose="020F0502020204030204" pitchFamily="34" charset="0"/>
              </a:rPr>
              <a:t>having to change external </a:t>
            </a:r>
            <a:r>
              <a:rPr lang="en-US" sz="1900" dirty="0" smtClean="0">
                <a:latin typeface="Calibri" panose="020F0502020204030204" pitchFamily="34" charset="0"/>
                <a:cs typeface="Calibri" panose="020F0502020204030204" pitchFamily="34" charset="0"/>
              </a:rPr>
              <a:t>schemas </a:t>
            </a:r>
            <a:r>
              <a:rPr lang="en-US" sz="1900" dirty="0">
                <a:latin typeface="Calibri" panose="020F0502020204030204" pitchFamily="34" charset="0"/>
                <a:cs typeface="Calibri" panose="020F0502020204030204" pitchFamily="34" charset="0"/>
              </a:rPr>
              <a:t>or application programs. We may change the conceptual schema to expand the database (by adding a record type or data item), to change constraints, or to reduce the database (by removing a record type or data </a:t>
            </a:r>
            <a:r>
              <a:rPr lang="en-US" sz="1900" dirty="0" smtClean="0">
                <a:latin typeface="Calibri" panose="020F0502020204030204" pitchFamily="34" charset="0"/>
                <a:cs typeface="Calibri" panose="020F0502020204030204" pitchFamily="34" charset="0"/>
              </a:rPr>
              <a:t>item)</a:t>
            </a:r>
          </a:p>
          <a:p>
            <a:pPr>
              <a:lnSpc>
                <a:spcPct val="200000"/>
              </a:lnSpc>
              <a:buFont typeface="Wingdings" panose="05000000000000000000" pitchFamily="2" charset="2"/>
              <a:buChar char="ü"/>
            </a:pPr>
            <a:r>
              <a:rPr lang="en-US" sz="2000" b="1" dirty="0" smtClean="0">
                <a:latin typeface="Calibri" panose="020F0502020204030204" pitchFamily="34" charset="0"/>
                <a:cs typeface="Calibri" panose="020F0502020204030204" pitchFamily="34" charset="0"/>
              </a:rPr>
              <a:t>Physical </a:t>
            </a:r>
            <a:r>
              <a:rPr lang="en-US" sz="2000" b="1" dirty="0">
                <a:latin typeface="Calibri" panose="020F0502020204030204" pitchFamily="34" charset="0"/>
                <a:cs typeface="Calibri" panose="020F0502020204030204" pitchFamily="34" charset="0"/>
              </a:rPr>
              <a:t>data independence </a:t>
            </a:r>
            <a:r>
              <a:rPr lang="en-US" sz="2000" dirty="0">
                <a:latin typeface="Calibri" panose="020F0502020204030204" pitchFamily="34" charset="0"/>
                <a:cs typeface="Calibri" panose="020F0502020204030204" pitchFamily="34" charset="0"/>
              </a:rPr>
              <a:t>is the capacity to change the internal schema </a:t>
            </a:r>
            <a:r>
              <a:rPr lang="en-US" sz="2000" dirty="0" smtClean="0">
                <a:latin typeface="Calibri" panose="020F0502020204030204" pitchFamily="34" charset="0"/>
                <a:cs typeface="Calibri" panose="020F0502020204030204" pitchFamily="34" charset="0"/>
              </a:rPr>
              <a:t>without </a:t>
            </a:r>
            <a:r>
              <a:rPr lang="en-US" sz="2000" dirty="0">
                <a:latin typeface="Calibri" panose="020F0502020204030204" pitchFamily="34" charset="0"/>
                <a:cs typeface="Calibri" panose="020F0502020204030204" pitchFamily="34" charset="0"/>
              </a:rPr>
              <a:t>having to change the conceptual schema. Hence, the external schemas need not be changed as well.</a:t>
            </a:r>
            <a:endParaRPr lang="en-US" sz="1900" dirty="0">
              <a:latin typeface="Calibri" panose="020F0502020204030204" pitchFamily="34" charset="0"/>
              <a:cs typeface="Calibri" panose="020F0502020204030204" pitchFamily="34" charset="0"/>
            </a:endParaRPr>
          </a:p>
        </p:txBody>
      </p:sp>
      <p:sp>
        <p:nvSpPr>
          <p:cNvPr id="5" name="Rectangle 4"/>
          <p:cNvSpPr/>
          <p:nvPr/>
        </p:nvSpPr>
        <p:spPr>
          <a:xfrm>
            <a:off x="3468946" y="686487"/>
            <a:ext cx="2698624" cy="430887"/>
          </a:xfrm>
          <a:prstGeom prst="rect">
            <a:avLst/>
          </a:prstGeom>
        </p:spPr>
        <p:txBody>
          <a:bodyPr wrap="none">
            <a:spAutoFit/>
          </a:bodyPr>
          <a:lstStyle/>
          <a:p>
            <a:r>
              <a:rPr lang="en-US" sz="2200" b="1" dirty="0" smtClean="0">
                <a:latin typeface="Calibri" panose="020F0502020204030204" pitchFamily="34" charset="0"/>
                <a:cs typeface="Calibri" panose="020F0502020204030204" pitchFamily="34" charset="0"/>
              </a:rPr>
              <a:t>DATA INDEPENDENCE</a:t>
            </a:r>
            <a:endParaRPr lang="en-US"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739667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7145" y="675139"/>
            <a:ext cx="7030995" cy="560537"/>
          </a:xfrm>
        </p:spPr>
        <p:txBody>
          <a:bodyPr>
            <a:normAutofit/>
          </a:bodyPr>
          <a:lstStyle/>
          <a:p>
            <a:pPr algn="ctr"/>
            <a:r>
              <a:rPr lang="en-US" sz="2600" b="1" dirty="0">
                <a:latin typeface="Calibri" panose="020F0502020204030204" pitchFamily="34" charset="0"/>
                <a:cs typeface="Calibri" panose="020F0502020204030204" pitchFamily="34" charset="0"/>
              </a:rPr>
              <a:t>DATA </a:t>
            </a:r>
            <a:r>
              <a:rPr lang="en-US" sz="2600" b="1" dirty="0" smtClean="0">
                <a:latin typeface="Calibri" panose="020F0502020204030204" pitchFamily="34" charset="0"/>
                <a:cs typeface="Calibri" panose="020F0502020204030204" pitchFamily="34" charset="0"/>
              </a:rPr>
              <a:t>MODELS</a:t>
            </a:r>
            <a:endParaRPr lang="en-US" sz="2600" dirty="0"/>
          </a:p>
        </p:txBody>
      </p:sp>
      <p:sp>
        <p:nvSpPr>
          <p:cNvPr id="3" name="Content Placeholder 2"/>
          <p:cNvSpPr>
            <a:spLocks noGrp="1"/>
          </p:cNvSpPr>
          <p:nvPr>
            <p:ph idx="1"/>
          </p:nvPr>
        </p:nvSpPr>
        <p:spPr>
          <a:xfrm>
            <a:off x="1210963" y="1556952"/>
            <a:ext cx="10305535" cy="5041557"/>
          </a:xfrm>
        </p:spPr>
        <p:txBody>
          <a:bodyPr>
            <a:normAutofit/>
          </a:bodyPr>
          <a:lstStyle/>
          <a:p>
            <a:pPr>
              <a:lnSpc>
                <a:spcPct val="200000"/>
              </a:lnSpc>
            </a:pPr>
            <a:r>
              <a:rPr lang="en-US" dirty="0">
                <a:latin typeface="Calibri" panose="020F0502020204030204" pitchFamily="34" charset="0"/>
                <a:cs typeface="Calibri" panose="020F0502020204030204" pitchFamily="34" charset="0"/>
              </a:rPr>
              <a:t>One fundamental characteristic of the database approach is that it provides some level of data abstraction by hiding details of data storage that are not needed by most database users.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data </a:t>
            </a:r>
            <a:r>
              <a:rPr lang="en-US" dirty="0" smtClean="0">
                <a:latin typeface="Calibri" panose="020F0502020204030204" pitchFamily="34" charset="0"/>
                <a:cs typeface="Calibri" panose="020F0502020204030204" pitchFamily="34" charset="0"/>
              </a:rPr>
              <a:t>model is a </a:t>
            </a:r>
            <a:r>
              <a:rPr lang="en-US" dirty="0">
                <a:latin typeface="Calibri" panose="020F0502020204030204" pitchFamily="34" charset="0"/>
                <a:cs typeface="Calibri" panose="020F0502020204030204" pitchFamily="34" charset="0"/>
              </a:rPr>
              <a:t>collection of concepts that can be used to describe the structure of a </a:t>
            </a:r>
            <a:r>
              <a:rPr lang="en-US" dirty="0" smtClean="0">
                <a:latin typeface="Calibri" panose="020F0502020204030204" pitchFamily="34" charset="0"/>
                <a:cs typeface="Calibri" panose="020F0502020204030204" pitchFamily="34" charset="0"/>
              </a:rPr>
              <a:t>database and it provides </a:t>
            </a:r>
            <a:r>
              <a:rPr lang="en-US" dirty="0">
                <a:latin typeface="Calibri" panose="020F0502020204030204" pitchFamily="34" charset="0"/>
                <a:cs typeface="Calibri" panose="020F0502020204030204" pitchFamily="34" charset="0"/>
              </a:rPr>
              <a:t>the necessary means to achieve this abstraction</a:t>
            </a:r>
            <a:r>
              <a:rPr lang="en-US" dirty="0" smtClean="0">
                <a:latin typeface="Calibri" panose="020F0502020204030204" pitchFamily="34" charset="0"/>
                <a:cs typeface="Calibri" panose="020F0502020204030204" pitchFamily="34" charset="0"/>
              </a:rPr>
              <a:t>. </a:t>
            </a:r>
          </a:p>
          <a:p>
            <a:pPr>
              <a:lnSpc>
                <a:spcPct val="200000"/>
              </a:lnSpc>
            </a:pPr>
            <a:r>
              <a:rPr lang="en-US" dirty="0" smtClean="0">
                <a:latin typeface="Calibri" panose="020F0502020204030204" pitchFamily="34" charset="0"/>
                <a:cs typeface="Calibri" panose="020F0502020204030204" pitchFamily="34" charset="0"/>
              </a:rPr>
              <a:t>By </a:t>
            </a:r>
            <a:r>
              <a:rPr lang="en-US" dirty="0">
                <a:latin typeface="Calibri" panose="020F0502020204030204" pitchFamily="34" charset="0"/>
                <a:cs typeface="Calibri" panose="020F0502020204030204" pitchFamily="34" charset="0"/>
              </a:rPr>
              <a:t>structure of a database, we mean the data types, relationships, and constraints that should hold for the </a:t>
            </a:r>
            <a:r>
              <a:rPr lang="en-US" dirty="0" smtClean="0">
                <a:latin typeface="Calibri" panose="020F0502020204030204" pitchFamily="34" charset="0"/>
                <a:cs typeface="Calibri" panose="020F0502020204030204" pitchFamily="34" charset="0"/>
              </a:rPr>
              <a:t>data. Most </a:t>
            </a:r>
            <a:r>
              <a:rPr lang="en-US" dirty="0">
                <a:latin typeface="Calibri" panose="020F0502020204030204" pitchFamily="34" charset="0"/>
                <a:cs typeface="Calibri" panose="020F0502020204030204" pitchFamily="34" charset="0"/>
              </a:rPr>
              <a:t>data models also include a set of basic operations for specifying retrievals and updates on the database.</a:t>
            </a:r>
          </a:p>
        </p:txBody>
      </p:sp>
    </p:spTree>
    <p:extLst>
      <p:ext uri="{BB962C8B-B14F-4D97-AF65-F5344CB8AC3E}">
        <p14:creationId xmlns:p14="http://schemas.microsoft.com/office/powerpoint/2010/main" val="24576672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9365" y="687496"/>
            <a:ext cx="8955089" cy="560537"/>
          </a:xfrm>
        </p:spPr>
        <p:txBody>
          <a:bodyPr>
            <a:normAutofit/>
          </a:bodyPr>
          <a:lstStyle/>
          <a:p>
            <a:pPr algn="ctr"/>
            <a:r>
              <a:rPr lang="en-US" sz="2600" b="1" dirty="0" smtClean="0">
                <a:latin typeface="Calibri" panose="020F0502020204030204" pitchFamily="34" charset="0"/>
                <a:cs typeface="Calibri" panose="020F0502020204030204" pitchFamily="34" charset="0"/>
              </a:rPr>
              <a:t>TYPES OF DATA MODELS</a:t>
            </a:r>
            <a:endParaRPr lang="en-US" sz="2600" dirty="0"/>
          </a:p>
        </p:txBody>
      </p:sp>
      <p:sp>
        <p:nvSpPr>
          <p:cNvPr id="3" name="Content Placeholder 2"/>
          <p:cNvSpPr>
            <a:spLocks noGrp="1"/>
          </p:cNvSpPr>
          <p:nvPr>
            <p:ph idx="1"/>
          </p:nvPr>
        </p:nvSpPr>
        <p:spPr>
          <a:xfrm>
            <a:off x="2990336" y="1729947"/>
            <a:ext cx="6363729" cy="4065372"/>
          </a:xfrm>
        </p:spPr>
        <p:txBody>
          <a:bodyPr>
            <a:normAutofit/>
          </a:bodyPr>
          <a:lstStyle/>
          <a:p>
            <a:pPr>
              <a:lnSpc>
                <a:spcPct val="200000"/>
              </a:lnSpc>
            </a:pPr>
            <a:r>
              <a:rPr lang="en-US" dirty="0" smtClean="0">
                <a:latin typeface="Calibri" panose="020F0502020204030204" pitchFamily="34" charset="0"/>
                <a:cs typeface="Calibri" panose="020F0502020204030204" pitchFamily="34" charset="0"/>
              </a:rPr>
              <a:t>The categories of data models include</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Object Oriented model</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Entity Relationship model (ER Model)</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Relational model</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Network model</a:t>
            </a:r>
          </a:p>
          <a:p>
            <a:pPr lvl="1">
              <a:lnSpc>
                <a:spcPct val="200000"/>
              </a:lnSpc>
              <a:buFont typeface="Wingdings" panose="05000000000000000000" pitchFamily="2" charset="2"/>
              <a:buChar char="ü"/>
            </a:pPr>
            <a:r>
              <a:rPr lang="en-US" sz="1800" dirty="0" smtClean="0">
                <a:latin typeface="Calibri" panose="020F0502020204030204" pitchFamily="34" charset="0"/>
                <a:cs typeface="Calibri" panose="020F0502020204030204" pitchFamily="34" charset="0"/>
              </a:rPr>
              <a:t>Hierarchical model</a:t>
            </a:r>
          </a:p>
          <a:p>
            <a:pPr>
              <a:lnSpc>
                <a:spcPct val="200000"/>
              </a:lnSpc>
            </a:pPr>
            <a:endParaRPr lang="en-US"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173389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1371600"/>
            <a:ext cx="10194324" cy="4852085"/>
          </a:xfrm>
        </p:spPr>
        <p:txBody>
          <a:bodyPr>
            <a:normAutofit lnSpcReduction="10000"/>
          </a:bodyPr>
          <a:lstStyle/>
          <a:p>
            <a:pPr marL="0" lvl="0" indent="0">
              <a:lnSpc>
                <a:spcPct val="200000"/>
              </a:lnSpc>
              <a:buNone/>
            </a:pPr>
            <a:r>
              <a:rPr lang="en-US" b="1" dirty="0">
                <a:solidFill>
                  <a:schemeClr val="tx1"/>
                </a:solidFill>
                <a:latin typeface="Calibri" panose="020F0502020204030204" pitchFamily="34" charset="0"/>
                <a:cs typeface="Calibri" panose="020F0502020204030204" pitchFamily="34" charset="0"/>
              </a:rPr>
              <a:t>E-R Model </a:t>
            </a:r>
            <a:r>
              <a:rPr lang="en-US" b="1" dirty="0">
                <a:latin typeface="Calibri" panose="020F0502020204030204" pitchFamily="34" charset="0"/>
                <a:cs typeface="Calibri" panose="020F0502020204030204" pitchFamily="34" charset="0"/>
              </a:rPr>
              <a:t>( Entity Relationship Model)</a:t>
            </a:r>
            <a:r>
              <a:rPr lang="en-US" b="1" dirty="0">
                <a:solidFill>
                  <a:schemeClr val="bg1"/>
                </a:solidFill>
                <a:latin typeface="Calibri" panose="020F0502020204030204" pitchFamily="34" charset="0"/>
                <a:cs typeface="Calibri" panose="020F0502020204030204" pitchFamily="34" charset="0"/>
              </a:rPr>
              <a:t> </a:t>
            </a:r>
            <a:endParaRPr lang="en-US" dirty="0">
              <a:solidFill>
                <a:schemeClr val="bg1"/>
              </a:solidFill>
              <a:latin typeface="Calibri" panose="020F0502020204030204" pitchFamily="34" charset="0"/>
              <a:cs typeface="Calibri" panose="020F0502020204030204" pitchFamily="34" charset="0"/>
            </a:endParaRPr>
          </a:p>
          <a:p>
            <a:pPr>
              <a:lnSpc>
                <a:spcPct val="200000"/>
              </a:lnSpc>
            </a:pPr>
            <a:r>
              <a:rPr lang="en-US" dirty="0">
                <a:latin typeface="Calibri" panose="020F0502020204030204" pitchFamily="34" charset="0"/>
                <a:cs typeface="Calibri" panose="020F0502020204030204" pitchFamily="34" charset="0"/>
              </a:rPr>
              <a:t>Entity-Relationship (ER) Model is based on the notion of real-world entities and relationships among them.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While </a:t>
            </a:r>
            <a:r>
              <a:rPr lang="en-US" dirty="0">
                <a:latin typeface="Calibri" panose="020F0502020204030204" pitchFamily="34" charset="0"/>
                <a:cs typeface="Calibri" panose="020F0502020204030204" pitchFamily="34" charset="0"/>
              </a:rPr>
              <a:t>formulating real-world scenario into the database model, the ER Model creates entity set, relationship set, general attributes and constraints</a:t>
            </a:r>
            <a:r>
              <a:rPr lang="en-US" dirty="0" smtClean="0">
                <a:latin typeface="Calibri" panose="020F0502020204030204" pitchFamily="34" charset="0"/>
                <a:cs typeface="Calibri" panose="020F0502020204030204" pitchFamily="34" charset="0"/>
              </a:rPr>
              <a:t>.</a:t>
            </a:r>
          </a:p>
          <a:p>
            <a:pPr marL="0" lvl="0" indent="0">
              <a:lnSpc>
                <a:spcPct val="200000"/>
              </a:lnSpc>
              <a:buNone/>
            </a:pPr>
            <a:r>
              <a:rPr lang="en-US" b="1" u="sng" dirty="0">
                <a:latin typeface="Calibri" panose="020F0502020204030204" pitchFamily="34" charset="0"/>
                <a:cs typeface="Calibri" panose="020F0502020204030204" pitchFamily="34" charset="0"/>
              </a:rPr>
              <a:t>Object-Oriented Model</a:t>
            </a:r>
            <a:endParaRPr lang="en-US" dirty="0">
              <a:latin typeface="Calibri" panose="020F0502020204030204" pitchFamily="34" charset="0"/>
              <a:cs typeface="Calibri" panose="020F0502020204030204" pitchFamily="34" charset="0"/>
            </a:endParaRPr>
          </a:p>
          <a:p>
            <a:pPr>
              <a:lnSpc>
                <a:spcPct val="200000"/>
              </a:lnSpc>
            </a:pPr>
            <a:r>
              <a:rPr lang="en-US" dirty="0">
                <a:latin typeface="Calibri" panose="020F0502020204030204" pitchFamily="34" charset="0"/>
                <a:cs typeface="Calibri" panose="020F0502020204030204" pitchFamily="34" charset="0"/>
              </a:rPr>
              <a:t>In Object-oriented Model data stored in the form of objects. It defines a database as a collection of objects which stores both data member values and operations.</a:t>
            </a:r>
          </a:p>
          <a:p>
            <a:pPr>
              <a:lnSpc>
                <a:spcPct val="200000"/>
              </a:lnSpc>
            </a:pPr>
            <a:endParaRPr lang="en-US" dirty="0">
              <a:latin typeface="Calibri" panose="020F0502020204030204" pitchFamily="34" charset="0"/>
              <a:cs typeface="Calibri" panose="020F0502020204030204" pitchFamily="34" charset="0"/>
            </a:endParaRPr>
          </a:p>
        </p:txBody>
      </p:sp>
      <p:sp>
        <p:nvSpPr>
          <p:cNvPr id="5" name="Title 1"/>
          <p:cNvSpPr>
            <a:spLocks noGrp="1"/>
          </p:cNvSpPr>
          <p:nvPr>
            <p:ph type="title"/>
          </p:nvPr>
        </p:nvSpPr>
        <p:spPr>
          <a:xfrm>
            <a:off x="1659365" y="687496"/>
            <a:ext cx="8955089" cy="560537"/>
          </a:xfrm>
        </p:spPr>
        <p:txBody>
          <a:bodyPr>
            <a:normAutofit/>
          </a:bodyPr>
          <a:lstStyle/>
          <a:p>
            <a:pPr algn="ctr"/>
            <a:r>
              <a:rPr lang="en-US" sz="2600" b="1" dirty="0" smtClean="0">
                <a:latin typeface="Calibri" panose="020F0502020204030204" pitchFamily="34" charset="0"/>
                <a:cs typeface="Calibri" panose="020F0502020204030204" pitchFamily="34" charset="0"/>
              </a:rPr>
              <a:t>TYPES OF DATA MODELS</a:t>
            </a:r>
            <a:endParaRPr lang="en-US" sz="2600" dirty="0"/>
          </a:p>
        </p:txBody>
      </p:sp>
    </p:spTree>
    <p:extLst>
      <p:ext uri="{BB962C8B-B14F-4D97-AF65-F5344CB8AC3E}">
        <p14:creationId xmlns:p14="http://schemas.microsoft.com/office/powerpoint/2010/main" val="32152069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38" y="1359242"/>
            <a:ext cx="10379675" cy="5251622"/>
          </a:xfrm>
        </p:spPr>
        <p:txBody>
          <a:bodyPr>
            <a:normAutofit fontScale="92500" lnSpcReduction="20000"/>
          </a:bodyPr>
          <a:lstStyle/>
          <a:p>
            <a:pPr marL="0" lvl="0" indent="0">
              <a:lnSpc>
                <a:spcPct val="200000"/>
              </a:lnSpc>
              <a:buNone/>
            </a:pPr>
            <a:r>
              <a:rPr lang="en-US" b="1" u="sng" dirty="0">
                <a:latin typeface="Calibri" panose="020F0502020204030204" pitchFamily="34" charset="0"/>
                <a:cs typeface="Calibri" panose="020F0502020204030204" pitchFamily="34" charset="0"/>
              </a:rPr>
              <a:t>Relational Model</a:t>
            </a:r>
            <a:endParaRPr lang="en-US" dirty="0">
              <a:latin typeface="Calibri" panose="020F0502020204030204" pitchFamily="34" charset="0"/>
              <a:cs typeface="Calibri" panose="020F0502020204030204" pitchFamily="34" charset="0"/>
            </a:endParaRPr>
          </a:p>
          <a:p>
            <a:pPr>
              <a:lnSpc>
                <a:spcPct val="200000"/>
              </a:lnSpc>
            </a:pPr>
            <a:r>
              <a:rPr lang="en-US" dirty="0">
                <a:latin typeface="Calibri" panose="020F0502020204030204" pitchFamily="34" charset="0"/>
                <a:cs typeface="Calibri" panose="020F0502020204030204" pitchFamily="34" charset="0"/>
              </a:rPr>
              <a:t>In relational model, the data and relationships are represented by collection of inter-related tables.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Each </a:t>
            </a:r>
            <a:r>
              <a:rPr lang="en-US" dirty="0">
                <a:latin typeface="Calibri" panose="020F0502020204030204" pitchFamily="34" charset="0"/>
                <a:cs typeface="Calibri" panose="020F0502020204030204" pitchFamily="34" charset="0"/>
              </a:rPr>
              <a:t>table is a group of column and rows, where column represents attribute of an entity and rows represents records</a:t>
            </a:r>
          </a:p>
          <a:p>
            <a:pPr marL="0" lvl="0" indent="0">
              <a:lnSpc>
                <a:spcPct val="200000"/>
              </a:lnSpc>
              <a:buNone/>
            </a:pPr>
            <a:r>
              <a:rPr lang="en-US" b="1" u="sng" dirty="0">
                <a:latin typeface="Calibri" panose="020F0502020204030204" pitchFamily="34" charset="0"/>
                <a:cs typeface="Calibri" panose="020F0502020204030204" pitchFamily="34" charset="0"/>
              </a:rPr>
              <a:t>Hierarchical Model</a:t>
            </a:r>
            <a:endParaRPr lang="en-US" dirty="0">
              <a:latin typeface="Calibri" panose="020F0502020204030204" pitchFamily="34" charset="0"/>
              <a:cs typeface="Calibri" panose="020F0502020204030204" pitchFamily="34" charset="0"/>
            </a:endParaRPr>
          </a:p>
          <a:p>
            <a:pPr>
              <a:lnSpc>
                <a:spcPct val="200000"/>
              </a:lnSpc>
            </a:pPr>
            <a:r>
              <a:rPr lang="en-US" dirty="0">
                <a:latin typeface="Calibri" panose="020F0502020204030204" pitchFamily="34" charset="0"/>
                <a:cs typeface="Calibri" panose="020F0502020204030204" pitchFamily="34" charset="0"/>
              </a:rPr>
              <a:t>Data is organized into a tree like structure with each </a:t>
            </a:r>
            <a:r>
              <a:rPr lang="en-US" dirty="0" smtClean="0">
                <a:latin typeface="Calibri" panose="020F0502020204030204" pitchFamily="34" charset="0"/>
                <a:cs typeface="Calibri" panose="020F0502020204030204" pitchFamily="34" charset="0"/>
              </a:rPr>
              <a:t>record </a:t>
            </a:r>
            <a:r>
              <a:rPr lang="en-US" dirty="0">
                <a:latin typeface="Calibri" panose="020F0502020204030204" pitchFamily="34" charset="0"/>
                <a:cs typeface="Calibri" panose="020F0502020204030204" pitchFamily="34" charset="0"/>
              </a:rPr>
              <a:t>having one parent record and many children.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main drawback of this model is that, it can have only one to many relationships between nodes</a:t>
            </a:r>
            <a:r>
              <a:rPr lang="en-US" dirty="0" smtClean="0">
                <a:latin typeface="Calibri" panose="020F0502020204030204" pitchFamily="34" charset="0"/>
                <a:cs typeface="Calibri" panose="020F0502020204030204" pitchFamily="34" charset="0"/>
              </a:rPr>
              <a:t>.</a:t>
            </a:r>
          </a:p>
          <a:p>
            <a:pPr marL="0" lvl="0" indent="0">
              <a:lnSpc>
                <a:spcPct val="200000"/>
              </a:lnSpc>
              <a:buNone/>
            </a:pPr>
            <a:r>
              <a:rPr lang="en-US" b="1" u="sng" dirty="0">
                <a:latin typeface="Calibri" panose="020F0502020204030204" pitchFamily="34" charset="0"/>
                <a:cs typeface="Calibri" panose="020F0502020204030204" pitchFamily="34" charset="0"/>
              </a:rPr>
              <a:t>Network Model</a:t>
            </a:r>
            <a:r>
              <a:rPr lang="en-US" dirty="0">
                <a:latin typeface="Calibri" panose="020F0502020204030204" pitchFamily="34" charset="0"/>
                <a:cs typeface="Calibri" panose="020F0502020204030204" pitchFamily="34" charset="0"/>
              </a:rPr>
              <a:t> – Network Model is same as hierarchical model except that it has graph-like structure rather than a tree-based structure. Unlike hierarchical model, this model allows each record to have more than one parent record</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a:lnSpc>
                <a:spcPct val="200000"/>
              </a:lnSpc>
            </a:pPr>
            <a:endParaRPr lang="en-US" dirty="0">
              <a:latin typeface="Calibri" panose="020F0502020204030204" pitchFamily="34" charset="0"/>
              <a:cs typeface="Calibri" panose="020F0502020204030204" pitchFamily="34" charset="0"/>
            </a:endParaRPr>
          </a:p>
        </p:txBody>
      </p:sp>
      <p:sp>
        <p:nvSpPr>
          <p:cNvPr id="4" name="Title 1"/>
          <p:cNvSpPr>
            <a:spLocks noGrp="1"/>
          </p:cNvSpPr>
          <p:nvPr>
            <p:ph type="title"/>
          </p:nvPr>
        </p:nvSpPr>
        <p:spPr>
          <a:xfrm>
            <a:off x="1647008" y="638069"/>
            <a:ext cx="8955089" cy="560537"/>
          </a:xfrm>
        </p:spPr>
        <p:txBody>
          <a:bodyPr>
            <a:normAutofit/>
          </a:bodyPr>
          <a:lstStyle/>
          <a:p>
            <a:pPr algn="ctr"/>
            <a:r>
              <a:rPr lang="en-US" sz="2600" b="1" dirty="0" smtClean="0">
                <a:latin typeface="Calibri" panose="020F0502020204030204" pitchFamily="34" charset="0"/>
                <a:cs typeface="Calibri" panose="020F0502020204030204" pitchFamily="34" charset="0"/>
              </a:rPr>
              <a:t>TYPES OF DATA MODELS</a:t>
            </a:r>
            <a:endParaRPr lang="en-US" sz="2600" dirty="0"/>
          </a:p>
        </p:txBody>
      </p:sp>
    </p:spTree>
    <p:extLst>
      <p:ext uri="{BB962C8B-B14F-4D97-AF65-F5344CB8AC3E}">
        <p14:creationId xmlns:p14="http://schemas.microsoft.com/office/powerpoint/2010/main" val="711435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3450" y="588644"/>
            <a:ext cx="7834183" cy="523466"/>
          </a:xfrm>
        </p:spPr>
        <p:txBody>
          <a:bodyPr>
            <a:normAutofit fontScale="90000"/>
          </a:bodyPr>
          <a:lstStyle/>
          <a:p>
            <a:pPr algn="ctr"/>
            <a:r>
              <a:rPr lang="en-US" sz="2900" b="1" dirty="0">
                <a:latin typeface="Calibri" panose="020F0502020204030204" pitchFamily="34" charset="0"/>
                <a:cs typeface="Calibri" panose="020F0502020204030204" pitchFamily="34" charset="0"/>
              </a:rPr>
              <a:t>Data Modeling Using the Entity-Relationship Model</a:t>
            </a:r>
          </a:p>
        </p:txBody>
      </p:sp>
      <p:sp>
        <p:nvSpPr>
          <p:cNvPr id="3" name="Content Placeholder 2"/>
          <p:cNvSpPr>
            <a:spLocks noGrp="1"/>
          </p:cNvSpPr>
          <p:nvPr>
            <p:ph idx="1"/>
          </p:nvPr>
        </p:nvSpPr>
        <p:spPr>
          <a:xfrm>
            <a:off x="1272745" y="1470453"/>
            <a:ext cx="9811265" cy="4782066"/>
          </a:xfrm>
        </p:spPr>
        <p:txBody>
          <a:bodyPr>
            <a:noAutofit/>
          </a:bodyPr>
          <a:lstStyle/>
          <a:p>
            <a:pPr lvl="1">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Conceptual </a:t>
            </a:r>
            <a:r>
              <a:rPr lang="en-US" sz="1900" dirty="0">
                <a:latin typeface="Calibri" panose="020F0502020204030204" pitchFamily="34" charset="0"/>
                <a:cs typeface="Calibri" panose="020F0502020204030204" pitchFamily="34" charset="0"/>
              </a:rPr>
              <a:t>modeling is a very important phase in designing a successful database </a:t>
            </a:r>
            <a:r>
              <a:rPr lang="en-US" sz="1900" dirty="0" smtClean="0">
                <a:latin typeface="Calibri" panose="020F0502020204030204" pitchFamily="34" charset="0"/>
                <a:cs typeface="Calibri" panose="020F0502020204030204" pitchFamily="34" charset="0"/>
              </a:rPr>
              <a:t>application.</a:t>
            </a:r>
          </a:p>
          <a:p>
            <a:pPr lvl="1">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The </a:t>
            </a:r>
            <a:r>
              <a:rPr lang="en-US" sz="1900" dirty="0">
                <a:latin typeface="Calibri" panose="020F0502020204030204" pitchFamily="34" charset="0"/>
                <a:cs typeface="Calibri" panose="020F0502020204030204" pitchFamily="34" charset="0"/>
              </a:rPr>
              <a:t>Entity-Relationship (ER) model, which is a popular </a:t>
            </a:r>
            <a:r>
              <a:rPr lang="en-US" sz="1900" dirty="0" smtClean="0">
                <a:latin typeface="Calibri" panose="020F0502020204030204" pitchFamily="34" charset="0"/>
                <a:cs typeface="Calibri" panose="020F0502020204030204" pitchFamily="34" charset="0"/>
              </a:rPr>
              <a:t>high </a:t>
            </a:r>
            <a:r>
              <a:rPr lang="en-US" sz="1900" dirty="0">
                <a:latin typeface="Calibri" panose="020F0502020204030204" pitchFamily="34" charset="0"/>
                <a:cs typeface="Calibri" panose="020F0502020204030204" pitchFamily="34" charset="0"/>
              </a:rPr>
              <a:t>level conceptual data </a:t>
            </a:r>
            <a:r>
              <a:rPr lang="en-US" sz="1900" dirty="0" smtClean="0">
                <a:latin typeface="Calibri" panose="020F0502020204030204" pitchFamily="34" charset="0"/>
                <a:cs typeface="Calibri" panose="020F0502020204030204" pitchFamily="34" charset="0"/>
              </a:rPr>
              <a:t>model, </a:t>
            </a:r>
            <a:r>
              <a:rPr lang="en-US" sz="1900" dirty="0">
                <a:latin typeface="Calibri" panose="020F0502020204030204" pitchFamily="34" charset="0"/>
                <a:cs typeface="Calibri" panose="020F0502020204030204" pitchFamily="34" charset="0"/>
              </a:rPr>
              <a:t>concentrates on </a:t>
            </a:r>
            <a:r>
              <a:rPr lang="en-US" sz="1900" dirty="0" smtClean="0">
                <a:latin typeface="Calibri" panose="020F0502020204030204" pitchFamily="34" charset="0"/>
                <a:cs typeface="Calibri" panose="020F0502020204030204" pitchFamily="34" charset="0"/>
              </a:rPr>
              <a:t>the </a:t>
            </a:r>
            <a:r>
              <a:rPr lang="en-US" sz="1900" dirty="0">
                <a:latin typeface="Calibri" panose="020F0502020204030204" pitchFamily="34" charset="0"/>
                <a:cs typeface="Calibri" panose="020F0502020204030204" pitchFamily="34" charset="0"/>
              </a:rPr>
              <a:t>database structures and constraints during database </a:t>
            </a:r>
            <a:r>
              <a:rPr lang="en-US" sz="1900" dirty="0" smtClean="0">
                <a:latin typeface="Calibri" panose="020F0502020204030204" pitchFamily="34" charset="0"/>
                <a:cs typeface="Calibri" panose="020F0502020204030204" pitchFamily="34" charset="0"/>
              </a:rPr>
              <a:t>design.</a:t>
            </a:r>
          </a:p>
          <a:p>
            <a:pPr lvl="1">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This </a:t>
            </a:r>
            <a:r>
              <a:rPr lang="en-US" sz="1900" dirty="0">
                <a:latin typeface="Calibri" panose="020F0502020204030204" pitchFamily="34" charset="0"/>
                <a:cs typeface="Calibri" panose="020F0502020204030204" pitchFamily="34" charset="0"/>
              </a:rPr>
              <a:t>model and its variations are frequently used for the conceptual design of database applications, and many database design tools employ its concepts</a:t>
            </a:r>
            <a:r>
              <a:rPr lang="en-US" sz="1900" dirty="0" smtClean="0">
                <a:latin typeface="Calibri" panose="020F0502020204030204" pitchFamily="34" charset="0"/>
                <a:cs typeface="Calibri" panose="020F0502020204030204" pitchFamily="34" charset="0"/>
              </a:rPr>
              <a:t>.</a:t>
            </a:r>
          </a:p>
          <a:p>
            <a:pPr lvl="1">
              <a:lnSpc>
                <a:spcPct val="200000"/>
              </a:lnSpc>
              <a:buFont typeface="Wingdings" panose="05000000000000000000" pitchFamily="2" charset="2"/>
              <a:buChar char="v"/>
            </a:pPr>
            <a:r>
              <a:rPr lang="en-US" sz="1900" dirty="0">
                <a:latin typeface="Calibri" panose="020F0502020204030204" pitchFamily="34" charset="0"/>
                <a:cs typeface="Calibri" panose="020F0502020204030204" pitchFamily="34" charset="0"/>
              </a:rPr>
              <a:t>The ER model describes data as entities, relationships, and attributes</a:t>
            </a:r>
          </a:p>
        </p:txBody>
      </p:sp>
    </p:spTree>
    <p:extLst>
      <p:ext uri="{BB962C8B-B14F-4D97-AF65-F5344CB8AC3E}">
        <p14:creationId xmlns:p14="http://schemas.microsoft.com/office/powerpoint/2010/main" val="183811458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5181" y="662784"/>
            <a:ext cx="4819134" cy="523466"/>
          </a:xfrm>
        </p:spPr>
        <p:txBody>
          <a:bodyPr>
            <a:normAutofit fontScale="90000"/>
          </a:bodyPr>
          <a:lstStyle/>
          <a:p>
            <a:pPr algn="ctr"/>
            <a:r>
              <a:rPr lang="en-US" sz="2900" b="1" dirty="0" smtClean="0">
                <a:latin typeface="Calibri" panose="020F0502020204030204" pitchFamily="34" charset="0"/>
                <a:cs typeface="Calibri" panose="020F0502020204030204" pitchFamily="34" charset="0"/>
              </a:rPr>
              <a:t>Entities and Attributes</a:t>
            </a:r>
            <a:endParaRPr lang="en-US" sz="29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272745" y="1408669"/>
            <a:ext cx="9811265" cy="4782066"/>
          </a:xfrm>
        </p:spPr>
        <p:txBody>
          <a:bodyPr>
            <a:noAutofit/>
          </a:bodyPr>
          <a:lstStyle/>
          <a:p>
            <a:pPr lvl="1">
              <a:lnSpc>
                <a:spcPct val="200000"/>
              </a:lnSpc>
              <a:buFont typeface="Wingdings" panose="05000000000000000000" pitchFamily="2" charset="2"/>
              <a:buChar char="v"/>
            </a:pPr>
            <a:r>
              <a:rPr lang="en-US" sz="2000" dirty="0">
                <a:latin typeface="Calibri" panose="020F0502020204030204" pitchFamily="34" charset="0"/>
                <a:cs typeface="Calibri" panose="020F0502020204030204" pitchFamily="34" charset="0"/>
              </a:rPr>
              <a:t>The basic object that the ER model represents is an entity, which is a "thing" in the real world with an independent existence. </a:t>
            </a:r>
            <a:endParaRPr lang="en-US" sz="2000" dirty="0" smtClean="0">
              <a:latin typeface="Calibri" panose="020F0502020204030204" pitchFamily="34" charset="0"/>
              <a:cs typeface="Calibri" panose="020F0502020204030204" pitchFamily="34" charset="0"/>
            </a:endParaRPr>
          </a:p>
          <a:p>
            <a:pPr lvl="1">
              <a:lnSpc>
                <a:spcPct val="200000"/>
              </a:lnSpc>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An </a:t>
            </a:r>
            <a:r>
              <a:rPr lang="en-US" sz="2000" dirty="0">
                <a:latin typeface="Calibri" panose="020F0502020204030204" pitchFamily="34" charset="0"/>
                <a:cs typeface="Calibri" panose="020F0502020204030204" pitchFamily="34" charset="0"/>
              </a:rPr>
              <a:t>entity may be an object with a physical existence (for example, a particular person, car, house, </a:t>
            </a:r>
            <a:r>
              <a:rPr lang="en-US" sz="2000" dirty="0" smtClean="0">
                <a:latin typeface="Calibri" panose="020F0502020204030204" pitchFamily="34" charset="0"/>
                <a:cs typeface="Calibri" panose="020F0502020204030204" pitchFamily="34" charset="0"/>
              </a:rPr>
              <a:t>or </a:t>
            </a:r>
            <a:r>
              <a:rPr lang="en-US" sz="2000" dirty="0">
                <a:latin typeface="Calibri" panose="020F0502020204030204" pitchFamily="34" charset="0"/>
                <a:cs typeface="Calibri" panose="020F0502020204030204" pitchFamily="34" charset="0"/>
              </a:rPr>
              <a:t>employee) or it may be an object with a conceptual existence (for example, a company, a job, or a university course). </a:t>
            </a:r>
            <a:endParaRPr lang="en-US" sz="2000" dirty="0" smtClean="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471112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5181" y="662784"/>
            <a:ext cx="4819134" cy="523466"/>
          </a:xfrm>
        </p:spPr>
        <p:txBody>
          <a:bodyPr>
            <a:normAutofit fontScale="90000"/>
          </a:bodyPr>
          <a:lstStyle/>
          <a:p>
            <a:pPr algn="ctr"/>
            <a:r>
              <a:rPr lang="en-US" sz="2900" b="1" dirty="0" smtClean="0">
                <a:latin typeface="Calibri" panose="020F0502020204030204" pitchFamily="34" charset="0"/>
                <a:cs typeface="Calibri" panose="020F0502020204030204" pitchFamily="34" charset="0"/>
              </a:rPr>
              <a:t>Entities and Attributes</a:t>
            </a:r>
            <a:endParaRPr lang="en-US" sz="29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36821" y="1421025"/>
            <a:ext cx="9625913" cy="4782066"/>
          </a:xfrm>
        </p:spPr>
        <p:txBody>
          <a:bodyPr>
            <a:noAutofit/>
          </a:bodyPr>
          <a:lstStyle/>
          <a:p>
            <a:pPr lvl="1">
              <a:lnSpc>
                <a:spcPct val="200000"/>
              </a:lnSpc>
              <a:buFont typeface="Wingdings" panose="05000000000000000000" pitchFamily="2" charset="2"/>
              <a:buChar char="v"/>
            </a:pPr>
            <a:r>
              <a:rPr lang="en-US" sz="2000" dirty="0">
                <a:latin typeface="Calibri" panose="020F0502020204030204" pitchFamily="34" charset="0"/>
                <a:cs typeface="Calibri" panose="020F0502020204030204" pitchFamily="34" charset="0"/>
              </a:rPr>
              <a:t>Each entity has attributes-the particular properties that describe it. </a:t>
            </a:r>
            <a:endParaRPr lang="en-US" sz="2000" dirty="0" smtClean="0">
              <a:latin typeface="Calibri" panose="020F0502020204030204" pitchFamily="34" charset="0"/>
              <a:cs typeface="Calibri" panose="020F0502020204030204" pitchFamily="34" charset="0"/>
            </a:endParaRPr>
          </a:p>
          <a:p>
            <a:pPr lvl="1">
              <a:lnSpc>
                <a:spcPct val="200000"/>
              </a:lnSpc>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For </a:t>
            </a:r>
            <a:r>
              <a:rPr lang="en-US" sz="2000" dirty="0">
                <a:latin typeface="Calibri" panose="020F0502020204030204" pitchFamily="34" charset="0"/>
                <a:cs typeface="Calibri" panose="020F0502020204030204" pitchFamily="34" charset="0"/>
              </a:rPr>
              <a:t>example, an employee entity may be described by the employee's name, age, address, salary, and job. </a:t>
            </a:r>
            <a:endParaRPr lang="en-US" sz="2000" dirty="0" smtClean="0">
              <a:latin typeface="Calibri" panose="020F0502020204030204" pitchFamily="34" charset="0"/>
              <a:cs typeface="Calibri" panose="020F0502020204030204" pitchFamily="34" charset="0"/>
            </a:endParaRPr>
          </a:p>
          <a:p>
            <a:pPr lvl="1">
              <a:lnSpc>
                <a:spcPct val="200000"/>
              </a:lnSpc>
              <a:buFont typeface="Wingdings" panose="05000000000000000000" pitchFamily="2" charset="2"/>
              <a:buChar char="v"/>
            </a:pPr>
            <a:r>
              <a:rPr lang="en-US" sz="2000" dirty="0" smtClean="0">
                <a:latin typeface="Calibri" panose="020F0502020204030204" pitchFamily="34" charset="0"/>
                <a:cs typeface="Calibri" panose="020F0502020204030204" pitchFamily="34" charset="0"/>
              </a:rPr>
              <a:t>A </a:t>
            </a:r>
            <a:r>
              <a:rPr lang="en-US" sz="2000" dirty="0">
                <a:latin typeface="Calibri" panose="020F0502020204030204" pitchFamily="34" charset="0"/>
                <a:cs typeface="Calibri" panose="020F0502020204030204" pitchFamily="34" charset="0"/>
              </a:rPr>
              <a:t>particular entity will have a value for each of its attributes. The attribute values that describe each entity become a major part of the data stored in the database.</a:t>
            </a:r>
            <a:endParaRPr lang="en-US" sz="1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733535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35181" y="662784"/>
            <a:ext cx="4819134" cy="523466"/>
          </a:xfrm>
        </p:spPr>
        <p:txBody>
          <a:bodyPr>
            <a:normAutofit fontScale="90000"/>
          </a:bodyPr>
          <a:lstStyle/>
          <a:p>
            <a:pPr algn="ctr"/>
            <a:r>
              <a:rPr lang="en-US" sz="2900" b="1" dirty="0" smtClean="0">
                <a:latin typeface="Calibri" panose="020F0502020204030204" pitchFamily="34" charset="0"/>
                <a:cs typeface="Calibri" panose="020F0502020204030204" pitchFamily="34" charset="0"/>
              </a:rPr>
              <a:t>TYPES OF ATTRIBUTES</a:t>
            </a:r>
            <a:endParaRPr lang="en-US" sz="2900"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2409568" y="1532237"/>
            <a:ext cx="7821828" cy="4769707"/>
          </a:xfrm>
        </p:spPr>
        <p:txBody>
          <a:bodyPr>
            <a:noAutofit/>
          </a:bodyPr>
          <a:lstStyle/>
          <a:p>
            <a:pPr lvl="1">
              <a:lnSpc>
                <a:spcPct val="200000"/>
              </a:lnSpc>
              <a:buFont typeface="Wingdings" panose="05000000000000000000" pitchFamily="2" charset="2"/>
              <a:buChar char="v"/>
            </a:pPr>
            <a:r>
              <a:rPr lang="en-US" sz="1900" dirty="0" smtClean="0">
                <a:latin typeface="Calibri" panose="020F0502020204030204" pitchFamily="34" charset="0"/>
                <a:cs typeface="Calibri" panose="020F0502020204030204" pitchFamily="34" charset="0"/>
              </a:rPr>
              <a:t>There are several </a:t>
            </a:r>
            <a:r>
              <a:rPr lang="en-US" sz="1900" dirty="0">
                <a:latin typeface="Calibri" panose="020F0502020204030204" pitchFamily="34" charset="0"/>
                <a:cs typeface="Calibri" panose="020F0502020204030204" pitchFamily="34" charset="0"/>
              </a:rPr>
              <a:t>types of attributes </a:t>
            </a:r>
            <a:r>
              <a:rPr lang="en-US" sz="1900" dirty="0" smtClean="0">
                <a:latin typeface="Calibri" panose="020F0502020204030204" pitchFamily="34" charset="0"/>
                <a:cs typeface="Calibri" panose="020F0502020204030204" pitchFamily="34" charset="0"/>
              </a:rPr>
              <a:t>in a ER </a:t>
            </a:r>
            <a:r>
              <a:rPr lang="en-US" sz="1900" dirty="0">
                <a:latin typeface="Calibri" panose="020F0502020204030204" pitchFamily="34" charset="0"/>
                <a:cs typeface="Calibri" panose="020F0502020204030204" pitchFamily="34" charset="0"/>
              </a:rPr>
              <a:t>model: </a:t>
            </a:r>
            <a:endParaRPr lang="en-US" sz="1900" dirty="0" smtClean="0">
              <a:latin typeface="Calibri" panose="020F0502020204030204" pitchFamily="34" charset="0"/>
              <a:cs typeface="Calibri" panose="020F0502020204030204" pitchFamily="34" charset="0"/>
            </a:endParaRPr>
          </a:p>
          <a:p>
            <a:pPr lvl="3">
              <a:lnSpc>
                <a:spcPct val="200000"/>
              </a:lnSpc>
              <a:buFont typeface="Wingdings" panose="05000000000000000000" pitchFamily="2" charset="2"/>
              <a:buChar char="ü"/>
            </a:pPr>
            <a:r>
              <a:rPr lang="en-US" sz="1900" dirty="0" smtClean="0">
                <a:latin typeface="Calibri" panose="020F0502020204030204" pitchFamily="34" charset="0"/>
                <a:cs typeface="Calibri" panose="020F0502020204030204" pitchFamily="34" charset="0"/>
              </a:rPr>
              <a:t>Simple attribute</a:t>
            </a:r>
          </a:p>
          <a:p>
            <a:pPr lvl="3">
              <a:lnSpc>
                <a:spcPct val="200000"/>
              </a:lnSpc>
              <a:buFont typeface="Wingdings" panose="05000000000000000000" pitchFamily="2" charset="2"/>
              <a:buChar char="ü"/>
            </a:pPr>
            <a:r>
              <a:rPr lang="en-US" sz="1900" dirty="0" smtClean="0">
                <a:latin typeface="Calibri" panose="020F0502020204030204" pitchFamily="34" charset="0"/>
                <a:cs typeface="Calibri" panose="020F0502020204030204" pitchFamily="34" charset="0"/>
              </a:rPr>
              <a:t>Composite attribute</a:t>
            </a:r>
          </a:p>
          <a:p>
            <a:pPr lvl="3">
              <a:lnSpc>
                <a:spcPct val="200000"/>
              </a:lnSpc>
              <a:buFont typeface="Wingdings" panose="05000000000000000000" pitchFamily="2" charset="2"/>
              <a:buChar char="ü"/>
            </a:pPr>
            <a:r>
              <a:rPr lang="en-US" sz="1900" dirty="0">
                <a:latin typeface="Calibri" panose="020F0502020204030204" pitchFamily="34" charset="0"/>
                <a:cs typeface="Calibri" panose="020F0502020204030204" pitchFamily="34" charset="0"/>
              </a:rPr>
              <a:t>S</a:t>
            </a:r>
            <a:r>
              <a:rPr lang="en-US" sz="1900" dirty="0" smtClean="0">
                <a:latin typeface="Calibri" panose="020F0502020204030204" pitchFamily="34" charset="0"/>
                <a:cs typeface="Calibri" panose="020F0502020204030204" pitchFamily="34" charset="0"/>
              </a:rPr>
              <a:t>ingle-valued attribute</a:t>
            </a:r>
            <a:endParaRPr lang="en-US" sz="1900" dirty="0">
              <a:latin typeface="Calibri" panose="020F0502020204030204" pitchFamily="34" charset="0"/>
              <a:cs typeface="Calibri" panose="020F0502020204030204" pitchFamily="34" charset="0"/>
            </a:endParaRPr>
          </a:p>
          <a:p>
            <a:pPr lvl="3">
              <a:lnSpc>
                <a:spcPct val="200000"/>
              </a:lnSpc>
              <a:buFont typeface="Wingdings" panose="05000000000000000000" pitchFamily="2" charset="2"/>
              <a:buChar char="ü"/>
            </a:pPr>
            <a:r>
              <a:rPr lang="en-US" sz="1900" dirty="0" smtClean="0">
                <a:latin typeface="Calibri" panose="020F0502020204030204" pitchFamily="34" charset="0"/>
                <a:cs typeface="Calibri" panose="020F0502020204030204" pitchFamily="34" charset="0"/>
              </a:rPr>
              <a:t>Multivalued attribute</a:t>
            </a:r>
          </a:p>
          <a:p>
            <a:pPr lvl="3">
              <a:lnSpc>
                <a:spcPct val="200000"/>
              </a:lnSpc>
              <a:buFont typeface="Wingdings" panose="05000000000000000000" pitchFamily="2" charset="2"/>
              <a:buChar char="ü"/>
            </a:pPr>
            <a:r>
              <a:rPr lang="en-US" sz="1900" dirty="0" smtClean="0">
                <a:latin typeface="Calibri" panose="020F0502020204030204" pitchFamily="34" charset="0"/>
                <a:cs typeface="Calibri" panose="020F0502020204030204" pitchFamily="34" charset="0"/>
              </a:rPr>
              <a:t>Derived attribute</a:t>
            </a:r>
            <a:endParaRPr lang="en-US" sz="19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101110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839" y="1161536"/>
            <a:ext cx="11096366" cy="5086864"/>
          </a:xfrm>
        </p:spPr>
        <p:txBody>
          <a:bodyPr>
            <a:normAutofit/>
          </a:bodyPr>
          <a:lstStyle/>
          <a:p>
            <a:pPr>
              <a:lnSpc>
                <a:spcPct val="200000"/>
              </a:lnSpc>
            </a:pPr>
            <a:r>
              <a:rPr lang="en-US" b="1" dirty="0">
                <a:latin typeface="Calibri" panose="020F0502020204030204" pitchFamily="34" charset="0"/>
                <a:cs typeface="Calibri" panose="020F0502020204030204" pitchFamily="34" charset="0"/>
              </a:rPr>
              <a:t>Simple attribute</a:t>
            </a:r>
            <a:r>
              <a:rPr lang="en-US" dirty="0">
                <a:latin typeface="Calibri" panose="020F0502020204030204" pitchFamily="34" charset="0"/>
                <a:cs typeface="Calibri" panose="020F0502020204030204" pitchFamily="34" charset="0"/>
              </a:rPr>
              <a:t> − Simple attributes are atomic values, which cannot be divided further. For example, a student's phone number is an atomic value of 10 digits.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They </a:t>
            </a:r>
            <a:r>
              <a:rPr lang="en-US" dirty="0">
                <a:latin typeface="Calibri" panose="020F0502020204030204" pitchFamily="34" charset="0"/>
                <a:cs typeface="Calibri" panose="020F0502020204030204" pitchFamily="34" charset="0"/>
              </a:rPr>
              <a:t>are represented by use of an eclipse as shown </a:t>
            </a:r>
            <a:r>
              <a:rPr lang="en-US" dirty="0" smtClean="0">
                <a:latin typeface="Calibri" panose="020F0502020204030204" pitchFamily="34" charset="0"/>
                <a:cs typeface="Calibri" panose="020F0502020204030204" pitchFamily="34" charset="0"/>
              </a:rPr>
              <a:t>below.</a:t>
            </a:r>
            <a:endParaRPr lang="en-US" dirty="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051222" y="650427"/>
            <a:ext cx="5454120" cy="486396"/>
          </a:xfrm>
        </p:spPr>
        <p:txBody>
          <a:bodyPr>
            <a:normAutofit fontScale="90000"/>
          </a:bodyPr>
          <a:lstStyle/>
          <a:p>
            <a:pPr algn="ctr"/>
            <a:r>
              <a:rPr lang="en-US" sz="3000" b="1" dirty="0" smtClean="0"/>
              <a:t>Types of attributes</a:t>
            </a:r>
            <a:endParaRPr lang="en-US" sz="3000" b="1" dirty="0"/>
          </a:p>
        </p:txBody>
      </p:sp>
      <p:grpSp>
        <p:nvGrpSpPr>
          <p:cNvPr id="5" name="Group 4"/>
          <p:cNvGrpSpPr/>
          <p:nvPr/>
        </p:nvGrpSpPr>
        <p:grpSpPr>
          <a:xfrm>
            <a:off x="2730844" y="3496963"/>
            <a:ext cx="4374291" cy="2137718"/>
            <a:chOff x="0" y="0"/>
            <a:chExt cx="4343400" cy="1800225"/>
          </a:xfrm>
        </p:grpSpPr>
        <p:sp>
          <p:nvSpPr>
            <p:cNvPr id="6" name="Rectangle 5"/>
            <p:cNvSpPr/>
            <p:nvPr/>
          </p:nvSpPr>
          <p:spPr>
            <a:xfrm>
              <a:off x="2247900" y="1190625"/>
              <a:ext cx="981075" cy="409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000" dirty="0">
                  <a:effectLst/>
                  <a:ea typeface="Calibri" panose="020F0502020204030204" pitchFamily="34" charset="0"/>
                  <a:cs typeface="Times New Roman" panose="02020603050405020304" pitchFamily="18" charset="0"/>
                </a:rPr>
                <a:t>Student</a:t>
              </a:r>
            </a:p>
          </p:txBody>
        </p:sp>
        <p:sp>
          <p:nvSpPr>
            <p:cNvPr id="7" name="Oval 6"/>
            <p:cNvSpPr/>
            <p:nvPr/>
          </p:nvSpPr>
          <p:spPr>
            <a:xfrm>
              <a:off x="3181350" y="171450"/>
              <a:ext cx="1162050" cy="638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Birthdate</a:t>
              </a:r>
              <a:endParaRPr lang="en-US" sz="1100">
                <a:effectLst/>
                <a:ea typeface="Calibri" panose="020F0502020204030204" pitchFamily="34" charset="0"/>
                <a:cs typeface="Times New Roman" panose="02020603050405020304" pitchFamily="18" charset="0"/>
              </a:endParaRPr>
            </a:p>
          </p:txBody>
        </p:sp>
        <p:sp>
          <p:nvSpPr>
            <p:cNvPr id="8" name="Oval 7"/>
            <p:cNvSpPr/>
            <p:nvPr/>
          </p:nvSpPr>
          <p:spPr>
            <a:xfrm>
              <a:off x="0" y="1038225"/>
              <a:ext cx="1333500" cy="76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Stud_RegNo</a:t>
              </a:r>
              <a:endParaRPr lang="en-US" sz="1100">
                <a:effectLst/>
                <a:ea typeface="Calibri" panose="020F0502020204030204" pitchFamily="34" charset="0"/>
                <a:cs typeface="Times New Roman" panose="02020603050405020304" pitchFamily="18" charset="0"/>
              </a:endParaRPr>
            </a:p>
          </p:txBody>
        </p:sp>
        <p:sp>
          <p:nvSpPr>
            <p:cNvPr id="9" name="Oval 8"/>
            <p:cNvSpPr/>
            <p:nvPr/>
          </p:nvSpPr>
          <p:spPr>
            <a:xfrm>
              <a:off x="895350" y="0"/>
              <a:ext cx="1162050" cy="638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name</a:t>
              </a:r>
            </a:p>
          </p:txBody>
        </p:sp>
        <p:cxnSp>
          <p:nvCxnSpPr>
            <p:cNvPr id="10" name="Straight Connector 9"/>
            <p:cNvCxnSpPr/>
            <p:nvPr/>
          </p:nvCxnSpPr>
          <p:spPr>
            <a:xfrm flipV="1">
              <a:off x="3038475" y="723900"/>
              <a:ext cx="333375"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flipV="1">
              <a:off x="1590675" y="628650"/>
              <a:ext cx="866775" cy="5619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flipV="1">
              <a:off x="1257300" y="1447800"/>
              <a:ext cx="981075" cy="1905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77595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4975" y="1643449"/>
            <a:ext cx="6561437" cy="4732638"/>
          </a:xfrm>
        </p:spPr>
        <p:txBody>
          <a:bodyPr>
            <a:normAutofit/>
          </a:bodyPr>
          <a:lstStyle/>
          <a:p>
            <a:pPr>
              <a:lnSpc>
                <a:spcPct val="150000"/>
              </a:lnSpc>
            </a:pPr>
            <a:r>
              <a:rPr lang="en-US" b="1" dirty="0">
                <a:latin typeface="Calibri" panose="020F0502020204030204" pitchFamily="34" charset="0"/>
                <a:cs typeface="Calibri" panose="020F0502020204030204" pitchFamily="34" charset="0"/>
              </a:rPr>
              <a:t>Composite attribute</a:t>
            </a:r>
            <a:r>
              <a:rPr lang="en-US" dirty="0">
                <a:latin typeface="Calibri" panose="020F0502020204030204" pitchFamily="34" charset="0"/>
                <a:cs typeface="Calibri" panose="020F0502020204030204" pitchFamily="34" charset="0"/>
              </a:rPr>
              <a:t> </a:t>
            </a:r>
          </a:p>
          <a:p>
            <a:pPr>
              <a:lnSpc>
                <a:spcPct val="150000"/>
              </a:lnSpc>
              <a:buFont typeface="Wingdings" panose="05000000000000000000" pitchFamily="2" charset="2"/>
              <a:buChar char="Ø"/>
            </a:pPr>
            <a:r>
              <a:rPr lang="en-US" dirty="0" smtClean="0">
                <a:latin typeface="Calibri" panose="020F0502020204030204" pitchFamily="34" charset="0"/>
                <a:cs typeface="Calibri" panose="020F0502020204030204" pitchFamily="34" charset="0"/>
              </a:rPr>
              <a:t>Composite </a:t>
            </a:r>
            <a:r>
              <a:rPr lang="en-US" dirty="0">
                <a:latin typeface="Calibri" panose="020F0502020204030204" pitchFamily="34" charset="0"/>
                <a:cs typeface="Calibri" panose="020F0502020204030204" pitchFamily="34" charset="0"/>
              </a:rPr>
              <a:t>attributes are made of more than one simple attribute</a:t>
            </a:r>
            <a:r>
              <a:rPr lang="en-US" dirty="0" smtClean="0">
                <a:latin typeface="Calibri" panose="020F0502020204030204" pitchFamily="34" charset="0"/>
                <a:cs typeface="Calibri" panose="020F0502020204030204" pitchFamily="34" charset="0"/>
              </a:rPr>
              <a:t>.</a:t>
            </a:r>
          </a:p>
          <a:p>
            <a:pPr>
              <a:lnSpc>
                <a:spcPct val="150000"/>
              </a:lnSpc>
              <a:buFont typeface="Wingdings" panose="05000000000000000000" pitchFamily="2" charset="2"/>
              <a:buChar char="Ø"/>
            </a:pPr>
            <a:r>
              <a:rPr lang="en-US" dirty="0" smtClean="0">
                <a:latin typeface="Calibri" panose="020F0502020204030204" pitchFamily="34" charset="0"/>
                <a:cs typeface="Calibri" panose="020F0502020204030204" pitchFamily="34" charset="0"/>
              </a:rPr>
              <a:t>For example</a:t>
            </a:r>
            <a:endParaRPr lang="en-US" dirty="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Ø"/>
            </a:pPr>
            <a:r>
              <a:rPr lang="en-US" dirty="0" smtClean="0">
                <a:latin typeface="Calibri" panose="020F0502020204030204" pitchFamily="34" charset="0"/>
                <a:cs typeface="Calibri" panose="020F0502020204030204" pitchFamily="34" charset="0"/>
              </a:rPr>
              <a:t>A </a:t>
            </a:r>
            <a:r>
              <a:rPr lang="en-US" dirty="0">
                <a:latin typeface="Calibri" panose="020F0502020204030204" pitchFamily="34" charset="0"/>
                <a:cs typeface="Calibri" panose="020F0502020204030204" pitchFamily="34" charset="0"/>
              </a:rPr>
              <a:t>student's </a:t>
            </a:r>
            <a:r>
              <a:rPr lang="en-US" dirty="0" smtClean="0">
                <a:latin typeface="Calibri" panose="020F0502020204030204" pitchFamily="34" charset="0"/>
                <a:cs typeface="Calibri" panose="020F0502020204030204" pitchFamily="34" charset="0"/>
              </a:rPr>
              <a:t>full </a:t>
            </a:r>
            <a:r>
              <a:rPr lang="en-US" dirty="0">
                <a:latin typeface="Calibri" panose="020F0502020204030204" pitchFamily="34" charset="0"/>
                <a:cs typeface="Calibri" panose="020F0502020204030204" pitchFamily="34" charset="0"/>
              </a:rPr>
              <a:t>name may have </a:t>
            </a:r>
            <a:r>
              <a:rPr lang="en-US" dirty="0" err="1">
                <a:latin typeface="Calibri" panose="020F0502020204030204" pitchFamily="34" charset="0"/>
                <a:cs typeface="Calibri" panose="020F0502020204030204" pitchFamily="34" charset="0"/>
              </a:rPr>
              <a:t>first_name</a:t>
            </a:r>
            <a:r>
              <a:rPr lang="en-US" dirty="0">
                <a:latin typeface="Calibri" panose="020F0502020204030204" pitchFamily="34" charset="0"/>
                <a:cs typeface="Calibri" panose="020F0502020204030204" pitchFamily="34" charset="0"/>
              </a:rPr>
              <a:t> and </a:t>
            </a:r>
            <a:r>
              <a:rPr lang="en-US" dirty="0" err="1">
                <a:latin typeface="Calibri" panose="020F0502020204030204" pitchFamily="34" charset="0"/>
                <a:cs typeface="Calibri" panose="020F0502020204030204" pitchFamily="34" charset="0"/>
              </a:rPr>
              <a:t>last_name</a:t>
            </a:r>
            <a:r>
              <a:rPr lang="en-US" dirty="0">
                <a:latin typeface="Calibri" panose="020F0502020204030204" pitchFamily="34" charset="0"/>
                <a:cs typeface="Calibri" panose="020F0502020204030204" pitchFamily="34" charset="0"/>
              </a:rPr>
              <a:t>. </a:t>
            </a:r>
            <a:endParaRPr lang="en-US" dirty="0" smtClean="0">
              <a:latin typeface="Calibri" panose="020F0502020204030204" pitchFamily="34" charset="0"/>
              <a:cs typeface="Calibri" panose="020F0502020204030204" pitchFamily="34" charset="0"/>
            </a:endParaRPr>
          </a:p>
          <a:p>
            <a:pPr>
              <a:lnSpc>
                <a:spcPct val="150000"/>
              </a:lnSpc>
              <a:buFont typeface="Wingdings" panose="05000000000000000000" pitchFamily="2" charset="2"/>
              <a:buChar char="Ø"/>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Address attribute </a:t>
            </a:r>
            <a:r>
              <a:rPr lang="en-US" dirty="0" smtClean="0">
                <a:latin typeface="Calibri" panose="020F0502020204030204" pitchFamily="34" charset="0"/>
                <a:cs typeface="Calibri" panose="020F0502020204030204" pitchFamily="34" charset="0"/>
              </a:rPr>
              <a:t>of an </a:t>
            </a:r>
            <a:r>
              <a:rPr lang="en-US" dirty="0">
                <a:latin typeface="Calibri" panose="020F0502020204030204" pitchFamily="34" charset="0"/>
                <a:cs typeface="Calibri" panose="020F0502020204030204" pitchFamily="34" charset="0"/>
              </a:rPr>
              <a:t>employee </a:t>
            </a:r>
            <a:r>
              <a:rPr lang="en-US" dirty="0" smtClean="0">
                <a:latin typeface="Calibri" panose="020F0502020204030204" pitchFamily="34" charset="0"/>
                <a:cs typeface="Calibri" panose="020F0502020204030204" pitchFamily="34" charset="0"/>
              </a:rPr>
              <a:t>can </a:t>
            </a:r>
            <a:r>
              <a:rPr lang="en-US" dirty="0">
                <a:latin typeface="Calibri" panose="020F0502020204030204" pitchFamily="34" charset="0"/>
                <a:cs typeface="Calibri" panose="020F0502020204030204" pitchFamily="34" charset="0"/>
              </a:rPr>
              <a:t>be subdivided into </a:t>
            </a:r>
            <a:r>
              <a:rPr lang="en-US" dirty="0" err="1">
                <a:latin typeface="Calibri" panose="020F0502020204030204" pitchFamily="34" charset="0"/>
                <a:cs typeface="Calibri" panose="020F0502020204030204" pitchFamily="34" charset="0"/>
              </a:rPr>
              <a:t>StreetAddress</a:t>
            </a:r>
            <a:r>
              <a:rPr lang="en-US" dirty="0">
                <a:latin typeface="Calibri" panose="020F0502020204030204" pitchFamily="34" charset="0"/>
                <a:cs typeface="Calibri" panose="020F0502020204030204" pitchFamily="34" charset="0"/>
              </a:rPr>
              <a:t>, City, State, and Zip,</a:t>
            </a:r>
          </a:p>
          <a:p>
            <a:pPr>
              <a:lnSpc>
                <a:spcPct val="150000"/>
              </a:lnSpc>
              <a:buFont typeface="Wingdings" panose="05000000000000000000" pitchFamily="2" charset="2"/>
              <a:buChar char="Ø"/>
            </a:pPr>
            <a:r>
              <a:rPr lang="en-US" dirty="0">
                <a:latin typeface="Calibri" panose="020F0502020204030204" pitchFamily="34" charset="0"/>
                <a:cs typeface="Calibri" panose="020F0502020204030204" pitchFamily="34" charset="0"/>
              </a:rPr>
              <a:t>If the attributes are composite, they are further divided in a tree like structure. Every node is then connected to its attribute. </a:t>
            </a:r>
            <a:endParaRPr lang="en-US"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1482812" y="526857"/>
            <a:ext cx="5379980" cy="708817"/>
          </a:xfrm>
        </p:spPr>
        <p:txBody>
          <a:bodyPr/>
          <a:lstStyle/>
          <a:p>
            <a:pPr algn="ctr"/>
            <a:r>
              <a:rPr lang="en-US" b="1" dirty="0" smtClean="0">
                <a:latin typeface="Calibri" panose="020F0502020204030204" pitchFamily="34" charset="0"/>
                <a:cs typeface="Calibri" panose="020F0502020204030204" pitchFamily="34" charset="0"/>
              </a:rPr>
              <a:t>Types of attributes</a:t>
            </a:r>
            <a:endParaRPr lang="en-US" b="1" dirty="0">
              <a:latin typeface="Calibri" panose="020F0502020204030204" pitchFamily="34" charset="0"/>
              <a:cs typeface="Calibri" panose="020F0502020204030204" pitchFamily="34" charset="0"/>
            </a:endParaRPr>
          </a:p>
        </p:txBody>
      </p:sp>
      <p:grpSp>
        <p:nvGrpSpPr>
          <p:cNvPr id="13" name="Group 12"/>
          <p:cNvGrpSpPr/>
          <p:nvPr/>
        </p:nvGrpSpPr>
        <p:grpSpPr>
          <a:xfrm>
            <a:off x="7068065" y="1524000"/>
            <a:ext cx="4782065" cy="3238157"/>
            <a:chOff x="0" y="0"/>
            <a:chExt cx="3260308" cy="2543175"/>
          </a:xfrm>
        </p:grpSpPr>
        <p:grpSp>
          <p:nvGrpSpPr>
            <p:cNvPr id="14" name="Group 13"/>
            <p:cNvGrpSpPr/>
            <p:nvPr/>
          </p:nvGrpSpPr>
          <p:grpSpPr>
            <a:xfrm>
              <a:off x="1151857" y="942975"/>
              <a:ext cx="2108451" cy="1600200"/>
              <a:chOff x="895350" y="0"/>
              <a:chExt cx="2333625" cy="1600200"/>
            </a:xfrm>
          </p:grpSpPr>
          <p:sp>
            <p:nvSpPr>
              <p:cNvPr id="19" name="Rectangle 18"/>
              <p:cNvSpPr/>
              <p:nvPr/>
            </p:nvSpPr>
            <p:spPr>
              <a:xfrm>
                <a:off x="2247900" y="1190625"/>
                <a:ext cx="981075" cy="409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Student</a:t>
                </a:r>
              </a:p>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 </a:t>
                </a:r>
              </a:p>
            </p:txBody>
          </p:sp>
          <p:sp>
            <p:nvSpPr>
              <p:cNvPr id="22" name="Oval 21"/>
              <p:cNvSpPr/>
              <p:nvPr/>
            </p:nvSpPr>
            <p:spPr>
              <a:xfrm>
                <a:off x="895350" y="0"/>
                <a:ext cx="1162050" cy="638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name</a:t>
                </a:r>
              </a:p>
            </p:txBody>
          </p:sp>
          <p:cxnSp>
            <p:nvCxnSpPr>
              <p:cNvPr id="24" name="Straight Connector 23"/>
              <p:cNvCxnSpPr/>
              <p:nvPr/>
            </p:nvCxnSpPr>
            <p:spPr>
              <a:xfrm flipH="1" flipV="1">
                <a:off x="1590675" y="628650"/>
                <a:ext cx="866775" cy="5619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15" name="Oval 14"/>
            <p:cNvSpPr/>
            <p:nvPr/>
          </p:nvSpPr>
          <p:spPr>
            <a:xfrm>
              <a:off x="0" y="85725"/>
              <a:ext cx="1028700" cy="523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First_name</a:t>
              </a:r>
              <a:endParaRPr lang="en-US" sz="1100">
                <a:effectLst/>
                <a:ea typeface="Calibri" panose="020F0502020204030204" pitchFamily="34" charset="0"/>
                <a:cs typeface="Times New Roman" panose="02020603050405020304" pitchFamily="18" charset="0"/>
              </a:endParaRPr>
            </a:p>
          </p:txBody>
        </p:sp>
        <p:sp>
          <p:nvSpPr>
            <p:cNvPr id="16" name="Oval 15"/>
            <p:cNvSpPr/>
            <p:nvPr/>
          </p:nvSpPr>
          <p:spPr>
            <a:xfrm>
              <a:off x="1543050" y="0"/>
              <a:ext cx="1028700" cy="523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Last_name</a:t>
              </a:r>
              <a:endParaRPr lang="en-US" sz="1100">
                <a:effectLst/>
                <a:ea typeface="Calibri" panose="020F0502020204030204" pitchFamily="34" charset="0"/>
                <a:cs typeface="Times New Roman" panose="02020603050405020304" pitchFamily="18" charset="0"/>
              </a:endParaRPr>
            </a:p>
          </p:txBody>
        </p:sp>
        <p:cxnSp>
          <p:nvCxnSpPr>
            <p:cNvPr id="17" name="Straight Connector 16"/>
            <p:cNvCxnSpPr/>
            <p:nvPr/>
          </p:nvCxnSpPr>
          <p:spPr>
            <a:xfrm flipV="1">
              <a:off x="1695450" y="457200"/>
              <a:ext cx="114300" cy="504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flipV="1">
              <a:off x="704850" y="561975"/>
              <a:ext cx="676275" cy="51435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570681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839" y="1161536"/>
            <a:ext cx="11096366" cy="5086864"/>
          </a:xfrm>
        </p:spPr>
        <p:txBody>
          <a:bodyPr>
            <a:normAutofit/>
          </a:bodyPr>
          <a:lstStyle/>
          <a:p>
            <a:pPr>
              <a:lnSpc>
                <a:spcPct val="250000"/>
              </a:lnSpc>
            </a:pPr>
            <a:r>
              <a:rPr lang="en-US" b="1" dirty="0">
                <a:latin typeface="Calibri" panose="020F0502020204030204" pitchFamily="34" charset="0"/>
                <a:cs typeface="Calibri" panose="020F0502020204030204" pitchFamily="34" charset="0"/>
              </a:rPr>
              <a:t>Multi-value attribute</a:t>
            </a:r>
            <a:r>
              <a:rPr lang="en-US" dirty="0">
                <a:latin typeface="Calibri" panose="020F0502020204030204" pitchFamily="34" charset="0"/>
                <a:cs typeface="Calibri" panose="020F0502020204030204" pitchFamily="34" charset="0"/>
              </a:rPr>
              <a:t> − Multi-value attributes may contain more than one values. For example, a person can have more than one phone number, </a:t>
            </a:r>
            <a:r>
              <a:rPr lang="en-US" dirty="0" err="1">
                <a:latin typeface="Calibri" panose="020F0502020204030204" pitchFamily="34" charset="0"/>
                <a:cs typeface="Calibri" panose="020F0502020204030204" pitchFamily="34" charset="0"/>
              </a:rPr>
              <a:t>email_address</a:t>
            </a:r>
            <a:r>
              <a:rPr lang="en-US" dirty="0">
                <a:latin typeface="Calibri" panose="020F0502020204030204" pitchFamily="34" charset="0"/>
                <a:cs typeface="Calibri" panose="020F0502020204030204" pitchFamily="34" charset="0"/>
              </a:rPr>
              <a:t>, etc. Multivalued attributes are depicted by double </a:t>
            </a:r>
            <a:r>
              <a:rPr lang="en-US" dirty="0" smtClean="0">
                <a:latin typeface="Calibri" panose="020F0502020204030204" pitchFamily="34" charset="0"/>
                <a:cs typeface="Calibri" panose="020F0502020204030204" pitchFamily="34" charset="0"/>
              </a:rPr>
              <a:t>ellipse</a:t>
            </a:r>
            <a:r>
              <a:rPr lang="en-US" dirty="0">
                <a:latin typeface="Calibri" panose="020F0502020204030204" pitchFamily="34" charset="0"/>
                <a:cs typeface="Calibri" panose="020F0502020204030204" pitchFamily="34" charset="0"/>
              </a:rPr>
              <a:t>.</a:t>
            </a:r>
          </a:p>
        </p:txBody>
      </p:sp>
      <p:sp>
        <p:nvSpPr>
          <p:cNvPr id="4" name="Title 3"/>
          <p:cNvSpPr>
            <a:spLocks noGrp="1"/>
          </p:cNvSpPr>
          <p:nvPr>
            <p:ph type="title"/>
          </p:nvPr>
        </p:nvSpPr>
        <p:spPr>
          <a:xfrm>
            <a:off x="2285999" y="477431"/>
            <a:ext cx="5898964" cy="708817"/>
          </a:xfrm>
        </p:spPr>
        <p:txBody>
          <a:bodyPr/>
          <a:lstStyle/>
          <a:p>
            <a:pPr algn="ctr"/>
            <a:r>
              <a:rPr lang="en-US" b="1" dirty="0" smtClean="0">
                <a:latin typeface="Calibri" panose="020F0502020204030204" pitchFamily="34" charset="0"/>
                <a:cs typeface="Calibri" panose="020F0502020204030204" pitchFamily="34" charset="0"/>
              </a:rPr>
              <a:t>Types of attributes</a:t>
            </a:r>
            <a:endParaRPr lang="en-US" b="1" dirty="0">
              <a:latin typeface="Calibri" panose="020F0502020204030204" pitchFamily="34" charset="0"/>
              <a:cs typeface="Calibri" panose="020F0502020204030204" pitchFamily="34" charset="0"/>
            </a:endParaRPr>
          </a:p>
        </p:txBody>
      </p:sp>
      <p:grpSp>
        <p:nvGrpSpPr>
          <p:cNvPr id="13" name="Group 12"/>
          <p:cNvGrpSpPr/>
          <p:nvPr/>
        </p:nvGrpSpPr>
        <p:grpSpPr>
          <a:xfrm>
            <a:off x="3186158" y="3572419"/>
            <a:ext cx="3943693" cy="838941"/>
            <a:chOff x="2373898" y="2133600"/>
            <a:chExt cx="2893427" cy="723900"/>
          </a:xfrm>
        </p:grpSpPr>
        <p:sp>
          <p:nvSpPr>
            <p:cNvPr id="24" name="Rectangle 23"/>
            <p:cNvSpPr/>
            <p:nvPr/>
          </p:nvSpPr>
          <p:spPr>
            <a:xfrm>
              <a:off x="2373898" y="2133600"/>
              <a:ext cx="886410" cy="409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Student</a:t>
              </a:r>
              <a:endParaRPr lang="en-US" sz="1100">
                <a:effectLst/>
                <a:ea typeface="Calibri" panose="020F0502020204030204" pitchFamily="34" charset="0"/>
                <a:cs typeface="Times New Roman" panose="02020603050405020304" pitchFamily="18" charset="0"/>
              </a:endParaRPr>
            </a:p>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 </a:t>
              </a:r>
              <a:endParaRPr lang="en-US" sz="1100">
                <a:effectLst/>
                <a:ea typeface="Calibri" panose="020F0502020204030204" pitchFamily="34" charset="0"/>
                <a:cs typeface="Times New Roman" panose="02020603050405020304" pitchFamily="18" charset="0"/>
              </a:endParaRPr>
            </a:p>
          </p:txBody>
        </p:sp>
        <p:grpSp>
          <p:nvGrpSpPr>
            <p:cNvPr id="15" name="Group 14"/>
            <p:cNvGrpSpPr/>
            <p:nvPr/>
          </p:nvGrpSpPr>
          <p:grpSpPr>
            <a:xfrm>
              <a:off x="3762375" y="2266950"/>
              <a:ext cx="1504950" cy="590550"/>
              <a:chOff x="0" y="0"/>
              <a:chExt cx="1962150" cy="1095375"/>
            </a:xfrm>
          </p:grpSpPr>
          <p:sp>
            <p:nvSpPr>
              <p:cNvPr id="17" name="Oval 16"/>
              <p:cNvSpPr/>
              <p:nvPr/>
            </p:nvSpPr>
            <p:spPr>
              <a:xfrm>
                <a:off x="0" y="0"/>
                <a:ext cx="1962150" cy="10953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8" name="Oval 17"/>
              <p:cNvSpPr/>
              <p:nvPr/>
            </p:nvSpPr>
            <p:spPr>
              <a:xfrm>
                <a:off x="114300" y="123825"/>
                <a:ext cx="1733550" cy="876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Phone number</a:t>
                </a:r>
                <a:endParaRPr lang="en-US" sz="1100">
                  <a:effectLst/>
                  <a:ea typeface="Calibri" panose="020F0502020204030204" pitchFamily="34" charset="0"/>
                  <a:cs typeface="Times New Roman" panose="02020603050405020304" pitchFamily="18" charset="0"/>
                </a:endParaRPr>
              </a:p>
            </p:txBody>
          </p:sp>
        </p:grpSp>
        <p:cxnSp>
          <p:nvCxnSpPr>
            <p:cNvPr id="16" name="Straight Connector 15"/>
            <p:cNvCxnSpPr/>
            <p:nvPr/>
          </p:nvCxnSpPr>
          <p:spPr>
            <a:xfrm>
              <a:off x="3248025" y="2333625"/>
              <a:ext cx="552450" cy="190417"/>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8689090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4910" y="1507525"/>
            <a:ext cx="7685902" cy="4226010"/>
          </a:xfrm>
        </p:spPr>
        <p:txBody>
          <a:bodyPr>
            <a:noAutofit/>
          </a:bodyPr>
          <a:lstStyle/>
          <a:p>
            <a:pPr>
              <a:lnSpc>
                <a:spcPct val="200000"/>
              </a:lnSpc>
            </a:pPr>
            <a:r>
              <a:rPr lang="en-US" sz="1900" b="1" dirty="0">
                <a:latin typeface="Calibri" panose="020F0502020204030204" pitchFamily="34" charset="0"/>
                <a:cs typeface="Calibri" panose="020F0502020204030204" pitchFamily="34" charset="0"/>
              </a:rPr>
              <a:t>Derived attribute</a:t>
            </a:r>
            <a:r>
              <a:rPr lang="en-US" sz="1900" dirty="0">
                <a:latin typeface="Calibri" panose="020F0502020204030204" pitchFamily="34" charset="0"/>
                <a:cs typeface="Calibri" panose="020F0502020204030204" pitchFamily="34" charset="0"/>
              </a:rPr>
              <a:t> − Derived attributes are the attributes that do not exist in the physical database, but their values are derived from other attributes present in the database. For example, </a:t>
            </a:r>
            <a:r>
              <a:rPr lang="en-US" sz="1900" dirty="0" err="1">
                <a:latin typeface="Calibri" panose="020F0502020204030204" pitchFamily="34" charset="0"/>
                <a:cs typeface="Calibri" panose="020F0502020204030204" pitchFamily="34" charset="0"/>
              </a:rPr>
              <a:t>average_salary</a:t>
            </a:r>
            <a:r>
              <a:rPr lang="en-US" sz="1900" dirty="0">
                <a:latin typeface="Calibri" panose="020F0502020204030204" pitchFamily="34" charset="0"/>
                <a:cs typeface="Calibri" panose="020F0502020204030204" pitchFamily="34" charset="0"/>
              </a:rPr>
              <a:t> in a department should not be saved directly in the database, instead it can be derived. For another example, age can be derived from </a:t>
            </a:r>
            <a:r>
              <a:rPr lang="en-US" sz="1900" dirty="0" err="1" smtClean="0">
                <a:latin typeface="Calibri" panose="020F0502020204030204" pitchFamily="34" charset="0"/>
                <a:cs typeface="Calibri" panose="020F0502020204030204" pitchFamily="34" charset="0"/>
              </a:rPr>
              <a:t>date_of_birth</a:t>
            </a:r>
            <a:r>
              <a:rPr lang="en-US" sz="1900" dirty="0" smtClean="0">
                <a:latin typeface="Calibri" panose="020F0502020204030204" pitchFamily="34" charset="0"/>
                <a:cs typeface="Calibri" panose="020F0502020204030204" pitchFamily="34" charset="0"/>
              </a:rPr>
              <a:t>.</a:t>
            </a:r>
          </a:p>
          <a:p>
            <a:pPr>
              <a:lnSpc>
                <a:spcPct val="200000"/>
              </a:lnSpc>
            </a:pPr>
            <a:r>
              <a:rPr lang="en-US" sz="1900" dirty="0" smtClean="0">
                <a:latin typeface="Calibri" panose="020F0502020204030204" pitchFamily="34" charset="0"/>
                <a:cs typeface="Calibri" panose="020F0502020204030204" pitchFamily="34" charset="0"/>
              </a:rPr>
              <a:t>They are represented by use of dashed eclipse</a:t>
            </a:r>
          </a:p>
        </p:txBody>
      </p:sp>
      <p:sp>
        <p:nvSpPr>
          <p:cNvPr id="4" name="Title 3"/>
          <p:cNvSpPr>
            <a:spLocks noGrp="1"/>
          </p:cNvSpPr>
          <p:nvPr>
            <p:ph type="title"/>
          </p:nvPr>
        </p:nvSpPr>
        <p:spPr>
          <a:xfrm>
            <a:off x="1544595" y="477432"/>
            <a:ext cx="6726866" cy="708817"/>
          </a:xfrm>
        </p:spPr>
        <p:txBody>
          <a:bodyPr/>
          <a:lstStyle/>
          <a:p>
            <a:pPr algn="ctr"/>
            <a:r>
              <a:rPr lang="en-US" b="1" dirty="0" smtClean="0">
                <a:latin typeface="Calibri" panose="020F0502020204030204" pitchFamily="34" charset="0"/>
                <a:cs typeface="Calibri" panose="020F0502020204030204" pitchFamily="34" charset="0"/>
              </a:rPr>
              <a:t>Types of attributes</a:t>
            </a:r>
            <a:endParaRPr lang="en-US" b="1" dirty="0">
              <a:latin typeface="Calibri" panose="020F0502020204030204" pitchFamily="34" charset="0"/>
              <a:cs typeface="Calibri" panose="020F0502020204030204" pitchFamily="34" charset="0"/>
            </a:endParaRPr>
          </a:p>
        </p:txBody>
      </p:sp>
      <p:grpSp>
        <p:nvGrpSpPr>
          <p:cNvPr id="31" name="Group 30"/>
          <p:cNvGrpSpPr/>
          <p:nvPr/>
        </p:nvGrpSpPr>
        <p:grpSpPr>
          <a:xfrm>
            <a:off x="8626222" y="2143900"/>
            <a:ext cx="2164303" cy="2613451"/>
            <a:chOff x="2286000" y="1114425"/>
            <a:chExt cx="1981201" cy="2095500"/>
          </a:xfrm>
        </p:grpSpPr>
        <p:grpSp>
          <p:nvGrpSpPr>
            <p:cNvPr id="40" name="Group 39"/>
            <p:cNvGrpSpPr/>
            <p:nvPr/>
          </p:nvGrpSpPr>
          <p:grpSpPr>
            <a:xfrm>
              <a:off x="2373898" y="1114425"/>
              <a:ext cx="1893303" cy="1428750"/>
              <a:chOff x="2247900" y="171450"/>
              <a:chExt cx="2095500" cy="1428750"/>
            </a:xfrm>
          </p:grpSpPr>
          <p:sp>
            <p:nvSpPr>
              <p:cNvPr id="45" name="Rectangle 44"/>
              <p:cNvSpPr/>
              <p:nvPr/>
            </p:nvSpPr>
            <p:spPr>
              <a:xfrm>
                <a:off x="2247900" y="1190625"/>
                <a:ext cx="981075" cy="4095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Student</a:t>
                </a:r>
              </a:p>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 </a:t>
                </a:r>
              </a:p>
            </p:txBody>
          </p:sp>
          <p:sp>
            <p:nvSpPr>
              <p:cNvPr id="46" name="Oval 45"/>
              <p:cNvSpPr/>
              <p:nvPr/>
            </p:nvSpPr>
            <p:spPr>
              <a:xfrm>
                <a:off x="3181350" y="171450"/>
                <a:ext cx="1162050" cy="638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900">
                    <a:effectLst/>
                    <a:ea typeface="Calibri" panose="020F0502020204030204" pitchFamily="34" charset="0"/>
                    <a:cs typeface="Times New Roman" panose="02020603050405020304" pitchFamily="18" charset="0"/>
                  </a:rPr>
                  <a:t>Birthdate</a:t>
                </a:r>
                <a:endParaRPr lang="en-US" sz="1100">
                  <a:effectLst/>
                  <a:ea typeface="Calibri" panose="020F0502020204030204" pitchFamily="34" charset="0"/>
                  <a:cs typeface="Times New Roman" panose="02020603050405020304" pitchFamily="18" charset="0"/>
                </a:endParaRPr>
              </a:p>
            </p:txBody>
          </p:sp>
          <p:cxnSp>
            <p:nvCxnSpPr>
              <p:cNvPr id="49" name="Straight Connector 48"/>
              <p:cNvCxnSpPr/>
              <p:nvPr/>
            </p:nvCxnSpPr>
            <p:spPr>
              <a:xfrm flipV="1">
                <a:off x="3038475" y="723900"/>
                <a:ext cx="333375" cy="4572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33" name="Oval 32"/>
            <p:cNvSpPr/>
            <p:nvPr/>
          </p:nvSpPr>
          <p:spPr>
            <a:xfrm>
              <a:off x="2286000" y="2790825"/>
              <a:ext cx="1038225" cy="419100"/>
            </a:xfrm>
            <a:prstGeom prst="ellipse">
              <a:avLst/>
            </a:prstGeom>
            <a:ln w="25400">
              <a:solidFill>
                <a:schemeClr val="tx1"/>
              </a:solidFill>
              <a:prstDash val="dash"/>
            </a:ln>
          </p:spPr>
          <p:style>
            <a:lnRef idx="2">
              <a:schemeClr val="accent5">
                <a:shade val="50000"/>
              </a:schemeClr>
            </a:lnRef>
            <a:fillRef idx="1">
              <a:schemeClr val="accent5"/>
            </a:fillRef>
            <a:effectRef idx="0">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lnSpc>
                  <a:spcPct val="107000"/>
                </a:lnSpc>
                <a:spcBef>
                  <a:spcPts val="0"/>
                </a:spcBef>
                <a:spcAft>
                  <a:spcPts val="800"/>
                </a:spcAft>
              </a:pPr>
              <a:r>
                <a:rPr lang="en-US" sz="1100">
                  <a:effectLst/>
                  <a:ea typeface="Calibri" panose="020F0502020204030204" pitchFamily="34" charset="0"/>
                  <a:cs typeface="Times New Roman" panose="02020603050405020304" pitchFamily="18" charset="0"/>
                </a:rPr>
                <a:t>Age</a:t>
              </a:r>
            </a:p>
          </p:txBody>
        </p:sp>
        <p:cxnSp>
          <p:nvCxnSpPr>
            <p:cNvPr id="34" name="Straight Connector 33"/>
            <p:cNvCxnSpPr/>
            <p:nvPr/>
          </p:nvCxnSpPr>
          <p:spPr>
            <a:xfrm>
              <a:off x="2781300" y="2524125"/>
              <a:ext cx="9525" cy="314408"/>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32571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52368" y="1458099"/>
            <a:ext cx="7327556" cy="3521674"/>
          </a:xfrm>
        </p:spPr>
        <p:txBody>
          <a:bodyPr>
            <a:noAutofit/>
          </a:bodyPr>
          <a:lstStyle/>
          <a:p>
            <a:pPr>
              <a:lnSpc>
                <a:spcPct val="250000"/>
              </a:lnSpc>
            </a:pPr>
            <a:r>
              <a:rPr lang="en-US" sz="1900" b="1" dirty="0">
                <a:latin typeface="Calibri" panose="020F0502020204030204" pitchFamily="34" charset="0"/>
                <a:cs typeface="Calibri" panose="020F0502020204030204" pitchFamily="34" charset="0"/>
              </a:rPr>
              <a:t>Single-value attribute</a:t>
            </a:r>
            <a:r>
              <a:rPr lang="en-US" sz="1900" dirty="0">
                <a:latin typeface="Calibri" panose="020F0502020204030204" pitchFamily="34" charset="0"/>
                <a:cs typeface="Calibri" panose="020F0502020204030204" pitchFamily="34" charset="0"/>
              </a:rPr>
              <a:t> − Single-value attributes contain single value. For example − </a:t>
            </a:r>
            <a:r>
              <a:rPr lang="en-US" sz="1900" dirty="0" err="1" smtClean="0">
                <a:latin typeface="Calibri" panose="020F0502020204030204" pitchFamily="34" charset="0"/>
                <a:cs typeface="Calibri" panose="020F0502020204030204" pitchFamily="34" charset="0"/>
              </a:rPr>
              <a:t>Social_Security_Number</a:t>
            </a:r>
            <a:r>
              <a:rPr lang="en-US" sz="1900" dirty="0" smtClean="0">
                <a:latin typeface="Calibri" panose="020F0502020204030204" pitchFamily="34" charset="0"/>
                <a:cs typeface="Calibri" panose="020F0502020204030204" pitchFamily="34" charset="0"/>
              </a:rPr>
              <a:t>, registration number, National ID number etc.</a:t>
            </a:r>
          </a:p>
          <a:p>
            <a:pPr>
              <a:lnSpc>
                <a:spcPct val="250000"/>
              </a:lnSpc>
            </a:pPr>
            <a:r>
              <a:rPr lang="en-US" sz="1900" dirty="0" smtClean="0">
                <a:latin typeface="Calibri" panose="020F0502020204030204" pitchFamily="34" charset="0"/>
                <a:cs typeface="Calibri" panose="020F0502020204030204" pitchFamily="34" charset="0"/>
              </a:rPr>
              <a:t> </a:t>
            </a:r>
            <a:r>
              <a:rPr lang="en-US" sz="1900" dirty="0">
                <a:latin typeface="Calibri" panose="020F0502020204030204" pitchFamily="34" charset="0"/>
                <a:cs typeface="Calibri" panose="020F0502020204030204" pitchFamily="34" charset="0"/>
              </a:rPr>
              <a:t>It is depicted just like a simple attribute.</a:t>
            </a:r>
          </a:p>
        </p:txBody>
      </p:sp>
      <p:sp>
        <p:nvSpPr>
          <p:cNvPr id="4" name="Title 3"/>
          <p:cNvSpPr>
            <a:spLocks noGrp="1"/>
          </p:cNvSpPr>
          <p:nvPr>
            <p:ph type="title"/>
          </p:nvPr>
        </p:nvSpPr>
        <p:spPr>
          <a:xfrm>
            <a:off x="1655806" y="576285"/>
            <a:ext cx="5441764" cy="708817"/>
          </a:xfrm>
        </p:spPr>
        <p:txBody>
          <a:bodyPr/>
          <a:lstStyle/>
          <a:p>
            <a:pPr algn="ctr"/>
            <a:r>
              <a:rPr lang="en-US" b="1" dirty="0" smtClean="0">
                <a:latin typeface="Calibri" panose="020F0502020204030204" pitchFamily="34" charset="0"/>
                <a:cs typeface="Calibri" panose="020F0502020204030204" pitchFamily="34" charset="0"/>
              </a:rPr>
              <a:t>Types of attributes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19296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8605" y="1458096"/>
            <a:ext cx="10181968" cy="4646141"/>
          </a:xfrm>
        </p:spPr>
        <p:txBody>
          <a:bodyPr>
            <a:normAutofit fontScale="92500"/>
          </a:bodyPr>
          <a:lstStyle/>
          <a:p>
            <a:pPr>
              <a:lnSpc>
                <a:spcPct val="200000"/>
              </a:lnSpc>
            </a:pPr>
            <a:r>
              <a:rPr lang="en-US" sz="1900" dirty="0">
                <a:latin typeface="Calibri" panose="020F0502020204030204" pitchFamily="34" charset="0"/>
                <a:cs typeface="Calibri" panose="020F0502020204030204" pitchFamily="34" charset="0"/>
              </a:rPr>
              <a:t>The association among entities is called a relationship. </a:t>
            </a:r>
            <a:r>
              <a:rPr lang="en-US" sz="1900" dirty="0" smtClean="0">
                <a:latin typeface="Calibri" panose="020F0502020204030204" pitchFamily="34" charset="0"/>
                <a:cs typeface="Calibri" panose="020F0502020204030204" pitchFamily="34" charset="0"/>
              </a:rPr>
              <a:t>For </a:t>
            </a:r>
            <a:r>
              <a:rPr lang="en-US" sz="1900" dirty="0">
                <a:latin typeface="Calibri" panose="020F0502020204030204" pitchFamily="34" charset="0"/>
                <a:cs typeface="Calibri" panose="020F0502020204030204" pitchFamily="34" charset="0"/>
              </a:rPr>
              <a:t>example, an employee </a:t>
            </a:r>
            <a:r>
              <a:rPr lang="en-US" sz="1900" dirty="0" err="1">
                <a:latin typeface="Calibri" panose="020F0502020204030204" pitchFamily="34" charset="0"/>
                <a:cs typeface="Calibri" panose="020F0502020204030204" pitchFamily="34" charset="0"/>
              </a:rPr>
              <a:t>works_at</a:t>
            </a:r>
            <a:r>
              <a:rPr lang="en-US" sz="1900" dirty="0">
                <a:latin typeface="Calibri" panose="020F0502020204030204" pitchFamily="34" charset="0"/>
                <a:cs typeface="Calibri" panose="020F0502020204030204" pitchFamily="34" charset="0"/>
              </a:rPr>
              <a:t> a student department, a student enrolls in a course. Here, </a:t>
            </a:r>
            <a:r>
              <a:rPr lang="en-US" sz="1900" dirty="0" err="1">
                <a:latin typeface="Calibri" panose="020F0502020204030204" pitchFamily="34" charset="0"/>
                <a:cs typeface="Calibri" panose="020F0502020204030204" pitchFamily="34" charset="0"/>
              </a:rPr>
              <a:t>Works_at</a:t>
            </a:r>
            <a:r>
              <a:rPr lang="en-US" sz="1900" dirty="0">
                <a:latin typeface="Calibri" panose="020F0502020204030204" pitchFamily="34" charset="0"/>
                <a:cs typeface="Calibri" panose="020F0502020204030204" pitchFamily="34" charset="0"/>
              </a:rPr>
              <a:t> and Enrolls are called relationships</a:t>
            </a:r>
            <a:r>
              <a:rPr lang="en-US" sz="1900" dirty="0" smtClean="0">
                <a:latin typeface="Calibri" panose="020F0502020204030204" pitchFamily="34" charset="0"/>
                <a:cs typeface="Calibri" panose="020F0502020204030204" pitchFamily="34" charset="0"/>
              </a:rPr>
              <a:t>.</a:t>
            </a:r>
          </a:p>
          <a:p>
            <a:pPr>
              <a:lnSpc>
                <a:spcPct val="200000"/>
              </a:lnSpc>
            </a:pPr>
            <a:r>
              <a:rPr lang="en-US" sz="1900" dirty="0">
                <a:latin typeface="Calibri" panose="020F0502020204030204" pitchFamily="34" charset="0"/>
                <a:cs typeface="Calibri" panose="020F0502020204030204" pitchFamily="34" charset="0"/>
              </a:rPr>
              <a:t>The degree of a relationship type is the number of participating entity types. Hence, the </a:t>
            </a:r>
            <a:r>
              <a:rPr lang="en-US" sz="1900" dirty="0" smtClean="0">
                <a:latin typeface="Calibri" panose="020F0502020204030204" pitchFamily="34" charset="0"/>
                <a:cs typeface="Calibri" panose="020F0502020204030204" pitchFamily="34" charset="0"/>
              </a:rPr>
              <a:t>WORKS </a:t>
            </a:r>
            <a:r>
              <a:rPr lang="en-US" sz="1900" dirty="0">
                <a:latin typeface="Calibri" panose="020F0502020204030204" pitchFamily="34" charset="0"/>
                <a:cs typeface="Calibri" panose="020F0502020204030204" pitchFamily="34" charset="0"/>
              </a:rPr>
              <a:t>F</a:t>
            </a:r>
            <a:r>
              <a:rPr lang="en-US" sz="1900" dirty="0" smtClean="0">
                <a:latin typeface="Calibri" panose="020F0502020204030204" pitchFamily="34" charset="0"/>
                <a:cs typeface="Calibri" panose="020F0502020204030204" pitchFamily="34" charset="0"/>
              </a:rPr>
              <a:t>OR </a:t>
            </a:r>
            <a:r>
              <a:rPr lang="en-US" sz="1900" dirty="0">
                <a:latin typeface="Calibri" panose="020F0502020204030204" pitchFamily="34" charset="0"/>
                <a:cs typeface="Calibri" panose="020F0502020204030204" pitchFamily="34" charset="0"/>
              </a:rPr>
              <a:t>relationship is of degree two.</a:t>
            </a:r>
          </a:p>
          <a:p>
            <a:pPr>
              <a:lnSpc>
                <a:spcPct val="200000"/>
              </a:lnSpc>
            </a:pPr>
            <a:r>
              <a:rPr lang="en-US" sz="1900" dirty="0">
                <a:latin typeface="Calibri" panose="020F0502020204030204" pitchFamily="34" charset="0"/>
                <a:cs typeface="Calibri" panose="020F0502020204030204" pitchFamily="34" charset="0"/>
              </a:rPr>
              <a:t>A set of relationships of similar type is called </a:t>
            </a:r>
            <a:r>
              <a:rPr lang="en-US" sz="1900" b="1" dirty="0">
                <a:latin typeface="Calibri" panose="020F0502020204030204" pitchFamily="34" charset="0"/>
                <a:cs typeface="Calibri" panose="020F0502020204030204" pitchFamily="34" charset="0"/>
              </a:rPr>
              <a:t>a relationship set</a:t>
            </a:r>
            <a:r>
              <a:rPr lang="en-US" sz="1900" dirty="0">
                <a:latin typeface="Calibri" panose="020F0502020204030204" pitchFamily="34" charset="0"/>
                <a:cs typeface="Calibri" panose="020F0502020204030204" pitchFamily="34" charset="0"/>
              </a:rPr>
              <a:t>. </a:t>
            </a:r>
            <a:endParaRPr lang="en-US" sz="1900" dirty="0" smtClean="0">
              <a:latin typeface="Calibri" panose="020F0502020204030204" pitchFamily="34" charset="0"/>
              <a:cs typeface="Calibri" panose="020F0502020204030204" pitchFamily="34" charset="0"/>
            </a:endParaRPr>
          </a:p>
          <a:p>
            <a:pPr>
              <a:lnSpc>
                <a:spcPct val="200000"/>
              </a:lnSpc>
            </a:pPr>
            <a:r>
              <a:rPr lang="en-US" sz="1900" dirty="0" smtClean="0">
                <a:latin typeface="Calibri" panose="020F0502020204030204" pitchFamily="34" charset="0"/>
                <a:cs typeface="Calibri" panose="020F0502020204030204" pitchFamily="34" charset="0"/>
              </a:rPr>
              <a:t>Like </a:t>
            </a:r>
            <a:r>
              <a:rPr lang="en-US" sz="1900" dirty="0">
                <a:latin typeface="Calibri" panose="020F0502020204030204" pitchFamily="34" charset="0"/>
                <a:cs typeface="Calibri" panose="020F0502020204030204" pitchFamily="34" charset="0"/>
              </a:rPr>
              <a:t>entities, a </a:t>
            </a:r>
            <a:r>
              <a:rPr lang="en-US" sz="1900" dirty="0" smtClean="0">
                <a:latin typeface="Calibri" panose="020F0502020204030204" pitchFamily="34" charset="0"/>
                <a:cs typeface="Calibri" panose="020F0502020204030204" pitchFamily="34" charset="0"/>
              </a:rPr>
              <a:t>relationship </a:t>
            </a:r>
            <a:r>
              <a:rPr lang="en-US" sz="1900" dirty="0">
                <a:latin typeface="Calibri" panose="020F0502020204030204" pitchFamily="34" charset="0"/>
                <a:cs typeface="Calibri" panose="020F0502020204030204" pitchFamily="34" charset="0"/>
              </a:rPr>
              <a:t>can have attributes. These attributes </a:t>
            </a:r>
            <a:r>
              <a:rPr lang="en-US" sz="1900" dirty="0" smtClean="0">
                <a:latin typeface="Calibri" panose="020F0502020204030204" pitchFamily="34" charset="0"/>
                <a:cs typeface="Calibri" panose="020F0502020204030204" pitchFamily="34" charset="0"/>
              </a:rPr>
              <a:t>are known as </a:t>
            </a:r>
            <a:r>
              <a:rPr lang="en-US" sz="1900" b="1" dirty="0">
                <a:latin typeface="Calibri" panose="020F0502020204030204" pitchFamily="34" charset="0"/>
                <a:cs typeface="Calibri" panose="020F0502020204030204" pitchFamily="34" charset="0"/>
              </a:rPr>
              <a:t>descriptive attributes</a:t>
            </a:r>
            <a:r>
              <a:rPr lang="en-US" sz="1900" b="1" dirty="0" smtClean="0">
                <a:latin typeface="Calibri" panose="020F0502020204030204" pitchFamily="34" charset="0"/>
                <a:cs typeface="Calibri" panose="020F0502020204030204" pitchFamily="34" charset="0"/>
              </a:rPr>
              <a:t>.</a:t>
            </a:r>
            <a:endParaRPr lang="en-US" sz="1900" dirty="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026507" y="452718"/>
            <a:ext cx="7480629" cy="708817"/>
          </a:xfrm>
        </p:spPr>
        <p:txBody>
          <a:bodyPr/>
          <a:lstStyle/>
          <a:p>
            <a:pPr algn="ctr"/>
            <a:r>
              <a:rPr lang="en-US" dirty="0" smtClean="0">
                <a:latin typeface="Calibri" panose="020F0502020204030204" pitchFamily="34" charset="0"/>
                <a:cs typeface="Calibri" panose="020F0502020204030204" pitchFamily="34" charset="0"/>
              </a:rPr>
              <a:t>Relationship between entities</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2900677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9438" y="1359243"/>
            <a:ext cx="9576486" cy="4716161"/>
          </a:xfrm>
        </p:spPr>
        <p:txBody>
          <a:bodyPr>
            <a:normAutofit/>
          </a:bodyPr>
          <a:lstStyle/>
          <a:p>
            <a:pPr>
              <a:lnSpc>
                <a:spcPct val="200000"/>
              </a:lnSpc>
            </a:pPr>
            <a:r>
              <a:rPr lang="en-US" sz="1900" dirty="0" smtClean="0">
                <a:latin typeface="Calibri" panose="020F0502020204030204" pitchFamily="34" charset="0"/>
                <a:cs typeface="Calibri" panose="020F0502020204030204" pitchFamily="34" charset="0"/>
              </a:rPr>
              <a:t>Relationships </a:t>
            </a:r>
            <a:r>
              <a:rPr lang="en-US" sz="1900" dirty="0">
                <a:latin typeface="Calibri" panose="020F0502020204030204" pitchFamily="34" charset="0"/>
                <a:cs typeface="Calibri" panose="020F0502020204030204" pitchFamily="34" charset="0"/>
              </a:rPr>
              <a:t>are represented by </a:t>
            </a:r>
            <a:r>
              <a:rPr lang="en-US" sz="1900" dirty="0" smtClean="0">
                <a:latin typeface="Calibri" panose="020F0502020204030204" pitchFamily="34" charset="0"/>
                <a:cs typeface="Calibri" panose="020F0502020204030204" pitchFamily="34" charset="0"/>
              </a:rPr>
              <a:t>a diamond-shaped </a:t>
            </a:r>
            <a:r>
              <a:rPr lang="en-US" sz="1900" dirty="0">
                <a:latin typeface="Calibri" panose="020F0502020204030204" pitchFamily="34" charset="0"/>
                <a:cs typeface="Calibri" panose="020F0502020204030204" pitchFamily="34" charset="0"/>
              </a:rPr>
              <a:t>box. </a:t>
            </a:r>
            <a:endParaRPr lang="en-US" sz="1900" dirty="0" smtClean="0">
              <a:latin typeface="Calibri" panose="020F0502020204030204" pitchFamily="34" charset="0"/>
              <a:cs typeface="Calibri" panose="020F0502020204030204" pitchFamily="34" charset="0"/>
            </a:endParaRPr>
          </a:p>
          <a:p>
            <a:pPr>
              <a:lnSpc>
                <a:spcPct val="200000"/>
              </a:lnSpc>
            </a:pPr>
            <a:r>
              <a:rPr lang="en-US" sz="1900" dirty="0" smtClean="0">
                <a:latin typeface="Calibri" panose="020F0502020204030204" pitchFamily="34" charset="0"/>
                <a:cs typeface="Calibri" panose="020F0502020204030204" pitchFamily="34" charset="0"/>
              </a:rPr>
              <a:t>Name </a:t>
            </a:r>
            <a:r>
              <a:rPr lang="en-US" sz="1900" dirty="0">
                <a:latin typeface="Calibri" panose="020F0502020204030204" pitchFamily="34" charset="0"/>
                <a:cs typeface="Calibri" panose="020F0502020204030204" pitchFamily="34" charset="0"/>
              </a:rPr>
              <a:t>of the relationship is written inside the diamond-box. All the entities (rectangles) participating in a relationship, are connected to it by a </a:t>
            </a:r>
            <a:r>
              <a:rPr lang="en-US" sz="1900" dirty="0" smtClean="0">
                <a:latin typeface="Calibri" panose="020F0502020204030204" pitchFamily="34" charset="0"/>
                <a:cs typeface="Calibri" panose="020F0502020204030204" pitchFamily="34" charset="0"/>
              </a:rPr>
              <a:t>line as shown below</a:t>
            </a:r>
            <a:endParaRPr lang="en-US" sz="1900" dirty="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471352" y="428004"/>
            <a:ext cx="6949288" cy="708817"/>
          </a:xfrm>
        </p:spPr>
        <p:txBody>
          <a:bodyPr/>
          <a:lstStyle/>
          <a:p>
            <a:pPr algn="ctr"/>
            <a:r>
              <a:rPr lang="en-US" b="1" dirty="0" smtClean="0">
                <a:latin typeface="Calibri" panose="020F0502020204030204" pitchFamily="34" charset="0"/>
                <a:cs typeface="Calibri" panose="020F0502020204030204" pitchFamily="34" charset="0"/>
              </a:rPr>
              <a:t>Relationship between entities</a:t>
            </a:r>
            <a:endParaRPr lang="en-US" b="1" dirty="0">
              <a:latin typeface="Calibri" panose="020F0502020204030204" pitchFamily="34" charset="0"/>
              <a:cs typeface="Calibri" panose="020F0502020204030204" pitchFamily="34" charset="0"/>
            </a:endParaRPr>
          </a:p>
        </p:txBody>
      </p:sp>
      <p:grpSp>
        <p:nvGrpSpPr>
          <p:cNvPr id="13" name="Group 12"/>
          <p:cNvGrpSpPr/>
          <p:nvPr/>
        </p:nvGrpSpPr>
        <p:grpSpPr>
          <a:xfrm>
            <a:off x="3756454" y="3694673"/>
            <a:ext cx="5774724" cy="1544594"/>
            <a:chOff x="5869460" y="5202196"/>
            <a:chExt cx="5774724" cy="1544594"/>
          </a:xfrm>
        </p:grpSpPr>
        <p:sp>
          <p:nvSpPr>
            <p:cNvPr id="2" name="Rectangle 1"/>
            <p:cNvSpPr/>
            <p:nvPr/>
          </p:nvSpPr>
          <p:spPr>
            <a:xfrm>
              <a:off x="5869460" y="5745892"/>
              <a:ext cx="139631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Employee</a:t>
              </a:r>
              <a:endParaRPr lang="en-US" dirty="0"/>
            </a:p>
          </p:txBody>
        </p:sp>
        <p:sp>
          <p:nvSpPr>
            <p:cNvPr id="5" name="Diamond 4"/>
            <p:cNvSpPr/>
            <p:nvPr/>
          </p:nvSpPr>
          <p:spPr>
            <a:xfrm>
              <a:off x="7797114" y="5202196"/>
              <a:ext cx="2001793" cy="15445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smtClean="0"/>
                <a:t>Works_at</a:t>
              </a:r>
              <a:endParaRPr lang="en-US" sz="1400" dirty="0"/>
            </a:p>
          </p:txBody>
        </p:sp>
        <p:sp>
          <p:nvSpPr>
            <p:cNvPr id="6" name="Rectangle 5"/>
            <p:cNvSpPr/>
            <p:nvPr/>
          </p:nvSpPr>
          <p:spPr>
            <a:xfrm>
              <a:off x="10383795" y="5737654"/>
              <a:ext cx="1260389"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University</a:t>
              </a:r>
              <a:endParaRPr lang="en-US" dirty="0"/>
            </a:p>
          </p:txBody>
        </p:sp>
        <p:cxnSp>
          <p:nvCxnSpPr>
            <p:cNvPr id="8" name="Straight Connector 7"/>
            <p:cNvCxnSpPr>
              <a:stCxn id="5" idx="3"/>
              <a:endCxn id="6" idx="1"/>
            </p:cNvCxnSpPr>
            <p:nvPr/>
          </p:nvCxnSpPr>
          <p:spPr>
            <a:xfrm flipV="1">
              <a:off x="9798907" y="5966254"/>
              <a:ext cx="584888" cy="82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2" idx="3"/>
              <a:endCxn id="5" idx="1"/>
            </p:cNvCxnSpPr>
            <p:nvPr/>
          </p:nvCxnSpPr>
          <p:spPr>
            <a:xfrm>
              <a:off x="7265774" y="5974492"/>
              <a:ext cx="531340" cy="1"/>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017608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4465" y="1285103"/>
            <a:ext cx="10206682" cy="5078626"/>
          </a:xfrm>
        </p:spPr>
        <p:txBody>
          <a:bodyPr>
            <a:normAutofit/>
          </a:bodyPr>
          <a:lstStyle/>
          <a:p>
            <a:pPr>
              <a:lnSpc>
                <a:spcPct val="200000"/>
              </a:lnSpc>
            </a:pPr>
            <a:r>
              <a:rPr lang="en-US" dirty="0">
                <a:latin typeface="Calibri" panose="020F0502020204030204" pitchFamily="34" charset="0"/>
                <a:cs typeface="Calibri" panose="020F0502020204030204" pitchFamily="34" charset="0"/>
              </a:rPr>
              <a:t>Relationship </a:t>
            </a:r>
            <a:r>
              <a:rPr lang="en-US" dirty="0" smtClean="0">
                <a:latin typeface="Calibri" panose="020F0502020204030204" pitchFamily="34" charset="0"/>
                <a:cs typeface="Calibri" panose="020F0502020204030204" pitchFamily="34" charset="0"/>
              </a:rPr>
              <a:t>usually </a:t>
            </a:r>
            <a:r>
              <a:rPr lang="en-US" dirty="0">
                <a:latin typeface="Calibri" panose="020F0502020204030204" pitchFamily="34" charset="0"/>
                <a:cs typeface="Calibri" panose="020F0502020204030204" pitchFamily="34" charset="0"/>
              </a:rPr>
              <a:t>have certain constraints that limit the possible combinations of entities that may participate in the corresponding relationship set.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For example</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if a </a:t>
            </a:r>
            <a:r>
              <a:rPr lang="en-US" dirty="0">
                <a:latin typeface="Calibri" panose="020F0502020204030204" pitchFamily="34" charset="0"/>
                <a:cs typeface="Calibri" panose="020F0502020204030204" pitchFamily="34" charset="0"/>
              </a:rPr>
              <a:t>company has a rule that each employee must work for exactly one department, then we would like to describe this constraint in the schema. </a:t>
            </a:r>
            <a:endParaRPr lang="en-US" dirty="0" smtClean="0">
              <a:latin typeface="Calibri" panose="020F0502020204030204" pitchFamily="34" charset="0"/>
              <a:cs typeface="Calibri" panose="020F0502020204030204" pitchFamily="34" charset="0"/>
            </a:endParaRPr>
          </a:p>
          <a:p>
            <a:pPr>
              <a:lnSpc>
                <a:spcPct val="200000"/>
              </a:lnSpc>
            </a:pPr>
            <a:r>
              <a:rPr lang="en-US" dirty="0" smtClean="0">
                <a:latin typeface="Calibri" panose="020F0502020204030204" pitchFamily="34" charset="0"/>
                <a:cs typeface="Calibri" panose="020F0502020204030204" pitchFamily="34" charset="0"/>
              </a:rPr>
              <a:t>We </a:t>
            </a:r>
            <a:r>
              <a:rPr lang="en-US" dirty="0">
                <a:latin typeface="Calibri" panose="020F0502020204030204" pitchFamily="34" charset="0"/>
                <a:cs typeface="Calibri" panose="020F0502020204030204" pitchFamily="34" charset="0"/>
              </a:rPr>
              <a:t>can </a:t>
            </a:r>
            <a:r>
              <a:rPr lang="en-US" dirty="0" smtClean="0">
                <a:latin typeface="Calibri" panose="020F0502020204030204" pitchFamily="34" charset="0"/>
                <a:cs typeface="Calibri" panose="020F0502020204030204" pitchFamily="34" charset="0"/>
              </a:rPr>
              <a:t>distinguish </a:t>
            </a:r>
            <a:r>
              <a:rPr lang="en-US" dirty="0">
                <a:latin typeface="Calibri" panose="020F0502020204030204" pitchFamily="34" charset="0"/>
                <a:cs typeface="Calibri" panose="020F0502020204030204" pitchFamily="34" charset="0"/>
              </a:rPr>
              <a:t>two main types of relationship constraints: </a:t>
            </a:r>
            <a:endParaRPr lang="en-US" dirty="0" smtClean="0">
              <a:latin typeface="Calibri" panose="020F0502020204030204" pitchFamily="34" charset="0"/>
              <a:cs typeface="Calibri" panose="020F0502020204030204" pitchFamily="34" charset="0"/>
            </a:endParaRPr>
          </a:p>
          <a:p>
            <a:pPr lvl="1">
              <a:lnSpc>
                <a:spcPct val="200000"/>
              </a:lnSpc>
              <a:buFont typeface="Wingdings" panose="05000000000000000000" pitchFamily="2" charset="2"/>
              <a:buChar char="Ø"/>
            </a:pPr>
            <a:r>
              <a:rPr lang="en-US" sz="1800" dirty="0">
                <a:latin typeface="Calibri" panose="020F0502020204030204" pitchFamily="34" charset="0"/>
                <a:cs typeface="Calibri" panose="020F0502020204030204" pitchFamily="34" charset="0"/>
              </a:rPr>
              <a:t>C</a:t>
            </a:r>
            <a:r>
              <a:rPr lang="en-US" sz="1800" dirty="0" smtClean="0">
                <a:latin typeface="Calibri" panose="020F0502020204030204" pitchFamily="34" charset="0"/>
                <a:cs typeface="Calibri" panose="020F0502020204030204" pitchFamily="34" charset="0"/>
              </a:rPr>
              <a:t>ardinality </a:t>
            </a:r>
            <a:r>
              <a:rPr lang="en-US" sz="1800" dirty="0">
                <a:latin typeface="Calibri" panose="020F0502020204030204" pitchFamily="34" charset="0"/>
                <a:cs typeface="Calibri" panose="020F0502020204030204" pitchFamily="34" charset="0"/>
              </a:rPr>
              <a:t>ratio </a:t>
            </a:r>
          </a:p>
          <a:p>
            <a:pPr lvl="1">
              <a:lnSpc>
                <a:spcPct val="200000"/>
              </a:lnSpc>
              <a:buFont typeface="Wingdings" panose="05000000000000000000" pitchFamily="2" charset="2"/>
              <a:buChar char="Ø"/>
            </a:pPr>
            <a:r>
              <a:rPr lang="en-US" sz="1800" dirty="0" smtClean="0">
                <a:latin typeface="Calibri" panose="020F0502020204030204" pitchFamily="34" charset="0"/>
                <a:cs typeface="Calibri" panose="020F0502020204030204" pitchFamily="34" charset="0"/>
              </a:rPr>
              <a:t>Participation</a:t>
            </a:r>
          </a:p>
        </p:txBody>
      </p:sp>
      <p:sp>
        <p:nvSpPr>
          <p:cNvPr id="4" name="Title 3"/>
          <p:cNvSpPr>
            <a:spLocks noGrp="1"/>
          </p:cNvSpPr>
          <p:nvPr>
            <p:ph type="title"/>
          </p:nvPr>
        </p:nvSpPr>
        <p:spPr>
          <a:xfrm>
            <a:off x="646111" y="452718"/>
            <a:ext cx="9404723" cy="708817"/>
          </a:xfrm>
        </p:spPr>
        <p:txBody>
          <a:bodyPr/>
          <a:lstStyle/>
          <a:p>
            <a:pPr algn="ctr"/>
            <a:r>
              <a:rPr lang="en-US" b="1" dirty="0" smtClean="0">
                <a:latin typeface="Calibri" panose="020F0502020204030204" pitchFamily="34" charset="0"/>
                <a:cs typeface="Calibri" panose="020F0502020204030204" pitchFamily="34" charset="0"/>
              </a:rPr>
              <a:t>Constraints on Relationships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4608122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839" y="1161535"/>
            <a:ext cx="10948086" cy="5523469"/>
          </a:xfrm>
        </p:spPr>
        <p:txBody>
          <a:bodyPr>
            <a:normAutofit/>
          </a:bodyPr>
          <a:lstStyle/>
          <a:p>
            <a:pPr lvl="0">
              <a:lnSpc>
                <a:spcPct val="200000"/>
              </a:lnSpc>
            </a:pPr>
            <a:r>
              <a:rPr lang="en-US" dirty="0">
                <a:latin typeface="Calibri" panose="020F0502020204030204" pitchFamily="34" charset="0"/>
                <a:cs typeface="Calibri" panose="020F0502020204030204" pitchFamily="34" charset="0"/>
              </a:rPr>
              <a:t>The participation </a:t>
            </a:r>
            <a:r>
              <a:rPr lang="en-US" dirty="0" smtClean="0">
                <a:latin typeface="Calibri" panose="020F0502020204030204" pitchFamily="34" charset="0"/>
                <a:cs typeface="Calibri" panose="020F0502020204030204" pitchFamily="34" charset="0"/>
              </a:rPr>
              <a:t>constraint </a:t>
            </a:r>
            <a:r>
              <a:rPr lang="en-US" dirty="0">
                <a:latin typeface="Calibri" panose="020F0502020204030204" pitchFamily="34" charset="0"/>
                <a:cs typeface="Calibri" panose="020F0502020204030204" pitchFamily="34" charset="0"/>
              </a:rPr>
              <a:t>specifies whether the existence of an entity depends on </a:t>
            </a:r>
            <a:r>
              <a:rPr lang="en-US" dirty="0" smtClean="0">
                <a:latin typeface="Calibri" panose="020F0502020204030204" pitchFamily="34" charset="0"/>
                <a:cs typeface="Calibri" panose="020F0502020204030204" pitchFamily="34" charset="0"/>
              </a:rPr>
              <a:t>it </a:t>
            </a:r>
            <a:r>
              <a:rPr lang="en-US" dirty="0">
                <a:latin typeface="Calibri" panose="020F0502020204030204" pitchFamily="34" charset="0"/>
                <a:cs typeface="Calibri" panose="020F0502020204030204" pitchFamily="34" charset="0"/>
              </a:rPr>
              <a:t>being related to another </a:t>
            </a:r>
            <a:r>
              <a:rPr lang="en-US" dirty="0" smtClean="0">
                <a:latin typeface="Calibri" panose="020F0502020204030204" pitchFamily="34" charset="0"/>
                <a:cs typeface="Calibri" panose="020F0502020204030204" pitchFamily="34" charset="0"/>
              </a:rPr>
              <a:t>entity via </a:t>
            </a:r>
            <a:r>
              <a:rPr lang="en-US" dirty="0">
                <a:latin typeface="Calibri" panose="020F0502020204030204" pitchFamily="34" charset="0"/>
                <a:cs typeface="Calibri" panose="020F0502020204030204" pitchFamily="34" charset="0"/>
              </a:rPr>
              <a:t>the relationship type. </a:t>
            </a:r>
            <a:endParaRPr lang="en-US" dirty="0" smtClean="0">
              <a:latin typeface="Calibri" panose="020F0502020204030204" pitchFamily="34" charset="0"/>
              <a:cs typeface="Calibri" panose="020F0502020204030204" pitchFamily="34" charset="0"/>
            </a:endParaRPr>
          </a:p>
          <a:p>
            <a:pPr lvl="0">
              <a:lnSpc>
                <a:spcPct val="200000"/>
              </a:lnSpc>
            </a:pPr>
            <a:r>
              <a:rPr lang="en-US" dirty="0" smtClean="0">
                <a:latin typeface="Calibri" panose="020F0502020204030204" pitchFamily="34" charset="0"/>
                <a:cs typeface="Calibri" panose="020F0502020204030204" pitchFamily="34" charset="0"/>
              </a:rPr>
              <a:t>There </a:t>
            </a:r>
            <a:r>
              <a:rPr lang="en-US" dirty="0">
                <a:latin typeface="Calibri" panose="020F0502020204030204" pitchFamily="34" charset="0"/>
                <a:cs typeface="Calibri" panose="020F0502020204030204" pitchFamily="34" charset="0"/>
              </a:rPr>
              <a:t>are two types of participation </a:t>
            </a:r>
            <a:r>
              <a:rPr lang="en-US" dirty="0" smtClean="0">
                <a:latin typeface="Calibri" panose="020F0502020204030204" pitchFamily="34" charset="0"/>
                <a:cs typeface="Calibri" panose="020F0502020204030204" pitchFamily="34" charset="0"/>
              </a:rPr>
              <a:t>constraints: </a:t>
            </a:r>
            <a:r>
              <a:rPr lang="en-US" b="1" dirty="0" smtClean="0">
                <a:latin typeface="Calibri" panose="020F0502020204030204" pitchFamily="34" charset="0"/>
                <a:cs typeface="Calibri" panose="020F0502020204030204" pitchFamily="34" charset="0"/>
              </a:rPr>
              <a:t>total (</a:t>
            </a:r>
            <a:r>
              <a:rPr lang="en-US" b="1" dirty="0">
                <a:latin typeface="Calibri" panose="020F0502020204030204" pitchFamily="34" charset="0"/>
                <a:cs typeface="Calibri" panose="020F0502020204030204" pitchFamily="34" charset="0"/>
              </a:rPr>
              <a:t>existence </a:t>
            </a:r>
            <a:r>
              <a:rPr lang="en-US" b="1" dirty="0" smtClean="0">
                <a:latin typeface="Calibri" panose="020F0502020204030204" pitchFamily="34" charset="0"/>
                <a:cs typeface="Calibri" panose="020F0502020204030204" pitchFamily="34" charset="0"/>
              </a:rPr>
              <a:t>dependency</a:t>
            </a:r>
            <a:r>
              <a:rPr lang="en-US" dirty="0" smtClean="0">
                <a:latin typeface="Calibri" panose="020F0502020204030204" pitchFamily="34" charset="0"/>
                <a:cs typeface="Calibri" panose="020F0502020204030204" pitchFamily="34" charset="0"/>
              </a:rPr>
              <a:t>)</a:t>
            </a:r>
            <a:r>
              <a:rPr lang="en-US" b="1" dirty="0" smtClean="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and </a:t>
            </a:r>
            <a:r>
              <a:rPr lang="en-US" b="1" dirty="0" smtClean="0">
                <a:latin typeface="Calibri" panose="020F0502020204030204" pitchFamily="34" charset="0"/>
                <a:cs typeface="Calibri" panose="020F0502020204030204" pitchFamily="34" charset="0"/>
              </a:rPr>
              <a:t>partial </a:t>
            </a:r>
            <a:r>
              <a:rPr lang="en-US" dirty="0" smtClean="0">
                <a:latin typeface="Calibri" panose="020F0502020204030204" pitchFamily="34" charset="0"/>
                <a:cs typeface="Calibri" panose="020F0502020204030204" pitchFamily="34" charset="0"/>
              </a:rPr>
              <a:t>which we </a:t>
            </a:r>
            <a:r>
              <a:rPr lang="en-US" dirty="0">
                <a:latin typeface="Calibri" panose="020F0502020204030204" pitchFamily="34" charset="0"/>
                <a:cs typeface="Calibri" panose="020F0502020204030204" pitchFamily="34" charset="0"/>
              </a:rPr>
              <a:t>illustrate by example. </a:t>
            </a:r>
            <a:endParaRPr lang="en-US" dirty="0" smtClean="0">
              <a:latin typeface="Calibri" panose="020F0502020204030204" pitchFamily="34" charset="0"/>
              <a:cs typeface="Calibri" panose="020F0502020204030204" pitchFamily="34" charset="0"/>
            </a:endParaRPr>
          </a:p>
          <a:p>
            <a:pPr lvl="0">
              <a:lnSpc>
                <a:spcPct val="200000"/>
              </a:lnSpc>
            </a:pPr>
            <a:r>
              <a:rPr lang="en-US" dirty="0" smtClean="0">
                <a:latin typeface="Calibri" panose="020F0502020204030204" pitchFamily="34" charset="0"/>
                <a:cs typeface="Calibri" panose="020F0502020204030204" pitchFamily="34" charset="0"/>
              </a:rPr>
              <a:t>If </a:t>
            </a:r>
            <a:r>
              <a:rPr lang="en-US" dirty="0">
                <a:latin typeface="Calibri" panose="020F0502020204030204" pitchFamily="34" charset="0"/>
                <a:cs typeface="Calibri" panose="020F0502020204030204" pitchFamily="34" charset="0"/>
              </a:rPr>
              <a:t>a company policy states that </a:t>
            </a:r>
            <a:r>
              <a:rPr lang="en-US" dirty="0" smtClean="0">
                <a:latin typeface="Calibri" panose="020F0502020204030204" pitchFamily="34" charset="0"/>
                <a:cs typeface="Calibri" panose="020F0502020204030204" pitchFamily="34" charset="0"/>
              </a:rPr>
              <a:t>every employee </a:t>
            </a:r>
            <a:r>
              <a:rPr lang="en-US" dirty="0">
                <a:latin typeface="Calibri" panose="020F0502020204030204" pitchFamily="34" charset="0"/>
                <a:cs typeface="Calibri" panose="020F0502020204030204" pitchFamily="34" charset="0"/>
              </a:rPr>
              <a:t>must work for a department, then an employee entity can exist only if it participates in at least one WORKS_ FOR relationship </a:t>
            </a:r>
            <a:r>
              <a:rPr lang="en-US" dirty="0" smtClean="0">
                <a:latin typeface="Calibri" panose="020F0502020204030204" pitchFamily="34" charset="0"/>
                <a:cs typeface="Calibri" panose="020F0502020204030204" pitchFamily="34" charset="0"/>
              </a:rPr>
              <a:t>instance.</a:t>
            </a:r>
          </a:p>
          <a:p>
            <a:pPr lvl="0">
              <a:lnSpc>
                <a:spcPct val="200000"/>
              </a:lnSpc>
            </a:pPr>
            <a:r>
              <a:rPr lang="en-US" dirty="0" smtClean="0">
                <a:latin typeface="Calibri" panose="020F0502020204030204" pitchFamily="34" charset="0"/>
                <a:cs typeface="Calibri" panose="020F0502020204030204" pitchFamily="34" charset="0"/>
              </a:rPr>
              <a:t>Thus</a:t>
            </a:r>
            <a:r>
              <a:rPr lang="en-US" dirty="0">
                <a:latin typeface="Calibri" panose="020F0502020204030204" pitchFamily="34" charset="0"/>
                <a:cs typeface="Calibri" panose="020F0502020204030204" pitchFamily="34" charset="0"/>
              </a:rPr>
              <a:t>, the participation of EMPLOYEE in WORKS_FOR is called </a:t>
            </a:r>
            <a:r>
              <a:rPr lang="en-US" b="1" dirty="0">
                <a:latin typeface="Calibri" panose="020F0502020204030204" pitchFamily="34" charset="0"/>
                <a:cs typeface="Calibri" panose="020F0502020204030204" pitchFamily="34" charset="0"/>
              </a:rPr>
              <a:t>total participation</a:t>
            </a:r>
            <a:r>
              <a:rPr lang="en-US" dirty="0">
                <a:latin typeface="Calibri" panose="020F0502020204030204" pitchFamily="34" charset="0"/>
                <a:cs typeface="Calibri" panose="020F0502020204030204" pitchFamily="34" charset="0"/>
              </a:rPr>
              <a:t>, meaning that every entity in "the total set" of employee entities must be related to a department entity via WORKS_FOR.</a:t>
            </a:r>
          </a:p>
        </p:txBody>
      </p:sp>
      <p:sp>
        <p:nvSpPr>
          <p:cNvPr id="4" name="Title 3"/>
          <p:cNvSpPr>
            <a:spLocks noGrp="1"/>
          </p:cNvSpPr>
          <p:nvPr>
            <p:ph type="title"/>
          </p:nvPr>
        </p:nvSpPr>
        <p:spPr>
          <a:xfrm>
            <a:off x="646111" y="452718"/>
            <a:ext cx="9404723" cy="708817"/>
          </a:xfrm>
        </p:spPr>
        <p:txBody>
          <a:bodyPr/>
          <a:lstStyle/>
          <a:p>
            <a:pPr algn="ctr"/>
            <a:r>
              <a:rPr lang="en-US" b="1" dirty="0"/>
              <a:t>Participation Constraints</a:t>
            </a:r>
            <a:endParaRPr lang="en-US" dirty="0"/>
          </a:p>
        </p:txBody>
      </p:sp>
    </p:spTree>
    <p:extLst>
      <p:ext uri="{BB962C8B-B14F-4D97-AF65-F5344CB8AC3E}">
        <p14:creationId xmlns:p14="http://schemas.microsoft.com/office/powerpoint/2010/main" val="233883640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839" y="1161535"/>
            <a:ext cx="10948086" cy="5523469"/>
          </a:xfrm>
        </p:spPr>
        <p:txBody>
          <a:bodyPr>
            <a:normAutofit/>
          </a:bodyPr>
          <a:lstStyle/>
          <a:p>
            <a:pPr lvl="0">
              <a:lnSpc>
                <a:spcPct val="200000"/>
              </a:lnSpc>
            </a:pPr>
            <a:r>
              <a:rPr lang="en-US" dirty="0" smtClean="0">
                <a:latin typeface="Calibri" panose="020F0502020204030204" pitchFamily="34" charset="0"/>
                <a:cs typeface="Calibri" panose="020F0502020204030204" pitchFamily="34" charset="0"/>
              </a:rPr>
              <a:t>If each department of an organization is managed by an employee, we </a:t>
            </a:r>
            <a:r>
              <a:rPr lang="en-US" dirty="0">
                <a:latin typeface="Calibri" panose="020F0502020204030204" pitchFamily="34" charset="0"/>
                <a:cs typeface="Calibri" panose="020F0502020204030204" pitchFamily="34" charset="0"/>
              </a:rPr>
              <a:t>do not expect every employee to </a:t>
            </a:r>
            <a:r>
              <a:rPr lang="en-US" dirty="0" smtClean="0">
                <a:latin typeface="Calibri" panose="020F0502020204030204" pitchFamily="34" charset="0"/>
                <a:cs typeface="Calibri" panose="020F0502020204030204" pitchFamily="34" charset="0"/>
              </a:rPr>
              <a:t>manage the </a:t>
            </a:r>
            <a:r>
              <a:rPr lang="en-US" dirty="0">
                <a:latin typeface="Calibri" panose="020F0502020204030204" pitchFamily="34" charset="0"/>
                <a:cs typeface="Calibri" panose="020F0502020204030204" pitchFamily="34" charset="0"/>
              </a:rPr>
              <a:t>department, so the participation of EMPLOYEE in the MANAGES relationship type is partial, meaning that some or "part of the set of" employee entities are related to some department entity via MANAGES, but not necessarily all</a:t>
            </a:r>
            <a:r>
              <a:rPr lang="en-US" dirty="0" smtClean="0">
                <a:latin typeface="Calibri" panose="020F0502020204030204" pitchFamily="34" charset="0"/>
                <a:cs typeface="Calibri" panose="020F0502020204030204" pitchFamily="34" charset="0"/>
              </a:rPr>
              <a:t>.</a:t>
            </a:r>
          </a:p>
          <a:p>
            <a:pPr lvl="0">
              <a:lnSpc>
                <a:spcPct val="200000"/>
              </a:lnSpc>
            </a:pPr>
            <a:r>
              <a:rPr lang="en-US" dirty="0" smtClean="0">
                <a:latin typeface="Calibri" panose="020F0502020204030204" pitchFamily="34" charset="0"/>
                <a:cs typeface="Calibri" panose="020F0502020204030204" pitchFamily="34" charset="0"/>
              </a:rPr>
              <a:t>ER </a:t>
            </a:r>
            <a:r>
              <a:rPr lang="en-US" dirty="0">
                <a:latin typeface="Calibri" panose="020F0502020204030204" pitchFamily="34" charset="0"/>
                <a:cs typeface="Calibri" panose="020F0502020204030204" pitchFamily="34" charset="0"/>
              </a:rPr>
              <a:t>diagrams, total participation (or existence dependency) is displayed as a double line connecting the participating entity type to the relationship, whereas partial participation is represented by a single line</a:t>
            </a:r>
          </a:p>
        </p:txBody>
      </p:sp>
      <p:sp>
        <p:nvSpPr>
          <p:cNvPr id="4" name="Title 3"/>
          <p:cNvSpPr>
            <a:spLocks noGrp="1"/>
          </p:cNvSpPr>
          <p:nvPr>
            <p:ph type="title"/>
          </p:nvPr>
        </p:nvSpPr>
        <p:spPr>
          <a:xfrm>
            <a:off x="646111" y="452718"/>
            <a:ext cx="9404723" cy="708817"/>
          </a:xfrm>
        </p:spPr>
        <p:txBody>
          <a:bodyPr/>
          <a:lstStyle/>
          <a:p>
            <a:pPr algn="ctr"/>
            <a:r>
              <a:rPr lang="en-US" b="1" dirty="0"/>
              <a:t>Participation Constraints</a:t>
            </a:r>
            <a:endParaRPr lang="en-US" dirty="0"/>
          </a:p>
        </p:txBody>
      </p:sp>
      <p:pic>
        <p:nvPicPr>
          <p:cNvPr id="5" name="Picture 4" descr="Participation Constraints"/>
          <p:cNvPicPr/>
          <p:nvPr/>
        </p:nvPicPr>
        <p:blipFill>
          <a:blip r:embed="rId2">
            <a:extLst>
              <a:ext uri="{28A0092B-C50C-407E-A947-70E740481C1C}">
                <a14:useLocalDpi xmlns:a14="http://schemas.microsoft.com/office/drawing/2010/main" val="0"/>
              </a:ext>
            </a:extLst>
          </a:blip>
          <a:srcRect/>
          <a:stretch>
            <a:fillRect/>
          </a:stretch>
        </p:blipFill>
        <p:spPr bwMode="auto">
          <a:xfrm>
            <a:off x="2237432" y="4931196"/>
            <a:ext cx="5270500" cy="1468755"/>
          </a:xfrm>
          <a:prstGeom prst="rect">
            <a:avLst/>
          </a:prstGeom>
          <a:noFill/>
          <a:ln>
            <a:noFill/>
          </a:ln>
        </p:spPr>
      </p:pic>
    </p:spTree>
    <p:extLst>
      <p:ext uri="{BB962C8B-B14F-4D97-AF65-F5344CB8AC3E}">
        <p14:creationId xmlns:p14="http://schemas.microsoft.com/office/powerpoint/2010/main" val="267764300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3383" y="1631091"/>
            <a:ext cx="9242855" cy="3632887"/>
          </a:xfrm>
        </p:spPr>
        <p:txBody>
          <a:bodyPr>
            <a:noAutofit/>
          </a:bodyPr>
          <a:lstStyle/>
          <a:p>
            <a:pPr>
              <a:lnSpc>
                <a:spcPct val="200000"/>
              </a:lnSpc>
            </a:pPr>
            <a:r>
              <a:rPr lang="en-US" sz="1900" dirty="0">
                <a:latin typeface="Calibri" panose="020F0502020204030204" pitchFamily="34" charset="0"/>
                <a:cs typeface="Calibri" panose="020F0502020204030204" pitchFamily="34" charset="0"/>
              </a:rPr>
              <a:t>The cardinality ratio for a binary relationship specifies the maximum number of relationship instances that an entity can participate in. </a:t>
            </a:r>
            <a:endParaRPr lang="en-US" sz="1900" dirty="0" smtClean="0">
              <a:latin typeface="Calibri" panose="020F0502020204030204" pitchFamily="34" charset="0"/>
              <a:cs typeface="Calibri" panose="020F0502020204030204" pitchFamily="34" charset="0"/>
            </a:endParaRPr>
          </a:p>
          <a:p>
            <a:pPr>
              <a:lnSpc>
                <a:spcPct val="200000"/>
              </a:lnSpc>
            </a:pPr>
            <a:r>
              <a:rPr lang="en-US" sz="1900" dirty="0" smtClean="0">
                <a:latin typeface="Calibri" panose="020F0502020204030204" pitchFamily="34" charset="0"/>
                <a:cs typeface="Calibri" panose="020F0502020204030204" pitchFamily="34" charset="0"/>
              </a:rPr>
              <a:t>For </a:t>
            </a:r>
            <a:r>
              <a:rPr lang="en-US" sz="1900" dirty="0">
                <a:latin typeface="Calibri" panose="020F0502020204030204" pitchFamily="34" charset="0"/>
                <a:cs typeface="Calibri" panose="020F0502020204030204" pitchFamily="34" charset="0"/>
              </a:rPr>
              <a:t>example, in the WORKS_FOR binary relationship type, DEPARTMENT: EMPLOYEE is of cardinality ratio l:N, meaning that each department can be related to (that is, employs) any number of </a:t>
            </a:r>
            <a:r>
              <a:rPr lang="en-US" sz="1900" dirty="0" smtClean="0">
                <a:latin typeface="Calibri" panose="020F0502020204030204" pitchFamily="34" charset="0"/>
                <a:cs typeface="Calibri" panose="020F0502020204030204" pitchFamily="34" charset="0"/>
              </a:rPr>
              <a:t>employees, but </a:t>
            </a:r>
            <a:r>
              <a:rPr lang="en-US" sz="1900" dirty="0">
                <a:latin typeface="Calibri" panose="020F0502020204030204" pitchFamily="34" charset="0"/>
                <a:cs typeface="Calibri" panose="020F0502020204030204" pitchFamily="34" charset="0"/>
              </a:rPr>
              <a:t>an employee can be related to (work for) only </a:t>
            </a:r>
            <a:r>
              <a:rPr lang="en-US" sz="1900" dirty="0" smtClean="0">
                <a:latin typeface="Calibri" panose="020F0502020204030204" pitchFamily="34" charset="0"/>
                <a:cs typeface="Calibri" panose="020F0502020204030204" pitchFamily="34" charset="0"/>
              </a:rPr>
              <a:t>one department</a:t>
            </a:r>
            <a:r>
              <a:rPr lang="en-US" sz="1900" dirty="0">
                <a:latin typeface="Calibri" panose="020F0502020204030204" pitchFamily="34" charset="0"/>
                <a:cs typeface="Calibri" panose="020F0502020204030204" pitchFamily="34" charset="0"/>
              </a:rPr>
              <a:t>. </a:t>
            </a:r>
            <a:endParaRPr lang="en-US" sz="1900"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273643" y="440361"/>
            <a:ext cx="7369418" cy="708817"/>
          </a:xfrm>
        </p:spPr>
        <p:txBody>
          <a:bodyPr/>
          <a:lstStyle/>
          <a:p>
            <a:pPr algn="ctr"/>
            <a:r>
              <a:rPr lang="en-US" b="1" dirty="0" smtClean="0">
                <a:latin typeface="Calibri" panose="020F0502020204030204" pitchFamily="34" charset="0"/>
                <a:cs typeface="Calibri" panose="020F0502020204030204" pitchFamily="34" charset="0"/>
              </a:rPr>
              <a:t>Cardinality Ratio</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669407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72499" y="1383957"/>
            <a:ext cx="7414051" cy="4744995"/>
          </a:xfrm>
        </p:spPr>
        <p:txBody>
          <a:bodyPr>
            <a:normAutofit/>
          </a:bodyPr>
          <a:lstStyle/>
          <a:p>
            <a:pPr>
              <a:lnSpc>
                <a:spcPct val="200000"/>
              </a:lnSpc>
            </a:pPr>
            <a:r>
              <a:rPr lang="en-US" sz="1900" dirty="0" smtClean="0">
                <a:latin typeface="Calibri" panose="020F0502020204030204" pitchFamily="34" charset="0"/>
                <a:cs typeface="Calibri" panose="020F0502020204030204" pitchFamily="34" charset="0"/>
              </a:rPr>
              <a:t>The </a:t>
            </a:r>
            <a:r>
              <a:rPr lang="en-US" sz="1900" dirty="0">
                <a:latin typeface="Calibri" panose="020F0502020204030204" pitchFamily="34" charset="0"/>
                <a:cs typeface="Calibri" panose="020F0502020204030204" pitchFamily="34" charset="0"/>
              </a:rPr>
              <a:t>possible cardinality ratios for binary relationship types are </a:t>
            </a:r>
            <a:endParaRPr lang="en-US" sz="1900" dirty="0" smtClean="0">
              <a:latin typeface="Calibri" panose="020F0502020204030204" pitchFamily="34" charset="0"/>
              <a:cs typeface="Calibri" panose="020F0502020204030204" pitchFamily="34" charset="0"/>
            </a:endParaRPr>
          </a:p>
          <a:p>
            <a:pPr lvl="2">
              <a:lnSpc>
                <a:spcPct val="200000"/>
              </a:lnSpc>
              <a:buFont typeface="Wingdings" panose="05000000000000000000" pitchFamily="2" charset="2"/>
              <a:buChar char="Ø"/>
            </a:pPr>
            <a:r>
              <a:rPr lang="en-US" sz="1900" dirty="0" smtClean="0">
                <a:latin typeface="Calibri" panose="020F0502020204030204" pitchFamily="34" charset="0"/>
                <a:cs typeface="Calibri" panose="020F0502020204030204" pitchFamily="34" charset="0"/>
              </a:rPr>
              <a:t>One to one (1:1)</a:t>
            </a:r>
          </a:p>
          <a:p>
            <a:pPr lvl="2">
              <a:lnSpc>
                <a:spcPct val="200000"/>
              </a:lnSpc>
              <a:buFont typeface="Wingdings" panose="05000000000000000000" pitchFamily="2" charset="2"/>
              <a:buChar char="Ø"/>
            </a:pPr>
            <a:r>
              <a:rPr lang="en-US" sz="1900" dirty="0" smtClean="0">
                <a:latin typeface="Calibri" panose="020F0502020204030204" pitchFamily="34" charset="0"/>
                <a:cs typeface="Calibri" panose="020F0502020204030204" pitchFamily="34" charset="0"/>
              </a:rPr>
              <a:t>One to many (</a:t>
            </a:r>
            <a:r>
              <a:rPr lang="en-US" sz="1900" dirty="0" err="1" smtClean="0">
                <a:latin typeface="Calibri" panose="020F0502020204030204" pitchFamily="34" charset="0"/>
                <a:cs typeface="Calibri" panose="020F0502020204030204" pitchFamily="34" charset="0"/>
              </a:rPr>
              <a:t>l:N</a:t>
            </a:r>
            <a:r>
              <a:rPr lang="en-US" sz="1900" dirty="0" smtClean="0">
                <a:latin typeface="Calibri" panose="020F0502020204030204" pitchFamily="34" charset="0"/>
                <a:cs typeface="Calibri" panose="020F0502020204030204" pitchFamily="34" charset="0"/>
              </a:rPr>
              <a:t>)</a:t>
            </a:r>
          </a:p>
          <a:p>
            <a:pPr lvl="2">
              <a:lnSpc>
                <a:spcPct val="200000"/>
              </a:lnSpc>
              <a:buFont typeface="Wingdings" panose="05000000000000000000" pitchFamily="2" charset="2"/>
              <a:buChar char="Ø"/>
            </a:pPr>
            <a:r>
              <a:rPr lang="en-US" sz="1900" dirty="0" smtClean="0">
                <a:latin typeface="Calibri" panose="020F0502020204030204" pitchFamily="34" charset="0"/>
                <a:cs typeface="Calibri" panose="020F0502020204030204" pitchFamily="34" charset="0"/>
              </a:rPr>
              <a:t>Many to one (</a:t>
            </a:r>
            <a:r>
              <a:rPr lang="en-US" sz="1900" dirty="0" err="1" smtClean="0">
                <a:latin typeface="Calibri" panose="020F0502020204030204" pitchFamily="34" charset="0"/>
                <a:cs typeface="Calibri" panose="020F0502020204030204" pitchFamily="34" charset="0"/>
              </a:rPr>
              <a:t>N:l</a:t>
            </a:r>
            <a:r>
              <a:rPr lang="en-US" sz="1900" dirty="0" smtClean="0">
                <a:latin typeface="Calibri" panose="020F0502020204030204" pitchFamily="34" charset="0"/>
                <a:cs typeface="Calibri" panose="020F0502020204030204" pitchFamily="34" charset="0"/>
              </a:rPr>
              <a:t>)</a:t>
            </a:r>
          </a:p>
          <a:p>
            <a:pPr lvl="2">
              <a:lnSpc>
                <a:spcPct val="200000"/>
              </a:lnSpc>
              <a:buFont typeface="Wingdings" panose="05000000000000000000" pitchFamily="2" charset="2"/>
              <a:buChar char="Ø"/>
            </a:pPr>
            <a:r>
              <a:rPr lang="en-US" sz="1900" dirty="0" smtClean="0">
                <a:latin typeface="Calibri" panose="020F0502020204030204" pitchFamily="34" charset="0"/>
                <a:cs typeface="Calibri" panose="020F0502020204030204" pitchFamily="34" charset="0"/>
              </a:rPr>
              <a:t>Many to many (M:N)</a:t>
            </a:r>
          </a:p>
        </p:txBody>
      </p:sp>
      <p:sp>
        <p:nvSpPr>
          <p:cNvPr id="4" name="Title 3"/>
          <p:cNvSpPr>
            <a:spLocks noGrp="1"/>
          </p:cNvSpPr>
          <p:nvPr>
            <p:ph type="title"/>
          </p:nvPr>
        </p:nvSpPr>
        <p:spPr>
          <a:xfrm>
            <a:off x="2273643" y="440361"/>
            <a:ext cx="7369418" cy="708817"/>
          </a:xfrm>
        </p:spPr>
        <p:txBody>
          <a:bodyPr/>
          <a:lstStyle/>
          <a:p>
            <a:pPr algn="ctr"/>
            <a:r>
              <a:rPr lang="en-US" b="1" dirty="0" smtClean="0">
                <a:latin typeface="Calibri" panose="020F0502020204030204" pitchFamily="34" charset="0"/>
                <a:cs typeface="Calibri" panose="020F0502020204030204" pitchFamily="34" charset="0"/>
              </a:rPr>
              <a:t>Cardinality Ratio</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3412923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6443" y="428005"/>
            <a:ext cx="6252519" cy="671747"/>
          </a:xfrm>
        </p:spPr>
        <p:txBody>
          <a:bodyPr/>
          <a:lstStyle/>
          <a:p>
            <a:pPr algn="ctr"/>
            <a:r>
              <a:rPr lang="en-US" b="1" dirty="0" smtClean="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 Cardinality </a:t>
            </a:r>
            <a:r>
              <a:rPr lang="en-US" b="1" dirty="0" smtClean="0">
                <a:latin typeface="Calibri" panose="020F0502020204030204" pitchFamily="34" charset="0"/>
                <a:cs typeface="Calibri" panose="020F0502020204030204" pitchFamily="34" charset="0"/>
              </a:rPr>
              <a:t>of relationships</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03312" y="1322174"/>
            <a:ext cx="9659423" cy="4926226"/>
          </a:xfrm>
        </p:spPr>
        <p:txBody>
          <a:bodyPr>
            <a:normAutofit/>
          </a:bodyPr>
          <a:lstStyle/>
          <a:p>
            <a:pPr lvl="0">
              <a:lnSpc>
                <a:spcPct val="200000"/>
              </a:lnSpc>
            </a:pPr>
            <a:r>
              <a:rPr lang="en-US" b="1" dirty="0">
                <a:latin typeface="Calibri" panose="020F0502020204030204" pitchFamily="34" charset="0"/>
                <a:cs typeface="Calibri" panose="020F0502020204030204" pitchFamily="34" charset="0"/>
              </a:rPr>
              <a:t>One-to-one</a:t>
            </a:r>
            <a:r>
              <a:rPr lang="en-US" dirty="0">
                <a:latin typeface="Calibri" panose="020F0502020204030204" pitchFamily="34" charset="0"/>
                <a:cs typeface="Calibri" panose="020F0502020204030204" pitchFamily="34" charset="0"/>
              </a:rPr>
              <a:t> − </a:t>
            </a:r>
            <a:r>
              <a:rPr lang="en-US" dirty="0" smtClean="0">
                <a:latin typeface="Calibri" panose="020F0502020204030204" pitchFamily="34" charset="0"/>
                <a:cs typeface="Calibri" panose="020F0502020204030204" pitchFamily="34" charset="0"/>
              </a:rPr>
              <a:t>An entity A is associated with at most one entity in B, and an entity in B is associated with at most one entity in B</a:t>
            </a:r>
          </a:p>
          <a:p>
            <a:pPr lvl="0">
              <a:lnSpc>
                <a:spcPct val="200000"/>
              </a:lnSpc>
            </a:pPr>
            <a:endParaRPr lang="en-US" dirty="0" smtClean="0">
              <a:latin typeface="Calibri" panose="020F0502020204030204" pitchFamily="34" charset="0"/>
              <a:cs typeface="Calibri" panose="020F0502020204030204" pitchFamily="34" charset="0"/>
            </a:endParaRPr>
          </a:p>
        </p:txBody>
      </p:sp>
      <p:pic>
        <p:nvPicPr>
          <p:cNvPr id="14" name="Picture 13" descr="One-to-one"/>
          <p:cNvPicPr/>
          <p:nvPr/>
        </p:nvPicPr>
        <p:blipFill>
          <a:blip r:embed="rId2">
            <a:extLst>
              <a:ext uri="{28A0092B-C50C-407E-A947-70E740481C1C}">
                <a14:useLocalDpi xmlns:a14="http://schemas.microsoft.com/office/drawing/2010/main" val="0"/>
              </a:ext>
            </a:extLst>
          </a:blip>
          <a:srcRect/>
          <a:stretch>
            <a:fillRect/>
          </a:stretch>
        </p:blipFill>
        <p:spPr bwMode="auto">
          <a:xfrm>
            <a:off x="4955917" y="3151826"/>
            <a:ext cx="4497001" cy="1111256"/>
          </a:xfrm>
          <a:prstGeom prst="rect">
            <a:avLst/>
          </a:prstGeom>
          <a:noFill/>
          <a:ln>
            <a:noFill/>
          </a:ln>
        </p:spPr>
      </p:pic>
      <p:pic>
        <p:nvPicPr>
          <p:cNvPr id="15" name="Picture 14"/>
          <p:cNvPicPr>
            <a:picLocks noChangeAspect="1"/>
          </p:cNvPicPr>
          <p:nvPr/>
        </p:nvPicPr>
        <p:blipFill>
          <a:blip r:embed="rId3"/>
          <a:stretch>
            <a:fillRect/>
          </a:stretch>
        </p:blipFill>
        <p:spPr>
          <a:xfrm>
            <a:off x="1997569" y="2869090"/>
            <a:ext cx="2240799" cy="2057344"/>
          </a:xfrm>
          <a:prstGeom prst="rect">
            <a:avLst/>
          </a:prstGeom>
        </p:spPr>
      </p:pic>
    </p:spTree>
    <p:extLst>
      <p:ext uri="{BB962C8B-B14F-4D97-AF65-F5344CB8AC3E}">
        <p14:creationId xmlns:p14="http://schemas.microsoft.com/office/powerpoint/2010/main" val="6381074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16443" y="428005"/>
            <a:ext cx="6252519" cy="671747"/>
          </a:xfrm>
        </p:spPr>
        <p:txBody>
          <a:bodyPr/>
          <a:lstStyle/>
          <a:p>
            <a:pPr algn="ctr"/>
            <a:r>
              <a:rPr lang="en-US" b="1" dirty="0" smtClean="0">
                <a:latin typeface="Calibri" panose="020F0502020204030204" pitchFamily="34" charset="0"/>
                <a:cs typeface="Calibri" panose="020F0502020204030204" pitchFamily="34" charset="0"/>
              </a:rPr>
              <a:t>	</a:t>
            </a:r>
            <a:r>
              <a:rPr lang="en-US" b="1" dirty="0">
                <a:latin typeface="Calibri" panose="020F0502020204030204" pitchFamily="34" charset="0"/>
                <a:cs typeface="Calibri" panose="020F0502020204030204" pitchFamily="34" charset="0"/>
              </a:rPr>
              <a:t> Cardinality </a:t>
            </a:r>
            <a:r>
              <a:rPr lang="en-US" b="1" dirty="0" smtClean="0">
                <a:latin typeface="Calibri" panose="020F0502020204030204" pitchFamily="34" charset="0"/>
                <a:cs typeface="Calibri" panose="020F0502020204030204" pitchFamily="34" charset="0"/>
              </a:rPr>
              <a:t>of relationships</a:t>
            </a:r>
            <a:endParaRPr lang="en-US" b="1"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1103312" y="1322174"/>
            <a:ext cx="9659423" cy="4926226"/>
          </a:xfrm>
        </p:spPr>
        <p:txBody>
          <a:bodyPr>
            <a:normAutofit/>
          </a:bodyPr>
          <a:lstStyle/>
          <a:p>
            <a:pPr lvl="0">
              <a:lnSpc>
                <a:spcPct val="200000"/>
              </a:lnSpc>
            </a:pPr>
            <a:r>
              <a:rPr lang="en-US" dirty="0" smtClean="0">
                <a:latin typeface="Calibri" panose="020F0502020204030204" pitchFamily="34" charset="0"/>
                <a:cs typeface="Calibri" panose="020F0502020204030204" pitchFamily="34" charset="0"/>
              </a:rPr>
              <a:t>Example </a:t>
            </a:r>
            <a:r>
              <a:rPr lang="en-US" dirty="0">
                <a:latin typeface="Calibri" panose="020F0502020204030204" pitchFamily="34" charset="0"/>
                <a:cs typeface="Calibri" panose="020F0502020204030204" pitchFamily="34" charset="0"/>
              </a:rPr>
              <a:t>of a 1:1 binary relationship is </a:t>
            </a:r>
            <a:r>
              <a:rPr lang="en-US" dirty="0" smtClean="0">
                <a:latin typeface="Calibri" panose="020F0502020204030204" pitchFamily="34" charset="0"/>
                <a:cs typeface="Calibri" panose="020F0502020204030204" pitchFamily="34" charset="0"/>
              </a:rPr>
              <a:t>MANAGES, </a:t>
            </a:r>
            <a:r>
              <a:rPr lang="en-US" dirty="0">
                <a:latin typeface="Calibri" panose="020F0502020204030204" pitchFamily="34" charset="0"/>
                <a:cs typeface="Calibri" panose="020F0502020204030204" pitchFamily="34" charset="0"/>
              </a:rPr>
              <a:t>which relates </a:t>
            </a:r>
            <a:r>
              <a:rPr lang="en-US" dirty="0" smtClean="0">
                <a:latin typeface="Calibri" panose="020F0502020204030204" pitchFamily="34" charset="0"/>
                <a:cs typeface="Calibri" panose="020F0502020204030204" pitchFamily="34" charset="0"/>
              </a:rPr>
              <a:t>a department </a:t>
            </a:r>
            <a:r>
              <a:rPr lang="en-US" dirty="0">
                <a:latin typeface="Calibri" panose="020F0502020204030204" pitchFamily="34" charset="0"/>
                <a:cs typeface="Calibri" panose="020F0502020204030204" pitchFamily="34" charset="0"/>
              </a:rPr>
              <a:t>entity to the employee who manages that department. </a:t>
            </a:r>
            <a:r>
              <a:rPr lang="en-US" dirty="0" smtClean="0">
                <a:latin typeface="Calibri" panose="020F0502020204030204" pitchFamily="34" charset="0"/>
                <a:cs typeface="Calibri" panose="020F0502020204030204" pitchFamily="34" charset="0"/>
              </a:rPr>
              <a:t>This represents that-at </a:t>
            </a:r>
            <a:r>
              <a:rPr lang="en-US" dirty="0">
                <a:latin typeface="Calibri" panose="020F0502020204030204" pitchFamily="34" charset="0"/>
                <a:cs typeface="Calibri" panose="020F0502020204030204" pitchFamily="34" charset="0"/>
              </a:rPr>
              <a:t>any point in time-an employee can manage only </a:t>
            </a:r>
            <a:r>
              <a:rPr lang="en-US" dirty="0" smtClean="0">
                <a:latin typeface="Calibri" panose="020F0502020204030204" pitchFamily="34" charset="0"/>
                <a:cs typeface="Calibri" panose="020F0502020204030204" pitchFamily="34" charset="0"/>
              </a:rPr>
              <a:t>one department </a:t>
            </a:r>
            <a:r>
              <a:rPr lang="en-US" dirty="0">
                <a:latin typeface="Calibri" panose="020F0502020204030204" pitchFamily="34" charset="0"/>
                <a:cs typeface="Calibri" panose="020F0502020204030204" pitchFamily="34" charset="0"/>
              </a:rPr>
              <a:t>and a department </a:t>
            </a:r>
            <a:r>
              <a:rPr lang="en-US" dirty="0" smtClean="0">
                <a:latin typeface="Calibri" panose="020F0502020204030204" pitchFamily="34" charset="0"/>
                <a:cs typeface="Calibri" panose="020F0502020204030204" pitchFamily="34" charset="0"/>
              </a:rPr>
              <a:t>has </a:t>
            </a:r>
            <a:r>
              <a:rPr lang="en-US" dirty="0">
                <a:latin typeface="Calibri" panose="020F0502020204030204" pitchFamily="34" charset="0"/>
                <a:cs typeface="Calibri" panose="020F0502020204030204" pitchFamily="34" charset="0"/>
              </a:rPr>
              <a:t>only one manager.</a:t>
            </a:r>
          </a:p>
        </p:txBody>
      </p:sp>
      <p:grpSp>
        <p:nvGrpSpPr>
          <p:cNvPr id="4" name="Group 3"/>
          <p:cNvGrpSpPr/>
          <p:nvPr/>
        </p:nvGrpSpPr>
        <p:grpSpPr>
          <a:xfrm>
            <a:off x="2409567" y="3521678"/>
            <a:ext cx="5708821" cy="1309814"/>
            <a:chOff x="6240161" y="4856205"/>
            <a:chExt cx="5857103" cy="1779374"/>
          </a:xfrm>
        </p:grpSpPr>
        <p:grpSp>
          <p:nvGrpSpPr>
            <p:cNvPr id="5" name="Group 4"/>
            <p:cNvGrpSpPr/>
            <p:nvPr/>
          </p:nvGrpSpPr>
          <p:grpSpPr>
            <a:xfrm>
              <a:off x="6240161" y="4856205"/>
              <a:ext cx="5857103" cy="1779374"/>
              <a:chOff x="6240161" y="4856205"/>
              <a:chExt cx="5857103" cy="1779374"/>
            </a:xfrm>
          </p:grpSpPr>
          <p:grpSp>
            <p:nvGrpSpPr>
              <p:cNvPr id="7" name="Group 6"/>
              <p:cNvGrpSpPr/>
              <p:nvPr/>
            </p:nvGrpSpPr>
            <p:grpSpPr>
              <a:xfrm>
                <a:off x="6240161" y="4856205"/>
                <a:ext cx="5857103" cy="1779374"/>
                <a:chOff x="5869460" y="5202196"/>
                <a:chExt cx="5774724" cy="1544594"/>
              </a:xfrm>
            </p:grpSpPr>
            <p:sp>
              <p:nvSpPr>
                <p:cNvPr id="9" name="Rectangle 8"/>
                <p:cNvSpPr/>
                <p:nvPr/>
              </p:nvSpPr>
              <p:spPr>
                <a:xfrm>
                  <a:off x="5869460" y="5745892"/>
                  <a:ext cx="139631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Calibri" panose="020F0502020204030204" pitchFamily="34" charset="0"/>
                      <a:cs typeface="Calibri" panose="020F0502020204030204" pitchFamily="34" charset="0"/>
                    </a:rPr>
                    <a:t>Employee</a:t>
                  </a:r>
                  <a:endParaRPr lang="en-US" dirty="0">
                    <a:latin typeface="Calibri" panose="020F0502020204030204" pitchFamily="34" charset="0"/>
                    <a:cs typeface="Calibri" panose="020F0502020204030204" pitchFamily="34" charset="0"/>
                  </a:endParaRPr>
                </a:p>
              </p:txBody>
            </p:sp>
            <p:sp>
              <p:nvSpPr>
                <p:cNvPr id="10" name="Diamond 9"/>
                <p:cNvSpPr/>
                <p:nvPr/>
              </p:nvSpPr>
              <p:spPr>
                <a:xfrm>
                  <a:off x="7797114" y="5202196"/>
                  <a:ext cx="2001793" cy="15445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latin typeface="Calibri" panose="020F0502020204030204" pitchFamily="34" charset="0"/>
                      <a:cs typeface="Calibri" panose="020F0502020204030204" pitchFamily="34" charset="0"/>
                    </a:rPr>
                    <a:t>Manages</a:t>
                  </a:r>
                  <a:endParaRPr lang="en-US" sz="1400" dirty="0">
                    <a:latin typeface="Calibri" panose="020F0502020204030204" pitchFamily="34" charset="0"/>
                    <a:cs typeface="Calibri" panose="020F0502020204030204" pitchFamily="34" charset="0"/>
                  </a:endParaRPr>
                </a:p>
              </p:txBody>
            </p:sp>
            <p:sp>
              <p:nvSpPr>
                <p:cNvPr id="11" name="Rectangle 10"/>
                <p:cNvSpPr/>
                <p:nvPr/>
              </p:nvSpPr>
              <p:spPr>
                <a:xfrm>
                  <a:off x="10383795" y="5737654"/>
                  <a:ext cx="1260389"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alibri" panose="020F0502020204030204" pitchFamily="34" charset="0"/>
                      <a:cs typeface="Calibri" panose="020F0502020204030204" pitchFamily="34" charset="0"/>
                    </a:rPr>
                    <a:t>D</a:t>
                  </a:r>
                  <a:r>
                    <a:rPr lang="en-US" sz="1400" dirty="0" smtClean="0">
                      <a:latin typeface="Calibri" panose="020F0502020204030204" pitchFamily="34" charset="0"/>
                      <a:cs typeface="Calibri" panose="020F0502020204030204" pitchFamily="34" charset="0"/>
                    </a:rPr>
                    <a:t>epartment</a:t>
                  </a:r>
                  <a:endParaRPr lang="en-US" sz="1400" dirty="0">
                    <a:latin typeface="Calibri" panose="020F0502020204030204" pitchFamily="34" charset="0"/>
                    <a:cs typeface="Calibri" panose="020F0502020204030204" pitchFamily="34" charset="0"/>
                  </a:endParaRPr>
                </a:p>
              </p:txBody>
            </p:sp>
            <p:cxnSp>
              <p:nvCxnSpPr>
                <p:cNvPr id="12" name="Straight Connector 11"/>
                <p:cNvCxnSpPr>
                  <a:stCxn id="10" idx="3"/>
                  <a:endCxn id="11" idx="1"/>
                </p:cNvCxnSpPr>
                <p:nvPr/>
              </p:nvCxnSpPr>
              <p:spPr>
                <a:xfrm flipV="1">
                  <a:off x="9798907" y="5966254"/>
                  <a:ext cx="584888" cy="82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10" idx="1"/>
                </p:cNvCxnSpPr>
                <p:nvPr/>
              </p:nvCxnSpPr>
              <p:spPr>
                <a:xfrm>
                  <a:off x="7265774" y="5974492"/>
                  <a:ext cx="531340" cy="1"/>
                </a:xfrm>
                <a:prstGeom prst="line">
                  <a:avLst/>
                </a:prstGeom>
              </p:spPr>
              <p:style>
                <a:lnRef idx="1">
                  <a:schemeClr val="accent1"/>
                </a:lnRef>
                <a:fillRef idx="0">
                  <a:schemeClr val="accent1"/>
                </a:fillRef>
                <a:effectRef idx="0">
                  <a:schemeClr val="accent1"/>
                </a:effectRef>
                <a:fontRef idx="minor">
                  <a:schemeClr val="tx1"/>
                </a:fontRef>
              </p:style>
            </p:cxnSp>
          </p:grpSp>
          <p:sp>
            <p:nvSpPr>
              <p:cNvPr id="8" name="Rectangle 7"/>
              <p:cNvSpPr/>
              <p:nvPr/>
            </p:nvSpPr>
            <p:spPr>
              <a:xfrm>
                <a:off x="7760043" y="5375189"/>
                <a:ext cx="481914" cy="34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Calibri" panose="020F0502020204030204" pitchFamily="34" charset="0"/>
                    <a:cs typeface="Calibri" panose="020F0502020204030204" pitchFamily="34" charset="0"/>
                  </a:rPr>
                  <a:t>1</a:t>
                </a:r>
                <a:endParaRPr lang="en-US" sz="1400" dirty="0">
                  <a:solidFill>
                    <a:schemeClr val="tx1"/>
                  </a:solidFill>
                  <a:latin typeface="Calibri" panose="020F0502020204030204" pitchFamily="34" charset="0"/>
                  <a:cs typeface="Calibri" panose="020F0502020204030204" pitchFamily="34" charset="0"/>
                </a:endParaRPr>
              </a:p>
            </p:txBody>
          </p:sp>
        </p:grpSp>
        <p:sp>
          <p:nvSpPr>
            <p:cNvPr id="6" name="Rectangle 5"/>
            <p:cNvSpPr/>
            <p:nvPr/>
          </p:nvSpPr>
          <p:spPr>
            <a:xfrm>
              <a:off x="10243751" y="5399903"/>
              <a:ext cx="486033" cy="3130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Calibri" panose="020F0502020204030204" pitchFamily="34" charset="0"/>
                  <a:cs typeface="Calibri" panose="020F0502020204030204" pitchFamily="34" charset="0"/>
                </a:rPr>
                <a:t>1</a:t>
              </a:r>
              <a:endParaRPr lang="en-US" sz="1400" dirty="0">
                <a:solidFill>
                  <a:schemeClr val="tx1"/>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124560461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73892" y="1334530"/>
            <a:ext cx="9885406" cy="4732636"/>
          </a:xfrm>
        </p:spPr>
        <p:txBody>
          <a:bodyPr>
            <a:normAutofit/>
          </a:bodyPr>
          <a:lstStyle/>
          <a:p>
            <a:pPr>
              <a:lnSpc>
                <a:spcPct val="200000"/>
              </a:lnSpc>
            </a:pPr>
            <a:r>
              <a:rPr lang="en-US" b="1" dirty="0">
                <a:latin typeface="Calibri" panose="020F0502020204030204" pitchFamily="34" charset="0"/>
                <a:cs typeface="Calibri" panose="020F0502020204030204" pitchFamily="34" charset="0"/>
              </a:rPr>
              <a:t>One-to-many</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 An entity in A is associated with any number (zero or more) of entities in B while an entity in B can be associated with at most one entity in A. it is denoted as '1:N'. </a:t>
            </a:r>
          </a:p>
          <a:p>
            <a:pPr>
              <a:lnSpc>
                <a:spcPct val="200000"/>
              </a:lnSpc>
            </a:pPr>
            <a:endParaRPr lang="en-US"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067138" y="539215"/>
            <a:ext cx="6520808" cy="708817"/>
          </a:xfrm>
        </p:spPr>
        <p:txBody>
          <a:bodyPr/>
          <a:lstStyle/>
          <a:p>
            <a:pPr algn="ctr"/>
            <a:r>
              <a:rPr lang="en-US" b="1" dirty="0">
                <a:latin typeface="Calibri" panose="020F0502020204030204" pitchFamily="34" charset="0"/>
                <a:cs typeface="Calibri" panose="020F0502020204030204" pitchFamily="34" charset="0"/>
              </a:rPr>
              <a:t>Cardinality </a:t>
            </a:r>
            <a:r>
              <a:rPr lang="en-US" b="1" dirty="0" smtClean="0">
                <a:latin typeface="Calibri" panose="020F0502020204030204" pitchFamily="34" charset="0"/>
                <a:cs typeface="Calibri" panose="020F0502020204030204" pitchFamily="34" charset="0"/>
              </a:rPr>
              <a:t>of relationships</a:t>
            </a:r>
            <a:endParaRPr lang="en-US" b="1" dirty="0">
              <a:latin typeface="Calibri" panose="020F0502020204030204" pitchFamily="34" charset="0"/>
              <a:cs typeface="Calibri" panose="020F0502020204030204" pitchFamily="34" charset="0"/>
            </a:endParaRPr>
          </a:p>
        </p:txBody>
      </p:sp>
      <p:pic>
        <p:nvPicPr>
          <p:cNvPr id="5" name="Picture 4" descr="One-to-many"/>
          <p:cNvPicPr/>
          <p:nvPr/>
        </p:nvPicPr>
        <p:blipFill>
          <a:blip r:embed="rId2">
            <a:extLst>
              <a:ext uri="{28A0092B-C50C-407E-A947-70E740481C1C}">
                <a14:useLocalDpi xmlns:a14="http://schemas.microsoft.com/office/drawing/2010/main" val="0"/>
              </a:ext>
            </a:extLst>
          </a:blip>
          <a:srcRect/>
          <a:stretch>
            <a:fillRect/>
          </a:stretch>
        </p:blipFill>
        <p:spPr bwMode="auto">
          <a:xfrm>
            <a:off x="5351332" y="3596667"/>
            <a:ext cx="3335468" cy="1000048"/>
          </a:xfrm>
          <a:prstGeom prst="rect">
            <a:avLst/>
          </a:prstGeom>
          <a:noFill/>
          <a:ln>
            <a:noFill/>
          </a:ln>
        </p:spPr>
      </p:pic>
      <p:pic>
        <p:nvPicPr>
          <p:cNvPr id="9" name="Picture 8"/>
          <p:cNvPicPr>
            <a:picLocks noChangeAspect="1"/>
          </p:cNvPicPr>
          <p:nvPr/>
        </p:nvPicPr>
        <p:blipFill>
          <a:blip r:embed="rId3"/>
          <a:stretch>
            <a:fillRect/>
          </a:stretch>
        </p:blipFill>
        <p:spPr>
          <a:xfrm>
            <a:off x="1542027" y="2766370"/>
            <a:ext cx="2325637" cy="2427305"/>
          </a:xfrm>
          <a:prstGeom prst="rect">
            <a:avLst/>
          </a:prstGeom>
        </p:spPr>
      </p:pic>
    </p:spTree>
    <p:extLst>
      <p:ext uri="{BB962C8B-B14F-4D97-AF65-F5344CB8AC3E}">
        <p14:creationId xmlns:p14="http://schemas.microsoft.com/office/powerpoint/2010/main" val="42483178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5168" y="1173892"/>
            <a:ext cx="9823622" cy="4967415"/>
          </a:xfrm>
        </p:spPr>
        <p:txBody>
          <a:bodyPr>
            <a:normAutofit/>
          </a:bodyPr>
          <a:lstStyle/>
          <a:p>
            <a:pPr lvl="0">
              <a:lnSpc>
                <a:spcPct val="200000"/>
              </a:lnSpc>
            </a:pPr>
            <a:r>
              <a:rPr lang="en-US" b="1" dirty="0">
                <a:latin typeface="Calibri" panose="020F0502020204030204" pitchFamily="34" charset="0"/>
                <a:cs typeface="Calibri" panose="020F0502020204030204" pitchFamily="34" charset="0"/>
              </a:rPr>
              <a:t>Many-to-one</a:t>
            </a:r>
            <a:r>
              <a:rPr lang="en-US" dirty="0">
                <a:latin typeface="Calibri" panose="020F0502020204030204" pitchFamily="34" charset="0"/>
                <a:cs typeface="Calibri" panose="020F0502020204030204" pitchFamily="34" charset="0"/>
              </a:rPr>
              <a:t> − An entity in A is associated with </a:t>
            </a:r>
            <a:r>
              <a:rPr lang="en-US" dirty="0" smtClean="0">
                <a:latin typeface="Calibri" panose="020F0502020204030204" pitchFamily="34" charset="0"/>
                <a:cs typeface="Calibri" panose="020F0502020204030204" pitchFamily="34" charset="0"/>
              </a:rPr>
              <a:t>at most one entity </a:t>
            </a:r>
            <a:r>
              <a:rPr lang="en-US" dirty="0">
                <a:latin typeface="Calibri" panose="020F0502020204030204" pitchFamily="34" charset="0"/>
                <a:cs typeface="Calibri" panose="020F0502020204030204" pitchFamily="34" charset="0"/>
              </a:rPr>
              <a:t>in </a:t>
            </a:r>
            <a:r>
              <a:rPr lang="en-US" dirty="0" smtClean="0">
                <a:latin typeface="Calibri" panose="020F0502020204030204" pitchFamily="34" charset="0"/>
                <a:cs typeface="Calibri" panose="020F0502020204030204" pitchFamily="34" charset="0"/>
              </a:rPr>
              <a:t>B, however, an entity in </a:t>
            </a:r>
            <a:r>
              <a:rPr lang="en-US" dirty="0">
                <a:latin typeface="Calibri" panose="020F0502020204030204" pitchFamily="34" charset="0"/>
                <a:cs typeface="Calibri" panose="020F0502020204030204" pitchFamily="34" charset="0"/>
              </a:rPr>
              <a:t>B can be associated with </a:t>
            </a:r>
            <a:r>
              <a:rPr lang="en-US" dirty="0" smtClean="0">
                <a:latin typeface="Calibri" panose="020F0502020204030204" pitchFamily="34" charset="0"/>
                <a:cs typeface="Calibri" panose="020F0502020204030204" pitchFamily="34" charset="0"/>
              </a:rPr>
              <a:t>any number (zero or more) of entities </a:t>
            </a:r>
            <a:r>
              <a:rPr lang="en-US" dirty="0">
                <a:latin typeface="Calibri" panose="020F0502020204030204" pitchFamily="34" charset="0"/>
                <a:cs typeface="Calibri" panose="020F0502020204030204" pitchFamily="34" charset="0"/>
              </a:rPr>
              <a:t>in A. it is denoted as 'N:1'. </a:t>
            </a:r>
            <a:endParaRPr lang="en-US" dirty="0" smtClean="0">
              <a:latin typeface="Calibri" panose="020F0502020204030204" pitchFamily="34" charset="0"/>
              <a:cs typeface="Calibri" panose="020F0502020204030204" pitchFamily="34" charset="0"/>
            </a:endParaRPr>
          </a:p>
          <a:p>
            <a:pPr lvl="0">
              <a:lnSpc>
                <a:spcPct val="200000"/>
              </a:lnSpc>
            </a:pPr>
            <a:endParaRPr lang="en-US"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273644" y="403291"/>
            <a:ext cx="7085212" cy="708817"/>
          </a:xfrm>
        </p:spPr>
        <p:txBody>
          <a:bodyPr/>
          <a:lstStyle/>
          <a:p>
            <a:pPr algn="ctr"/>
            <a:r>
              <a:rPr lang="en-US" b="1" dirty="0">
                <a:latin typeface="Calibri" panose="020F0502020204030204" pitchFamily="34" charset="0"/>
                <a:cs typeface="Calibri" panose="020F0502020204030204" pitchFamily="34" charset="0"/>
              </a:rPr>
              <a:t>Cardinality </a:t>
            </a:r>
            <a:r>
              <a:rPr lang="en-US" b="1" dirty="0" smtClean="0">
                <a:latin typeface="Calibri" panose="020F0502020204030204" pitchFamily="34" charset="0"/>
                <a:cs typeface="Calibri" panose="020F0502020204030204" pitchFamily="34" charset="0"/>
              </a:rPr>
              <a:t>of relationships</a:t>
            </a:r>
            <a:endParaRPr lang="en-US" b="1" dirty="0">
              <a:latin typeface="Calibri" panose="020F0502020204030204" pitchFamily="34" charset="0"/>
              <a:cs typeface="Calibri" panose="020F0502020204030204" pitchFamily="34" charset="0"/>
            </a:endParaRPr>
          </a:p>
        </p:txBody>
      </p:sp>
      <p:pic>
        <p:nvPicPr>
          <p:cNvPr id="6" name="Picture 5" descr="Many-to-one"/>
          <p:cNvPicPr/>
          <p:nvPr/>
        </p:nvPicPr>
        <p:blipFill>
          <a:blip r:embed="rId2">
            <a:extLst>
              <a:ext uri="{28A0092B-C50C-407E-A947-70E740481C1C}">
                <a14:useLocalDpi xmlns:a14="http://schemas.microsoft.com/office/drawing/2010/main" val="0"/>
              </a:ext>
            </a:extLst>
          </a:blip>
          <a:srcRect/>
          <a:stretch>
            <a:fillRect/>
          </a:stretch>
        </p:blipFill>
        <p:spPr bwMode="auto">
          <a:xfrm>
            <a:off x="4943563" y="3127108"/>
            <a:ext cx="5270500" cy="1468755"/>
          </a:xfrm>
          <a:prstGeom prst="rect">
            <a:avLst/>
          </a:prstGeom>
          <a:noFill/>
          <a:ln>
            <a:noFill/>
          </a:ln>
        </p:spPr>
      </p:pic>
      <p:pic>
        <p:nvPicPr>
          <p:cNvPr id="2" name="Picture 1"/>
          <p:cNvPicPr>
            <a:picLocks noChangeAspect="1"/>
          </p:cNvPicPr>
          <p:nvPr/>
        </p:nvPicPr>
        <p:blipFill>
          <a:blip r:embed="rId3"/>
          <a:stretch>
            <a:fillRect/>
          </a:stretch>
        </p:blipFill>
        <p:spPr>
          <a:xfrm>
            <a:off x="2227107" y="2829696"/>
            <a:ext cx="2122472" cy="2342485"/>
          </a:xfrm>
          <a:prstGeom prst="rect">
            <a:avLst/>
          </a:prstGeom>
        </p:spPr>
      </p:pic>
    </p:spTree>
    <p:extLst>
      <p:ext uri="{BB962C8B-B14F-4D97-AF65-F5344CB8AC3E}">
        <p14:creationId xmlns:p14="http://schemas.microsoft.com/office/powerpoint/2010/main" val="13896797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23319" y="1272747"/>
            <a:ext cx="9156357" cy="4893276"/>
          </a:xfrm>
        </p:spPr>
        <p:txBody>
          <a:bodyPr>
            <a:normAutofit/>
          </a:bodyPr>
          <a:lstStyle/>
          <a:p>
            <a:pPr lvl="0">
              <a:lnSpc>
                <a:spcPct val="200000"/>
              </a:lnSpc>
            </a:pPr>
            <a:r>
              <a:rPr lang="en-US" b="1" dirty="0">
                <a:latin typeface="Calibri" panose="020F0502020204030204" pitchFamily="34" charset="0"/>
                <a:cs typeface="Calibri" panose="020F0502020204030204" pitchFamily="34" charset="0"/>
              </a:rPr>
              <a:t>Many-to-many</a:t>
            </a:r>
            <a:r>
              <a:rPr lang="en-US" dirty="0">
                <a:latin typeface="Calibri" panose="020F0502020204030204" pitchFamily="34" charset="0"/>
                <a:cs typeface="Calibri" panose="020F0502020204030204" pitchFamily="34" charset="0"/>
              </a:rPr>
              <a:t>  An entity in A is associated with any number (zero or more) of </a:t>
            </a:r>
            <a:r>
              <a:rPr lang="en-US" dirty="0" smtClean="0">
                <a:latin typeface="Calibri" panose="020F0502020204030204" pitchFamily="34" charset="0"/>
                <a:cs typeface="Calibri" panose="020F0502020204030204" pitchFamily="34" charset="0"/>
              </a:rPr>
              <a:t>entities in B</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and </a:t>
            </a:r>
            <a:r>
              <a:rPr lang="en-US" dirty="0">
                <a:latin typeface="Calibri" panose="020F0502020204030204" pitchFamily="34" charset="0"/>
                <a:cs typeface="Calibri" panose="020F0502020204030204" pitchFamily="34" charset="0"/>
              </a:rPr>
              <a:t>an entity in B can be associated with any number (zero or more) of entities in A. it is denoted as </a:t>
            </a:r>
            <a:r>
              <a:rPr lang="en-US" dirty="0" smtClean="0">
                <a:latin typeface="Calibri" panose="020F0502020204030204" pitchFamily="34" charset="0"/>
                <a:cs typeface="Calibri" panose="020F0502020204030204" pitchFamily="34" charset="0"/>
              </a:rPr>
              <a:t>‘M:N'. </a:t>
            </a:r>
          </a:p>
          <a:p>
            <a:pPr lvl="0">
              <a:lnSpc>
                <a:spcPct val="200000"/>
              </a:lnSpc>
            </a:pPr>
            <a:endParaRPr lang="en-US" dirty="0">
              <a:latin typeface="Calibri" panose="020F0502020204030204" pitchFamily="34" charset="0"/>
              <a:cs typeface="Calibri" panose="020F0502020204030204" pitchFamily="34" charset="0"/>
            </a:endParaRPr>
          </a:p>
          <a:p>
            <a:pPr lvl="0">
              <a:lnSpc>
                <a:spcPct val="200000"/>
              </a:lnSpc>
            </a:pPr>
            <a:endParaRPr lang="en-US" dirty="0" smtClean="0">
              <a:latin typeface="Calibri" panose="020F0502020204030204" pitchFamily="34" charset="0"/>
              <a:cs typeface="Calibri" panose="020F0502020204030204" pitchFamily="34" charset="0"/>
            </a:endParaRPr>
          </a:p>
          <a:p>
            <a:pPr lvl="0">
              <a:lnSpc>
                <a:spcPct val="200000"/>
              </a:lnSpc>
            </a:pPr>
            <a:endParaRPr lang="en-US"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646111" y="452718"/>
            <a:ext cx="9404723" cy="708817"/>
          </a:xfrm>
        </p:spPr>
        <p:txBody>
          <a:bodyPr/>
          <a:lstStyle/>
          <a:p>
            <a:pPr algn="ctr"/>
            <a:r>
              <a:rPr lang="en-US" dirty="0" smtClean="0">
                <a:latin typeface="Calibri" panose="020F0502020204030204" pitchFamily="34" charset="0"/>
                <a:cs typeface="Calibri" panose="020F0502020204030204" pitchFamily="34" charset="0"/>
              </a:rPr>
              <a:t>Cardinality of relationships</a:t>
            </a:r>
            <a:endParaRPr lang="en-US" dirty="0">
              <a:latin typeface="Calibri" panose="020F0502020204030204" pitchFamily="34" charset="0"/>
              <a:cs typeface="Calibri" panose="020F0502020204030204" pitchFamily="34" charset="0"/>
            </a:endParaRPr>
          </a:p>
        </p:txBody>
      </p:sp>
      <p:pic>
        <p:nvPicPr>
          <p:cNvPr id="2" name="Picture 1"/>
          <p:cNvPicPr>
            <a:picLocks noChangeAspect="1"/>
          </p:cNvPicPr>
          <p:nvPr/>
        </p:nvPicPr>
        <p:blipFill>
          <a:blip r:embed="rId2"/>
          <a:stretch>
            <a:fillRect/>
          </a:stretch>
        </p:blipFill>
        <p:spPr>
          <a:xfrm>
            <a:off x="4028977" y="3262184"/>
            <a:ext cx="2087618" cy="1984146"/>
          </a:xfrm>
          <a:prstGeom prst="rect">
            <a:avLst/>
          </a:prstGeom>
        </p:spPr>
      </p:pic>
    </p:spTree>
    <p:extLst>
      <p:ext uri="{BB962C8B-B14F-4D97-AF65-F5344CB8AC3E}">
        <p14:creationId xmlns:p14="http://schemas.microsoft.com/office/powerpoint/2010/main" val="2503319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458098"/>
            <a:ext cx="10367320" cy="4324865"/>
          </a:xfrm>
        </p:spPr>
        <p:txBody>
          <a:bodyPr>
            <a:normAutofit/>
          </a:bodyPr>
          <a:lstStyle/>
          <a:p>
            <a:pPr lvl="0">
              <a:lnSpc>
                <a:spcPct val="20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relationship type </a:t>
            </a:r>
            <a:r>
              <a:rPr lang="en-US" dirty="0" smtClean="0">
                <a:latin typeface="Calibri" panose="020F0502020204030204" pitchFamily="34" charset="0"/>
                <a:cs typeface="Calibri" panose="020F0502020204030204" pitchFamily="34" charset="0"/>
              </a:rPr>
              <a:t>WORKS_ON </a:t>
            </a:r>
            <a:r>
              <a:rPr lang="en-US" dirty="0">
                <a:latin typeface="Calibri" panose="020F0502020204030204" pitchFamily="34" charset="0"/>
                <a:cs typeface="Calibri" panose="020F0502020204030204" pitchFamily="34" charset="0"/>
              </a:rPr>
              <a:t>is of cardinality ratio M:N, because </a:t>
            </a:r>
            <a:r>
              <a:rPr lang="en-US" dirty="0" smtClean="0">
                <a:latin typeface="Calibri" panose="020F0502020204030204" pitchFamily="34" charset="0"/>
                <a:cs typeface="Calibri" panose="020F0502020204030204" pitchFamily="34" charset="0"/>
              </a:rPr>
              <a:t>the rule </a:t>
            </a:r>
            <a:r>
              <a:rPr lang="en-US" dirty="0">
                <a:latin typeface="Calibri" panose="020F0502020204030204" pitchFamily="34" charset="0"/>
                <a:cs typeface="Calibri" panose="020F0502020204030204" pitchFamily="34" charset="0"/>
              </a:rPr>
              <a:t>is that an employee </a:t>
            </a:r>
            <a:r>
              <a:rPr lang="en-US" dirty="0" smtClean="0">
                <a:latin typeface="Calibri" panose="020F0502020204030204" pitchFamily="34" charset="0"/>
                <a:cs typeface="Calibri" panose="020F0502020204030204" pitchFamily="34" charset="0"/>
              </a:rPr>
              <a:t>can work </a:t>
            </a:r>
            <a:r>
              <a:rPr lang="en-US" dirty="0">
                <a:latin typeface="Calibri" panose="020F0502020204030204" pitchFamily="34" charset="0"/>
                <a:cs typeface="Calibri" panose="020F0502020204030204" pitchFamily="34" charset="0"/>
              </a:rPr>
              <a:t>on several projects and a project can </a:t>
            </a:r>
            <a:r>
              <a:rPr lang="en-US" dirty="0" smtClean="0">
                <a:latin typeface="Calibri" panose="020F0502020204030204" pitchFamily="34" charset="0"/>
                <a:cs typeface="Calibri" panose="020F0502020204030204" pitchFamily="34" charset="0"/>
              </a:rPr>
              <a:t>be done by several </a:t>
            </a:r>
            <a:r>
              <a:rPr lang="en-US" dirty="0">
                <a:latin typeface="Calibri" panose="020F0502020204030204" pitchFamily="34" charset="0"/>
                <a:cs typeface="Calibri" panose="020F0502020204030204" pitchFamily="34" charset="0"/>
              </a:rPr>
              <a:t>employees. </a:t>
            </a:r>
          </a:p>
        </p:txBody>
      </p:sp>
      <p:sp>
        <p:nvSpPr>
          <p:cNvPr id="4" name="Title 3"/>
          <p:cNvSpPr>
            <a:spLocks noGrp="1"/>
          </p:cNvSpPr>
          <p:nvPr>
            <p:ph type="title"/>
          </p:nvPr>
        </p:nvSpPr>
        <p:spPr>
          <a:xfrm>
            <a:off x="646111" y="452718"/>
            <a:ext cx="9404723" cy="708817"/>
          </a:xfrm>
        </p:spPr>
        <p:txBody>
          <a:bodyPr/>
          <a:lstStyle/>
          <a:p>
            <a:pPr algn="ctr"/>
            <a:r>
              <a:rPr lang="en-US" b="1" dirty="0">
                <a:latin typeface="Calibri" panose="020F0502020204030204" pitchFamily="34" charset="0"/>
                <a:cs typeface="Calibri" panose="020F0502020204030204" pitchFamily="34" charset="0"/>
              </a:rPr>
              <a:t>Cardinality of </a:t>
            </a:r>
            <a:r>
              <a:rPr lang="en-US" b="1" dirty="0" smtClean="0">
                <a:latin typeface="Calibri" panose="020F0502020204030204" pitchFamily="34" charset="0"/>
                <a:cs typeface="Calibri" panose="020F0502020204030204" pitchFamily="34" charset="0"/>
              </a:rPr>
              <a:t>relationships</a:t>
            </a:r>
            <a:endParaRPr lang="en-US" b="1" dirty="0">
              <a:latin typeface="Calibri" panose="020F0502020204030204" pitchFamily="34" charset="0"/>
              <a:cs typeface="Calibri" panose="020F0502020204030204" pitchFamily="34" charset="0"/>
            </a:endParaRPr>
          </a:p>
        </p:txBody>
      </p:sp>
      <p:grpSp>
        <p:nvGrpSpPr>
          <p:cNvPr id="7" name="Group 6"/>
          <p:cNvGrpSpPr/>
          <p:nvPr/>
        </p:nvGrpSpPr>
        <p:grpSpPr>
          <a:xfrm>
            <a:off x="2261288" y="3138616"/>
            <a:ext cx="5857102" cy="1779374"/>
            <a:chOff x="6240162" y="4856205"/>
            <a:chExt cx="5857102" cy="1779374"/>
          </a:xfrm>
        </p:grpSpPr>
        <p:grpSp>
          <p:nvGrpSpPr>
            <p:cNvPr id="8" name="Group 7"/>
            <p:cNvGrpSpPr/>
            <p:nvPr/>
          </p:nvGrpSpPr>
          <p:grpSpPr>
            <a:xfrm>
              <a:off x="6240162" y="4856205"/>
              <a:ext cx="5857102" cy="1779374"/>
              <a:chOff x="6240162" y="4856205"/>
              <a:chExt cx="5857102" cy="1779374"/>
            </a:xfrm>
          </p:grpSpPr>
          <p:grpSp>
            <p:nvGrpSpPr>
              <p:cNvPr id="10" name="Group 9"/>
              <p:cNvGrpSpPr/>
              <p:nvPr/>
            </p:nvGrpSpPr>
            <p:grpSpPr>
              <a:xfrm>
                <a:off x="6240162" y="4856205"/>
                <a:ext cx="5857102" cy="1779374"/>
                <a:chOff x="5869461" y="5202196"/>
                <a:chExt cx="5774723" cy="1544594"/>
              </a:xfrm>
            </p:grpSpPr>
            <p:sp>
              <p:nvSpPr>
                <p:cNvPr id="12" name="Rectangle 11"/>
                <p:cNvSpPr/>
                <p:nvPr/>
              </p:nvSpPr>
              <p:spPr>
                <a:xfrm>
                  <a:off x="5869461" y="5745892"/>
                  <a:ext cx="1396314"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Employee</a:t>
                  </a:r>
                  <a:endParaRPr lang="en-US" dirty="0"/>
                </a:p>
              </p:txBody>
            </p:sp>
            <p:sp>
              <p:nvSpPr>
                <p:cNvPr id="13" name="Diamond 12"/>
                <p:cNvSpPr/>
                <p:nvPr/>
              </p:nvSpPr>
              <p:spPr>
                <a:xfrm>
                  <a:off x="7635990" y="5202196"/>
                  <a:ext cx="2278213" cy="15445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smtClean="0"/>
                    <a:t>Works_on</a:t>
                  </a:r>
                  <a:endParaRPr lang="en-US" sz="1400" dirty="0"/>
                </a:p>
              </p:txBody>
            </p:sp>
            <p:sp>
              <p:nvSpPr>
                <p:cNvPr id="14" name="Rectangle 13"/>
                <p:cNvSpPr/>
                <p:nvPr/>
              </p:nvSpPr>
              <p:spPr>
                <a:xfrm>
                  <a:off x="10383795" y="5737654"/>
                  <a:ext cx="1260389"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Projects</a:t>
                  </a:r>
                  <a:endParaRPr lang="en-US" dirty="0"/>
                </a:p>
              </p:txBody>
            </p:sp>
            <p:cxnSp>
              <p:nvCxnSpPr>
                <p:cNvPr id="15" name="Straight Connector 14"/>
                <p:cNvCxnSpPr>
                  <a:stCxn id="13" idx="3"/>
                  <a:endCxn id="14" idx="1"/>
                </p:cNvCxnSpPr>
                <p:nvPr/>
              </p:nvCxnSpPr>
              <p:spPr>
                <a:xfrm flipV="1">
                  <a:off x="9914203" y="5966254"/>
                  <a:ext cx="469592" cy="82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2" idx="3"/>
                  <a:endCxn id="13" idx="1"/>
                </p:cNvCxnSpPr>
                <p:nvPr/>
              </p:nvCxnSpPr>
              <p:spPr>
                <a:xfrm>
                  <a:off x="7265774" y="5974492"/>
                  <a:ext cx="370216" cy="1"/>
                </a:xfrm>
                <a:prstGeom prst="line">
                  <a:avLst/>
                </a:prstGeom>
              </p:spPr>
              <p:style>
                <a:lnRef idx="1">
                  <a:schemeClr val="accent1"/>
                </a:lnRef>
                <a:fillRef idx="0">
                  <a:schemeClr val="accent1"/>
                </a:fillRef>
                <a:effectRef idx="0">
                  <a:schemeClr val="accent1"/>
                </a:effectRef>
                <a:fontRef idx="minor">
                  <a:schemeClr val="tx1"/>
                </a:fontRef>
              </p:style>
            </p:cxnSp>
          </p:grpSp>
          <p:sp>
            <p:nvSpPr>
              <p:cNvPr id="11" name="Rectangle 10"/>
              <p:cNvSpPr/>
              <p:nvPr/>
            </p:nvSpPr>
            <p:spPr>
              <a:xfrm>
                <a:off x="7760043" y="5375189"/>
                <a:ext cx="481914" cy="345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p>
            </p:txBody>
          </p:sp>
        </p:grpSp>
        <p:sp>
          <p:nvSpPr>
            <p:cNvPr id="9" name="Rectangle 8"/>
            <p:cNvSpPr/>
            <p:nvPr/>
          </p:nvSpPr>
          <p:spPr>
            <a:xfrm>
              <a:off x="10243751" y="5399903"/>
              <a:ext cx="486033" cy="3130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a:t>
              </a:r>
            </a:p>
          </p:txBody>
        </p:sp>
      </p:grpSp>
    </p:spTree>
    <p:extLst>
      <p:ext uri="{BB962C8B-B14F-4D97-AF65-F5344CB8AC3E}">
        <p14:creationId xmlns:p14="http://schemas.microsoft.com/office/powerpoint/2010/main" val="6832205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6249" y="1433384"/>
            <a:ext cx="9848336" cy="4913870"/>
          </a:xfrm>
        </p:spPr>
        <p:txBody>
          <a:bodyPr>
            <a:normAutofit/>
          </a:bodyPr>
          <a:lstStyle/>
          <a:p>
            <a:pPr fontAlgn="base">
              <a:lnSpc>
                <a:spcPct val="150000"/>
              </a:lnSpc>
            </a:pPr>
            <a:r>
              <a:rPr lang="en-US" dirty="0">
                <a:latin typeface="Calibri" panose="020F0502020204030204" pitchFamily="34" charset="0"/>
                <a:cs typeface="Calibri" panose="020F0502020204030204" pitchFamily="34" charset="0"/>
              </a:rPr>
              <a:t>An </a:t>
            </a:r>
            <a:r>
              <a:rPr lang="en-US" dirty="0" smtClean="0">
                <a:latin typeface="Calibri" panose="020F0502020204030204" pitchFamily="34" charset="0"/>
                <a:cs typeface="Calibri" panose="020F0502020204030204" pitchFamily="34" charset="0"/>
              </a:rPr>
              <a:t>entity </a:t>
            </a:r>
            <a:r>
              <a:rPr lang="en-US" dirty="0">
                <a:latin typeface="Calibri" panose="020F0502020204030204" pitchFamily="34" charset="0"/>
                <a:cs typeface="Calibri" panose="020F0502020204030204" pitchFamily="34" charset="0"/>
              </a:rPr>
              <a:t>should have a key attribute which uniquely identifies each entity in the entity set, but there exists some </a:t>
            </a:r>
            <a:r>
              <a:rPr lang="en-US" dirty="0" smtClean="0">
                <a:latin typeface="Calibri" panose="020F0502020204030204" pitchFamily="34" charset="0"/>
                <a:cs typeface="Calibri" panose="020F0502020204030204" pitchFamily="34" charset="0"/>
              </a:rPr>
              <a:t>entity </a:t>
            </a:r>
            <a:r>
              <a:rPr lang="en-US" dirty="0">
                <a:latin typeface="Calibri" panose="020F0502020204030204" pitchFamily="34" charset="0"/>
                <a:cs typeface="Calibri" panose="020F0502020204030204" pitchFamily="34" charset="0"/>
              </a:rPr>
              <a:t>for which key attribute can’t be defined. </a:t>
            </a:r>
          </a:p>
          <a:p>
            <a:pPr fontAlgn="base">
              <a:lnSpc>
                <a:spcPct val="150000"/>
              </a:lnSpc>
            </a:pPr>
            <a:r>
              <a:rPr lang="en-US" dirty="0">
                <a:latin typeface="Calibri" panose="020F0502020204030204" pitchFamily="34" charset="0"/>
                <a:cs typeface="Calibri" panose="020F0502020204030204" pitchFamily="34" charset="0"/>
              </a:rPr>
              <a:t>The entity sets which do not have sufficient attributes to form a </a:t>
            </a:r>
            <a:r>
              <a:rPr lang="en-US" u="sng" dirty="0">
                <a:latin typeface="Calibri" panose="020F0502020204030204" pitchFamily="34" charset="0"/>
                <a:cs typeface="Calibri" panose="020F0502020204030204" pitchFamily="34" charset="0"/>
              </a:rPr>
              <a:t>primary </a:t>
            </a:r>
            <a:r>
              <a:rPr lang="en-US" u="sng" dirty="0" smtClean="0">
                <a:latin typeface="Calibri" panose="020F0502020204030204" pitchFamily="34" charset="0"/>
                <a:cs typeface="Calibri" panose="020F0502020204030204" pitchFamily="34" charset="0"/>
              </a:rPr>
              <a:t>key</a:t>
            </a:r>
            <a:r>
              <a:rPr lang="en-US" dirty="0">
                <a:latin typeface="Calibri" panose="020F0502020204030204" pitchFamily="34" charset="0"/>
                <a:cs typeface="Calibri" panose="020F0502020204030204" pitchFamily="34" charset="0"/>
              </a:rPr>
              <a:t> </a:t>
            </a:r>
            <a:r>
              <a:rPr lang="en-US" dirty="0" smtClean="0">
                <a:latin typeface="Calibri" panose="020F0502020204030204" pitchFamily="34" charset="0"/>
                <a:cs typeface="Calibri" panose="020F0502020204030204" pitchFamily="34" charset="0"/>
              </a:rPr>
              <a:t>are </a:t>
            </a:r>
            <a:r>
              <a:rPr lang="en-US" dirty="0">
                <a:latin typeface="Calibri" panose="020F0502020204030204" pitchFamily="34" charset="0"/>
                <a:cs typeface="Calibri" panose="020F0502020204030204" pitchFamily="34" charset="0"/>
              </a:rPr>
              <a:t>known as </a:t>
            </a:r>
            <a:r>
              <a:rPr lang="en-US" b="1" dirty="0">
                <a:latin typeface="Calibri" panose="020F0502020204030204" pitchFamily="34" charset="0"/>
                <a:cs typeface="Calibri" panose="020F0502020204030204" pitchFamily="34" charset="0"/>
              </a:rPr>
              <a:t>weak entity sets</a:t>
            </a:r>
            <a:r>
              <a:rPr lang="en-US" dirty="0">
                <a:latin typeface="Calibri" panose="020F0502020204030204" pitchFamily="34" charset="0"/>
                <a:cs typeface="Calibri" panose="020F0502020204030204" pitchFamily="34" charset="0"/>
              </a:rPr>
              <a:t> and the entity sets which have a primary key are known as </a:t>
            </a:r>
            <a:r>
              <a:rPr lang="en-US" b="1" dirty="0">
                <a:latin typeface="Calibri" panose="020F0502020204030204" pitchFamily="34" charset="0"/>
                <a:cs typeface="Calibri" panose="020F0502020204030204" pitchFamily="34" charset="0"/>
              </a:rPr>
              <a:t>strong entity sets</a:t>
            </a:r>
            <a:r>
              <a:rPr lang="en-US" dirty="0" smtClean="0">
                <a:latin typeface="Calibri" panose="020F0502020204030204" pitchFamily="34" charset="0"/>
                <a:cs typeface="Calibri" panose="020F0502020204030204" pitchFamily="34" charset="0"/>
              </a:rPr>
              <a:t>.</a:t>
            </a:r>
          </a:p>
          <a:p>
            <a:pPr fontAlgn="base">
              <a:lnSpc>
                <a:spcPct val="150000"/>
              </a:lnSpc>
            </a:pPr>
            <a:r>
              <a:rPr lang="en-US" dirty="0">
                <a:latin typeface="Calibri" panose="020F0502020204030204" pitchFamily="34" charset="0"/>
                <a:cs typeface="Calibri" panose="020F0502020204030204" pitchFamily="34" charset="0"/>
              </a:rPr>
              <a:t>As the weak entities do not have any primary key, they cannot be identified on their own, so they depend on some other entity (known as owner entity). </a:t>
            </a:r>
            <a:endParaRPr lang="en-US" dirty="0" smtClean="0">
              <a:latin typeface="Calibri" panose="020F0502020204030204" pitchFamily="34" charset="0"/>
              <a:cs typeface="Calibri" panose="020F0502020204030204" pitchFamily="34" charset="0"/>
            </a:endParaRPr>
          </a:p>
          <a:p>
            <a:pPr fontAlgn="base">
              <a:lnSpc>
                <a:spcPct val="150000"/>
              </a:lnSpc>
            </a:pPr>
            <a:r>
              <a:rPr lang="en-US" dirty="0" smtClean="0">
                <a:latin typeface="Calibri" panose="020F0502020204030204" pitchFamily="34" charset="0"/>
                <a:cs typeface="Calibri" panose="020F0502020204030204" pitchFamily="34" charset="0"/>
              </a:rPr>
              <a:t>The </a:t>
            </a:r>
            <a:r>
              <a:rPr lang="en-US" dirty="0">
                <a:latin typeface="Calibri" panose="020F0502020204030204" pitchFamily="34" charset="0"/>
                <a:cs typeface="Calibri" panose="020F0502020204030204" pitchFamily="34" charset="0"/>
              </a:rPr>
              <a:t>weak entities have total </a:t>
            </a:r>
            <a:r>
              <a:rPr lang="en-US" u="sng" dirty="0">
                <a:latin typeface="Calibri" panose="020F0502020204030204" pitchFamily="34" charset="0"/>
                <a:cs typeface="Calibri" panose="020F0502020204030204" pitchFamily="34" charset="0"/>
              </a:rPr>
              <a:t>participation constraint</a:t>
            </a:r>
            <a:r>
              <a:rPr lang="en-US" dirty="0">
                <a:latin typeface="Calibri" panose="020F0502020204030204" pitchFamily="34" charset="0"/>
                <a:cs typeface="Calibri" panose="020F0502020204030204" pitchFamily="34" charset="0"/>
              </a:rPr>
              <a:t> (existence dependency) in its identifying relationship with owner identity. </a:t>
            </a:r>
            <a:endParaRPr lang="en-US" dirty="0" smtClean="0">
              <a:latin typeface="Calibri" panose="020F0502020204030204" pitchFamily="34" charset="0"/>
              <a:cs typeface="Calibri" panose="020F0502020204030204" pitchFamily="34" charset="0"/>
            </a:endParaRPr>
          </a:p>
          <a:p>
            <a:pPr fontAlgn="base">
              <a:lnSpc>
                <a:spcPct val="150000"/>
              </a:lnSpc>
            </a:pPr>
            <a:r>
              <a:rPr lang="en-US" b="1" dirty="0" smtClean="0">
                <a:latin typeface="Calibri" panose="020F0502020204030204" pitchFamily="34" charset="0"/>
                <a:cs typeface="Calibri" panose="020F0502020204030204" pitchFamily="34" charset="0"/>
              </a:rPr>
              <a:t>NB </a:t>
            </a:r>
            <a:r>
              <a:rPr lang="en-US" b="1"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Weak entity always has total participation but Strong entity may not have total participation.   </a:t>
            </a:r>
          </a:p>
        </p:txBody>
      </p:sp>
      <p:sp>
        <p:nvSpPr>
          <p:cNvPr id="4" name="Title 3"/>
          <p:cNvSpPr>
            <a:spLocks noGrp="1"/>
          </p:cNvSpPr>
          <p:nvPr>
            <p:ph type="title"/>
          </p:nvPr>
        </p:nvSpPr>
        <p:spPr>
          <a:xfrm>
            <a:off x="2582559" y="477432"/>
            <a:ext cx="6010175" cy="708817"/>
          </a:xfrm>
        </p:spPr>
        <p:txBody>
          <a:bodyPr/>
          <a:lstStyle/>
          <a:p>
            <a:pPr algn="ctr"/>
            <a:r>
              <a:rPr lang="en-US" b="1" dirty="0" smtClean="0">
                <a:latin typeface="Calibri" panose="020F0502020204030204" pitchFamily="34" charset="0"/>
                <a:cs typeface="Calibri" panose="020F0502020204030204" pitchFamily="34" charset="0"/>
              </a:rPr>
              <a:t>Strong and Weak entities</a:t>
            </a:r>
            <a:endParaRPr lang="en-US"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59121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2746" y="1383956"/>
            <a:ext cx="9798907" cy="4596714"/>
          </a:xfrm>
        </p:spPr>
        <p:txBody>
          <a:bodyPr>
            <a:normAutofit/>
          </a:bodyPr>
          <a:lstStyle/>
          <a:p>
            <a:pPr>
              <a:lnSpc>
                <a:spcPct val="200000"/>
              </a:lnSpc>
            </a:pPr>
            <a:r>
              <a:rPr lang="en-US" dirty="0" smtClean="0">
                <a:latin typeface="Calibri" panose="020F0502020204030204" pitchFamily="34" charset="0"/>
                <a:cs typeface="Calibri" panose="020F0502020204030204" pitchFamily="34" charset="0"/>
              </a:rPr>
              <a:t>A relationship with </a:t>
            </a:r>
            <a:r>
              <a:rPr lang="en-US" dirty="0">
                <a:latin typeface="Calibri" panose="020F0502020204030204" pitchFamily="34" charset="0"/>
                <a:cs typeface="Calibri" panose="020F0502020204030204" pitchFamily="34" charset="0"/>
              </a:rPr>
              <a:t>weak entity is shown using double diamond. </a:t>
            </a:r>
            <a:r>
              <a:rPr lang="en-US" dirty="0" smtClean="0">
                <a:latin typeface="Calibri" panose="020F0502020204030204" pitchFamily="34" charset="0"/>
                <a:cs typeface="Calibri" panose="020F0502020204030204" pitchFamily="34" charset="0"/>
              </a:rPr>
              <a:t>The weak entity is represented using double rectangles.</a:t>
            </a:r>
          </a:p>
          <a:p>
            <a:pPr marL="0" indent="0">
              <a:lnSpc>
                <a:spcPct val="200000"/>
              </a:lnSpc>
              <a:buNone/>
            </a:pPr>
            <a:endParaRPr lang="en-US"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508421" y="551573"/>
            <a:ext cx="5861893" cy="708817"/>
          </a:xfrm>
        </p:spPr>
        <p:txBody>
          <a:bodyPr>
            <a:normAutofit/>
          </a:bodyPr>
          <a:lstStyle/>
          <a:p>
            <a:pPr algn="ctr"/>
            <a:r>
              <a:rPr lang="en-US" sz="3000" b="1" dirty="0">
                <a:latin typeface="Calibri" panose="020F0502020204030204" pitchFamily="34" charset="0"/>
                <a:cs typeface="Calibri" panose="020F0502020204030204" pitchFamily="34" charset="0"/>
              </a:rPr>
              <a:t>Strong and Weak entities</a:t>
            </a:r>
          </a:p>
        </p:txBody>
      </p:sp>
      <p:pic>
        <p:nvPicPr>
          <p:cNvPr id="6" name="Picture 5"/>
          <p:cNvPicPr>
            <a:picLocks noChangeAspect="1"/>
          </p:cNvPicPr>
          <p:nvPr/>
        </p:nvPicPr>
        <p:blipFill>
          <a:blip r:embed="rId2"/>
          <a:stretch>
            <a:fillRect/>
          </a:stretch>
        </p:blipFill>
        <p:spPr>
          <a:xfrm>
            <a:off x="3171679" y="3554299"/>
            <a:ext cx="3834601" cy="993809"/>
          </a:xfrm>
          <a:prstGeom prst="rect">
            <a:avLst/>
          </a:prstGeom>
        </p:spPr>
      </p:pic>
    </p:spTree>
    <p:extLst>
      <p:ext uri="{BB962C8B-B14F-4D97-AF65-F5344CB8AC3E}">
        <p14:creationId xmlns:p14="http://schemas.microsoft.com/office/powerpoint/2010/main" val="22353877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72746" y="1383956"/>
            <a:ext cx="9798907" cy="4596714"/>
          </a:xfrm>
        </p:spPr>
        <p:txBody>
          <a:bodyPr>
            <a:normAutofit/>
          </a:bodyPr>
          <a:lstStyle/>
          <a:p>
            <a:pPr marL="0" indent="0">
              <a:lnSpc>
                <a:spcPct val="200000"/>
              </a:lnSpc>
              <a:buNone/>
            </a:pPr>
            <a:r>
              <a:rPr lang="en-US" b="1" dirty="0" smtClean="0">
                <a:latin typeface="Calibri" panose="020F0502020204030204" pitchFamily="34" charset="0"/>
                <a:cs typeface="Calibri" panose="020F0502020204030204" pitchFamily="34" charset="0"/>
              </a:rPr>
              <a:t>Example-1</a:t>
            </a:r>
            <a:r>
              <a:rPr lang="en-US" b="1" dirty="0" smtClean="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 company may store the information of dependents (Parents, Children, Spouse) of an Employee. But the dependents don’t have existence without the employee. So Dependent will be weak entity type and Employee will be Identifying Entity type for Dependent. </a:t>
            </a:r>
          </a:p>
          <a:p>
            <a:pPr marL="0" indent="0">
              <a:lnSpc>
                <a:spcPct val="200000"/>
              </a:lnSpc>
              <a:buNone/>
            </a:pPr>
            <a:endParaRPr lang="en-US" dirty="0" smtClean="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2508421" y="551573"/>
            <a:ext cx="5861893" cy="708817"/>
          </a:xfrm>
        </p:spPr>
        <p:txBody>
          <a:bodyPr>
            <a:normAutofit/>
          </a:bodyPr>
          <a:lstStyle/>
          <a:p>
            <a:pPr algn="ctr"/>
            <a:r>
              <a:rPr lang="en-US" sz="3000" b="1" dirty="0">
                <a:latin typeface="Calibri" panose="020F0502020204030204" pitchFamily="34" charset="0"/>
                <a:cs typeface="Calibri" panose="020F0502020204030204" pitchFamily="34" charset="0"/>
              </a:rPr>
              <a:t>Strong and Weak entities</a:t>
            </a:r>
          </a:p>
        </p:txBody>
      </p:sp>
      <p:pic>
        <p:nvPicPr>
          <p:cNvPr id="5" name="Picture 2" descr="https://media.geeksforgeeks.org/wp-content/uploads/Database-Management-System-ER-Model-2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6304" y="4028302"/>
            <a:ext cx="5143167" cy="1311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6414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6821" y="1643448"/>
            <a:ext cx="10268465" cy="3867666"/>
          </a:xfrm>
        </p:spPr>
        <p:txBody>
          <a:bodyPr>
            <a:normAutofit/>
          </a:bodyPr>
          <a:lstStyle/>
          <a:p>
            <a:pPr marL="0" indent="0" fontAlgn="base">
              <a:lnSpc>
                <a:spcPct val="150000"/>
              </a:lnSpc>
              <a:buNone/>
            </a:pPr>
            <a:r>
              <a:rPr lang="en-US" b="1" dirty="0" smtClean="0">
                <a:latin typeface="Calibri" panose="020F0502020204030204" pitchFamily="34" charset="0"/>
                <a:cs typeface="Calibri" panose="020F0502020204030204" pitchFamily="34" charset="0"/>
              </a:rPr>
              <a:t>Example 2</a:t>
            </a:r>
            <a:endParaRPr lang="en-US" b="1" dirty="0">
              <a:latin typeface="Calibri" panose="020F0502020204030204" pitchFamily="34" charset="0"/>
              <a:cs typeface="Calibri" panose="020F0502020204030204" pitchFamily="34" charset="0"/>
            </a:endParaRPr>
          </a:p>
          <a:p>
            <a:pPr fontAlgn="base">
              <a:lnSpc>
                <a:spcPct val="150000"/>
              </a:lnSpc>
              <a:buFont typeface="Wingdings" panose="05000000000000000000" pitchFamily="2" charset="2"/>
              <a:buChar char="Ø"/>
            </a:pPr>
            <a:r>
              <a:rPr lang="en-US" dirty="0">
                <a:latin typeface="Calibri" panose="020F0502020204030204" pitchFamily="34" charset="0"/>
                <a:cs typeface="Calibri" panose="020F0502020204030204" pitchFamily="34" charset="0"/>
              </a:rPr>
              <a:t>The existence </a:t>
            </a:r>
            <a:r>
              <a:rPr lang="en-US" dirty="0" smtClean="0">
                <a:latin typeface="Calibri" panose="020F0502020204030204" pitchFamily="34" charset="0"/>
                <a:cs typeface="Calibri" panose="020F0502020204030204" pitchFamily="34" charset="0"/>
              </a:rPr>
              <a:t>of hotel </a:t>
            </a:r>
            <a:r>
              <a:rPr lang="en-US" dirty="0">
                <a:latin typeface="Calibri" panose="020F0502020204030204" pitchFamily="34" charset="0"/>
                <a:cs typeface="Calibri" panose="020F0502020204030204" pitchFamily="34" charset="0"/>
              </a:rPr>
              <a:t>rooms is entirely dependent on the existence of a hotel. So room can be seen as the weak entity of the hotel. </a:t>
            </a:r>
          </a:p>
          <a:p>
            <a:pPr fontAlgn="base">
              <a:lnSpc>
                <a:spcPct val="150000"/>
              </a:lnSpc>
              <a:buFont typeface="Wingdings" panose="05000000000000000000" pitchFamily="2" charset="2"/>
              <a:buChar char="Ø"/>
            </a:pPr>
            <a:endParaRPr lang="en-US" b="1" dirty="0" smtClean="0">
              <a:latin typeface="Calibri" panose="020F0502020204030204" pitchFamily="34" charset="0"/>
              <a:cs typeface="Calibri" panose="020F0502020204030204" pitchFamily="34" charset="0"/>
            </a:endParaRPr>
          </a:p>
          <a:p>
            <a:pPr marL="0" indent="0" fontAlgn="base">
              <a:lnSpc>
                <a:spcPct val="150000"/>
              </a:lnSpc>
              <a:buNone/>
            </a:pPr>
            <a:r>
              <a:rPr lang="en-US" b="1" dirty="0" smtClean="0">
                <a:latin typeface="Calibri" panose="020F0502020204030204" pitchFamily="34" charset="0"/>
                <a:cs typeface="Calibri" panose="020F0502020204030204" pitchFamily="34" charset="0"/>
              </a:rPr>
              <a:t>Example-3:</a:t>
            </a:r>
            <a:r>
              <a:rPr lang="en-US" dirty="0">
                <a:latin typeface="Calibri" panose="020F0502020204030204" pitchFamily="34" charset="0"/>
                <a:cs typeface="Calibri" panose="020F0502020204030204" pitchFamily="34" charset="0"/>
              </a:rPr>
              <a:t>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The bank account of a particular bank has no existence if the bank doesn’t exist anymore. </a:t>
            </a:r>
            <a:endParaRPr lang="en-US" dirty="0"/>
          </a:p>
          <a:p>
            <a:pPr fontAlgn="base">
              <a:lnSpc>
                <a:spcPct val="150000"/>
              </a:lnSpc>
              <a:buFont typeface="Wingdings" panose="05000000000000000000" pitchFamily="2" charset="2"/>
              <a:buChar char="Ø"/>
            </a:pPr>
            <a:endParaRPr lang="en-US" dirty="0">
              <a:latin typeface="Calibri" panose="020F0502020204030204" pitchFamily="34" charset="0"/>
              <a:cs typeface="Calibri" panose="020F0502020204030204" pitchFamily="34" charset="0"/>
            </a:endParaRPr>
          </a:p>
        </p:txBody>
      </p:sp>
      <p:sp>
        <p:nvSpPr>
          <p:cNvPr id="4" name="Title 3"/>
          <p:cNvSpPr>
            <a:spLocks noGrp="1"/>
          </p:cNvSpPr>
          <p:nvPr>
            <p:ph type="title"/>
          </p:nvPr>
        </p:nvSpPr>
        <p:spPr>
          <a:xfrm>
            <a:off x="3694670" y="353864"/>
            <a:ext cx="4151872" cy="548179"/>
          </a:xfrm>
        </p:spPr>
        <p:txBody>
          <a:bodyPr>
            <a:normAutofit fontScale="90000"/>
          </a:bodyPr>
          <a:lstStyle/>
          <a:p>
            <a:pPr algn="ctr"/>
            <a:r>
              <a:rPr lang="en-US" b="1" dirty="0" smtClean="0">
                <a:latin typeface="Calibri" panose="020F0502020204030204" pitchFamily="34" charset="0"/>
                <a:cs typeface="Calibri" panose="020F0502020204030204" pitchFamily="34" charset="0"/>
              </a:rPr>
              <a:t>Weak </a:t>
            </a:r>
            <a:r>
              <a:rPr lang="en-US" b="1" dirty="0">
                <a:latin typeface="Calibri" panose="020F0502020204030204" pitchFamily="34" charset="0"/>
                <a:cs typeface="Calibri" panose="020F0502020204030204" pitchFamily="34" charset="0"/>
              </a:rPr>
              <a:t>entities</a:t>
            </a:r>
          </a:p>
        </p:txBody>
      </p:sp>
    </p:spTree>
    <p:extLst>
      <p:ext uri="{BB962C8B-B14F-4D97-AF65-F5344CB8AC3E}">
        <p14:creationId xmlns:p14="http://schemas.microsoft.com/office/powerpoint/2010/main" val="193017504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31215" y="279724"/>
            <a:ext cx="7719412" cy="597606"/>
          </a:xfrm>
        </p:spPr>
        <p:txBody>
          <a:bodyPr>
            <a:normAutofit fontScale="90000"/>
          </a:bodyPr>
          <a:lstStyle/>
          <a:p>
            <a:pPr algn="ctr"/>
            <a:r>
              <a:rPr lang="en-US" dirty="0" smtClean="0"/>
              <a:t>Weak entity example</a:t>
            </a:r>
            <a:endParaRPr lang="en-US" dirty="0"/>
          </a:p>
        </p:txBody>
      </p:sp>
      <p:pic>
        <p:nvPicPr>
          <p:cNvPr id="1028" name="Picture 4" descr="Explain following terms with suitable example. (i) Weak entity set (ii)  Data manipulation language (iii) Foreign key (iv) Super ke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5685" y="1841157"/>
            <a:ext cx="6821753" cy="3654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6595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8421" y="1767015"/>
            <a:ext cx="8204887" cy="3484606"/>
          </a:xfrm>
        </p:spPr>
        <p:txBody>
          <a:bodyPr>
            <a:normAutofit/>
          </a:bodyPr>
          <a:lstStyle/>
          <a:p>
            <a:pPr fontAlgn="base">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ER </a:t>
            </a:r>
            <a:r>
              <a:rPr lang="en-US" dirty="0">
                <a:latin typeface="Calibri" panose="020F0502020204030204" pitchFamily="34" charset="0"/>
                <a:cs typeface="Calibri" panose="020F0502020204030204" pitchFamily="34" charset="0"/>
              </a:rPr>
              <a:t>Modeling is simple and easily understandable. It is represented in business users language and it can be understood by non-technical </a:t>
            </a:r>
            <a:r>
              <a:rPr lang="en-US" dirty="0" smtClean="0">
                <a:latin typeface="Calibri" panose="020F0502020204030204" pitchFamily="34" charset="0"/>
                <a:cs typeface="Calibri" panose="020F0502020204030204" pitchFamily="34" charset="0"/>
              </a:rPr>
              <a:t>specialist.</a:t>
            </a:r>
          </a:p>
          <a:p>
            <a:pPr fontAlgn="base">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Intuitive </a:t>
            </a:r>
            <a:r>
              <a:rPr lang="en-US" dirty="0">
                <a:latin typeface="Calibri" panose="020F0502020204030204" pitchFamily="34" charset="0"/>
                <a:cs typeface="Calibri" panose="020F0502020204030204" pitchFamily="34" charset="0"/>
              </a:rPr>
              <a:t>and helps in Physical Database </a:t>
            </a:r>
            <a:r>
              <a:rPr lang="en-US" dirty="0" smtClean="0">
                <a:latin typeface="Calibri" panose="020F0502020204030204" pitchFamily="34" charset="0"/>
                <a:cs typeface="Calibri" panose="020F0502020204030204" pitchFamily="34" charset="0"/>
              </a:rPr>
              <a:t>creation.</a:t>
            </a:r>
          </a:p>
          <a:p>
            <a:pPr fontAlgn="base">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Can </a:t>
            </a:r>
            <a:r>
              <a:rPr lang="en-US" dirty="0">
                <a:latin typeface="Calibri" panose="020F0502020204030204" pitchFamily="34" charset="0"/>
                <a:cs typeface="Calibri" panose="020F0502020204030204" pitchFamily="34" charset="0"/>
              </a:rPr>
              <a:t>be generalized and specialized based on </a:t>
            </a:r>
            <a:r>
              <a:rPr lang="en-US" dirty="0" smtClean="0">
                <a:latin typeface="Calibri" panose="020F0502020204030204" pitchFamily="34" charset="0"/>
                <a:cs typeface="Calibri" panose="020F0502020204030204" pitchFamily="34" charset="0"/>
              </a:rPr>
              <a:t>needs.</a:t>
            </a:r>
          </a:p>
          <a:p>
            <a:pPr fontAlgn="base">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Can </a:t>
            </a:r>
            <a:r>
              <a:rPr lang="en-US" dirty="0">
                <a:latin typeface="Calibri" panose="020F0502020204030204" pitchFamily="34" charset="0"/>
                <a:cs typeface="Calibri" panose="020F0502020204030204" pitchFamily="34" charset="0"/>
              </a:rPr>
              <a:t>help in database </a:t>
            </a:r>
            <a:r>
              <a:rPr lang="en-US" dirty="0" smtClean="0">
                <a:latin typeface="Calibri" panose="020F0502020204030204" pitchFamily="34" charset="0"/>
                <a:cs typeface="Calibri" panose="020F0502020204030204" pitchFamily="34" charset="0"/>
              </a:rPr>
              <a:t>design.</a:t>
            </a:r>
          </a:p>
          <a:p>
            <a:pPr fontAlgn="base">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Gives </a:t>
            </a:r>
            <a:r>
              <a:rPr lang="en-US" dirty="0">
                <a:latin typeface="Calibri" panose="020F0502020204030204" pitchFamily="34" charset="0"/>
                <a:cs typeface="Calibri" panose="020F0502020204030204" pitchFamily="34" charset="0"/>
              </a:rPr>
              <a:t>a higher level description of the system.</a:t>
            </a:r>
          </a:p>
        </p:txBody>
      </p:sp>
      <p:sp>
        <p:nvSpPr>
          <p:cNvPr id="4" name="Title 3"/>
          <p:cNvSpPr>
            <a:spLocks noGrp="1"/>
          </p:cNvSpPr>
          <p:nvPr>
            <p:ph type="title"/>
          </p:nvPr>
        </p:nvSpPr>
        <p:spPr>
          <a:xfrm>
            <a:off x="2360141" y="563929"/>
            <a:ext cx="8118389" cy="548179"/>
          </a:xfrm>
        </p:spPr>
        <p:txBody>
          <a:bodyPr>
            <a:normAutofit fontScale="90000"/>
          </a:bodyPr>
          <a:lstStyle/>
          <a:p>
            <a:pPr algn="ctr"/>
            <a:r>
              <a:rPr lang="en-US" b="1" dirty="0">
                <a:latin typeface="Calibri" panose="020F0502020204030204" pitchFamily="34" charset="0"/>
                <a:cs typeface="Calibri" panose="020F0502020204030204" pitchFamily="34" charset="0"/>
              </a:rPr>
              <a:t>Advantages </a:t>
            </a:r>
            <a:r>
              <a:rPr lang="en-US" b="1" dirty="0" smtClean="0">
                <a:latin typeface="Calibri" panose="020F0502020204030204" pitchFamily="34" charset="0"/>
                <a:cs typeface="Calibri" panose="020F0502020204030204" pitchFamily="34" charset="0"/>
              </a:rPr>
              <a:t>of </a:t>
            </a:r>
            <a:r>
              <a:rPr lang="en-US" b="1" dirty="0">
                <a:latin typeface="Calibri" panose="020F0502020204030204" pitchFamily="34" charset="0"/>
                <a:cs typeface="Calibri" panose="020F0502020204030204" pitchFamily="34" charset="0"/>
              </a:rPr>
              <a:t>ER Modeling </a:t>
            </a:r>
          </a:p>
        </p:txBody>
      </p:sp>
    </p:spTree>
    <p:extLst>
      <p:ext uri="{BB962C8B-B14F-4D97-AF65-F5344CB8AC3E}">
        <p14:creationId xmlns:p14="http://schemas.microsoft.com/office/powerpoint/2010/main" val="16019777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8421" y="1767015"/>
            <a:ext cx="8204887" cy="3484606"/>
          </a:xfrm>
        </p:spPr>
        <p:txBody>
          <a:bodyPr>
            <a:normAutofit/>
          </a:bodyPr>
          <a:lstStyle/>
          <a:p>
            <a:pPr fontAlgn="base">
              <a:lnSpc>
                <a:spcPct val="150000"/>
              </a:lnSpc>
              <a:buFont typeface="Wingdings" panose="05000000000000000000" pitchFamily="2" charset="2"/>
              <a:buChar char="v"/>
            </a:pPr>
            <a:r>
              <a:rPr lang="en-US" dirty="0">
                <a:latin typeface="Calibri" panose="020F0502020204030204" pitchFamily="34" charset="0"/>
                <a:cs typeface="Calibri" panose="020F0502020204030204" pitchFamily="34" charset="0"/>
              </a:rPr>
              <a:t>Physical design derived from E-R Model may have some amount of ambiguities or inconsistency. </a:t>
            </a:r>
          </a:p>
          <a:p>
            <a:pPr fontAlgn="base">
              <a:lnSpc>
                <a:spcPct val="150000"/>
              </a:lnSpc>
              <a:buFont typeface="Wingdings" panose="05000000000000000000" pitchFamily="2" charset="2"/>
              <a:buChar char="v"/>
            </a:pPr>
            <a:r>
              <a:rPr lang="en-US" dirty="0" smtClean="0">
                <a:latin typeface="Calibri" panose="020F0502020204030204" pitchFamily="34" charset="0"/>
                <a:cs typeface="Calibri" panose="020F0502020204030204" pitchFamily="34" charset="0"/>
              </a:rPr>
              <a:t>Sometime </a:t>
            </a:r>
            <a:r>
              <a:rPr lang="en-US" dirty="0">
                <a:latin typeface="Calibri" panose="020F0502020204030204" pitchFamily="34" charset="0"/>
                <a:cs typeface="Calibri" panose="020F0502020204030204" pitchFamily="34" charset="0"/>
              </a:rPr>
              <a:t>diagrams may lead to misinterpretations</a:t>
            </a:r>
          </a:p>
        </p:txBody>
      </p:sp>
      <p:sp>
        <p:nvSpPr>
          <p:cNvPr id="4" name="Title 3"/>
          <p:cNvSpPr>
            <a:spLocks noGrp="1"/>
          </p:cNvSpPr>
          <p:nvPr>
            <p:ph type="title"/>
          </p:nvPr>
        </p:nvSpPr>
        <p:spPr>
          <a:xfrm>
            <a:off x="2458994" y="662783"/>
            <a:ext cx="6326660" cy="548179"/>
          </a:xfrm>
        </p:spPr>
        <p:txBody>
          <a:bodyPr>
            <a:normAutofit fontScale="90000"/>
          </a:bodyPr>
          <a:lstStyle/>
          <a:p>
            <a:pPr algn="ctr"/>
            <a:r>
              <a:rPr lang="en-US" b="1" dirty="0" smtClean="0">
                <a:latin typeface="Calibri" panose="020F0502020204030204" pitchFamily="34" charset="0"/>
                <a:cs typeface="Calibri" panose="020F0502020204030204" pitchFamily="34" charset="0"/>
              </a:rPr>
              <a:t>Disadvantages of </a:t>
            </a:r>
            <a:r>
              <a:rPr lang="en-US" b="1" dirty="0">
                <a:latin typeface="Calibri" panose="020F0502020204030204" pitchFamily="34" charset="0"/>
                <a:cs typeface="Calibri" panose="020F0502020204030204" pitchFamily="34" charset="0"/>
              </a:rPr>
              <a:t>ER Modeling </a:t>
            </a:r>
          </a:p>
        </p:txBody>
      </p:sp>
    </p:spTree>
    <p:extLst>
      <p:ext uri="{BB962C8B-B14F-4D97-AF65-F5344CB8AC3E}">
        <p14:creationId xmlns:p14="http://schemas.microsoft.com/office/powerpoint/2010/main" val="161620717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9815" y="1408670"/>
            <a:ext cx="9415849" cy="4658497"/>
          </a:xfrm>
        </p:spPr>
        <p:txBody>
          <a:bodyPr>
            <a:normAutofit/>
          </a:bodyPr>
          <a:lstStyle/>
          <a:p>
            <a:pPr lvl="0">
              <a:lnSpc>
                <a:spcPct val="200000"/>
              </a:lnSpc>
            </a:pPr>
            <a:r>
              <a:rPr lang="en-US" dirty="0" smtClean="0">
                <a:latin typeface="Calibri" panose="020F0502020204030204" pitchFamily="34" charset="0"/>
                <a:cs typeface="Calibri" panose="020F0502020204030204" pitchFamily="34" charset="0"/>
              </a:rPr>
              <a:t>DESKTOP production industry prides itself on shipping goods from abroad. Shipped </a:t>
            </a:r>
            <a:r>
              <a:rPr lang="en-US" dirty="0">
                <a:latin typeface="Calibri" panose="020F0502020204030204" pitchFamily="34" charset="0"/>
                <a:cs typeface="Calibri" panose="020F0502020204030204" pitchFamily="34" charset="0"/>
              </a:rPr>
              <a:t>items can be characterized by item number (unique), weight, dimensions, insurance amount, destination, and final delivery date. Shipped items are received into the </a:t>
            </a:r>
            <a:r>
              <a:rPr lang="en-US" dirty="0" smtClean="0">
                <a:latin typeface="Calibri" panose="020F0502020204030204" pitchFamily="34" charset="0"/>
                <a:cs typeface="Calibri" panose="020F0502020204030204" pitchFamily="34" charset="0"/>
              </a:rPr>
              <a:t>company </a:t>
            </a:r>
            <a:r>
              <a:rPr lang="en-US" dirty="0">
                <a:latin typeface="Calibri" panose="020F0502020204030204" pitchFamily="34" charset="0"/>
                <a:cs typeface="Calibri" panose="020F0502020204030204" pitchFamily="34" charset="0"/>
              </a:rPr>
              <a:t>system at a single retail center. Retail centers are characterized by their type, </a:t>
            </a:r>
            <a:r>
              <a:rPr lang="en-US" dirty="0" err="1">
                <a:latin typeface="Calibri" panose="020F0502020204030204" pitchFamily="34" charset="0"/>
                <a:cs typeface="Calibri" panose="020F0502020204030204" pitchFamily="34" charset="0"/>
              </a:rPr>
              <a:t>uniqueID</a:t>
            </a:r>
            <a:r>
              <a:rPr lang="en-US" dirty="0">
                <a:latin typeface="Calibri" panose="020F0502020204030204" pitchFamily="34" charset="0"/>
                <a:cs typeface="Calibri" panose="020F0502020204030204" pitchFamily="34" charset="0"/>
              </a:rPr>
              <a:t>, and address. Shipped items make their way to their destination via one or more </a:t>
            </a:r>
            <a:r>
              <a:rPr lang="en-US" dirty="0" smtClean="0">
                <a:latin typeface="Calibri" panose="020F0502020204030204" pitchFamily="34" charset="0"/>
                <a:cs typeface="Calibri" panose="020F0502020204030204" pitchFamily="34" charset="0"/>
              </a:rPr>
              <a:t>standard company </a:t>
            </a:r>
            <a:r>
              <a:rPr lang="en-US" dirty="0">
                <a:latin typeface="Calibri" panose="020F0502020204030204" pitchFamily="34" charset="0"/>
                <a:cs typeface="Calibri" panose="020F0502020204030204" pitchFamily="34" charset="0"/>
              </a:rPr>
              <a:t>transportation events (i.e., flights, truck deliveries). These transportation events are characterized by a unique </a:t>
            </a:r>
            <a:r>
              <a:rPr lang="en-US" dirty="0" err="1">
                <a:latin typeface="Calibri" panose="020F0502020204030204" pitchFamily="34" charset="0"/>
                <a:cs typeface="Calibri" panose="020F0502020204030204" pitchFamily="34" charset="0"/>
              </a:rPr>
              <a:t>scheduleNumber</a:t>
            </a:r>
            <a:r>
              <a:rPr lang="en-US" dirty="0">
                <a:latin typeface="Calibri" panose="020F0502020204030204" pitchFamily="34" charset="0"/>
                <a:cs typeface="Calibri" panose="020F0502020204030204" pitchFamily="34" charset="0"/>
              </a:rPr>
              <a:t>, a type (</a:t>
            </a:r>
            <a:r>
              <a:rPr lang="en-US" dirty="0" err="1">
                <a:latin typeface="Calibri" panose="020F0502020204030204" pitchFamily="34" charset="0"/>
                <a:cs typeface="Calibri" panose="020F0502020204030204" pitchFamily="34" charset="0"/>
              </a:rPr>
              <a:t>e.g</a:t>
            </a:r>
            <a:r>
              <a:rPr lang="en-US" dirty="0">
                <a:latin typeface="Calibri" panose="020F0502020204030204" pitchFamily="34" charset="0"/>
                <a:cs typeface="Calibri" panose="020F0502020204030204" pitchFamily="34" charset="0"/>
              </a:rPr>
              <a:t>, flight, truck), and a </a:t>
            </a:r>
            <a:r>
              <a:rPr lang="en-US" dirty="0" err="1">
                <a:latin typeface="Calibri" panose="020F0502020204030204" pitchFamily="34" charset="0"/>
                <a:cs typeface="Calibri" panose="020F0502020204030204" pitchFamily="34" charset="0"/>
              </a:rPr>
              <a:t>deliveryRoute</a:t>
            </a:r>
            <a:r>
              <a:rPr lang="en-US" dirty="0">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88198606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5807" y="729049"/>
            <a:ext cx="9255209" cy="5399903"/>
          </a:xfrm>
        </p:spPr>
        <p:txBody>
          <a:bodyPr>
            <a:normAutofit/>
          </a:bodyPr>
          <a:lstStyle/>
          <a:p>
            <a:pPr marL="0" lvl="0" indent="0">
              <a:lnSpc>
                <a:spcPct val="150000"/>
              </a:lnSpc>
              <a:buNone/>
            </a:pPr>
            <a:r>
              <a:rPr lang="en-US" sz="1900" dirty="0" smtClean="0">
                <a:latin typeface="Calibri" panose="020F0502020204030204" pitchFamily="34" charset="0"/>
                <a:cs typeface="Calibri" panose="020F0502020204030204" pitchFamily="34" charset="0"/>
              </a:rPr>
              <a:t>1.  Given </a:t>
            </a:r>
            <a:r>
              <a:rPr lang="en-US" sz="1900" dirty="0">
                <a:latin typeface="Calibri" panose="020F0502020204030204" pitchFamily="34" charset="0"/>
                <a:cs typeface="Calibri" panose="020F0502020204030204" pitchFamily="34" charset="0"/>
              </a:rPr>
              <a:t>student, lecturer and department as entities with the following attributes</a:t>
            </a:r>
          </a:p>
          <a:p>
            <a:pPr marL="0" indent="0">
              <a:lnSpc>
                <a:spcPct val="150000"/>
              </a:lnSpc>
              <a:buNone/>
            </a:pPr>
            <a:r>
              <a:rPr lang="en-US" sz="1900" dirty="0">
                <a:latin typeface="Calibri" panose="020F0502020204030204" pitchFamily="34" charset="0"/>
                <a:cs typeface="Calibri" panose="020F0502020204030204" pitchFamily="34" charset="0"/>
              </a:rPr>
              <a:t>Student: name, registration number and course</a:t>
            </a:r>
          </a:p>
          <a:p>
            <a:pPr marL="0" indent="0">
              <a:lnSpc>
                <a:spcPct val="150000"/>
              </a:lnSpc>
              <a:buNone/>
            </a:pPr>
            <a:r>
              <a:rPr lang="en-US" sz="1900" dirty="0">
                <a:latin typeface="Calibri" panose="020F0502020204030204" pitchFamily="34" charset="0"/>
                <a:cs typeface="Calibri" panose="020F0502020204030204" pitchFamily="34" charset="0"/>
              </a:rPr>
              <a:t>Lecturer: </a:t>
            </a:r>
            <a:r>
              <a:rPr lang="en-US" sz="1900" dirty="0" err="1">
                <a:latin typeface="Calibri" panose="020F0502020204030204" pitchFamily="34" charset="0"/>
                <a:cs typeface="Calibri" panose="020F0502020204030204" pitchFamily="34" charset="0"/>
              </a:rPr>
              <a:t>staff_number</a:t>
            </a:r>
            <a:r>
              <a:rPr lang="en-US" sz="1900" dirty="0">
                <a:latin typeface="Calibri" panose="020F0502020204030204" pitchFamily="34" charset="0"/>
                <a:cs typeface="Calibri" panose="020F0502020204030204" pitchFamily="34" charset="0"/>
              </a:rPr>
              <a:t>, </a:t>
            </a:r>
            <a:r>
              <a:rPr lang="en-US" sz="1900" dirty="0" err="1">
                <a:latin typeface="Calibri" panose="020F0502020204030204" pitchFamily="34" charset="0"/>
                <a:cs typeface="Calibri" panose="020F0502020204030204" pitchFamily="34" charset="0"/>
              </a:rPr>
              <a:t>phone_number</a:t>
            </a:r>
            <a:endParaRPr lang="en-US" sz="1900" dirty="0">
              <a:latin typeface="Calibri" panose="020F0502020204030204" pitchFamily="34" charset="0"/>
              <a:cs typeface="Calibri" panose="020F0502020204030204" pitchFamily="34" charset="0"/>
            </a:endParaRPr>
          </a:p>
          <a:p>
            <a:pPr marL="0" indent="0">
              <a:lnSpc>
                <a:spcPct val="150000"/>
              </a:lnSpc>
              <a:buNone/>
            </a:pPr>
            <a:r>
              <a:rPr lang="en-US" sz="1900" dirty="0">
                <a:latin typeface="Calibri" panose="020F0502020204030204" pitchFamily="34" charset="0"/>
                <a:cs typeface="Calibri" panose="020F0502020204030204" pitchFamily="34" charset="0"/>
              </a:rPr>
              <a:t>Department: </a:t>
            </a:r>
            <a:r>
              <a:rPr lang="en-US" sz="1900" dirty="0" err="1">
                <a:latin typeface="Calibri" panose="020F0502020204030204" pitchFamily="34" charset="0"/>
                <a:cs typeface="Calibri" panose="020F0502020204030204" pitchFamily="34" charset="0"/>
              </a:rPr>
              <a:t>dept_id</a:t>
            </a:r>
            <a:r>
              <a:rPr lang="en-US" sz="1900" dirty="0">
                <a:latin typeface="Calibri" panose="020F0502020204030204" pitchFamily="34" charset="0"/>
                <a:cs typeface="Calibri" panose="020F0502020204030204" pitchFamily="34" charset="0"/>
              </a:rPr>
              <a:t>, </a:t>
            </a:r>
            <a:r>
              <a:rPr lang="en-US" sz="1900" dirty="0" err="1" smtClean="0">
                <a:latin typeface="Calibri" panose="020F0502020204030204" pitchFamily="34" charset="0"/>
                <a:cs typeface="Calibri" panose="020F0502020204030204" pitchFamily="34" charset="0"/>
              </a:rPr>
              <a:t>dept_name</a:t>
            </a:r>
            <a:r>
              <a:rPr lang="en-US" sz="1900" dirty="0">
                <a:latin typeface="Calibri" panose="020F0502020204030204" pitchFamily="34" charset="0"/>
                <a:cs typeface="Calibri" panose="020F0502020204030204" pitchFamily="34" charset="0"/>
              </a:rPr>
              <a:t>				</a:t>
            </a:r>
          </a:p>
          <a:p>
            <a:pPr marL="0" lvl="0" indent="0">
              <a:lnSpc>
                <a:spcPct val="150000"/>
              </a:lnSpc>
              <a:buNone/>
            </a:pPr>
            <a:r>
              <a:rPr lang="en-US" sz="1900" dirty="0">
                <a:latin typeface="Calibri" panose="020F0502020204030204" pitchFamily="34" charset="0"/>
                <a:cs typeface="Calibri" panose="020F0502020204030204" pitchFamily="34" charset="0"/>
              </a:rPr>
              <a:t>The relationship between the entities are as follows</a:t>
            </a:r>
          </a:p>
          <a:p>
            <a:pPr marL="0" indent="0">
              <a:lnSpc>
                <a:spcPct val="150000"/>
              </a:lnSpc>
              <a:buNone/>
            </a:pPr>
            <a:r>
              <a:rPr lang="en-US" sz="1900" dirty="0">
                <a:latin typeface="Calibri" panose="020F0502020204030204" pitchFamily="34" charset="0"/>
                <a:cs typeface="Calibri" panose="020F0502020204030204" pitchFamily="34" charset="0"/>
              </a:rPr>
              <a:t>Many students belong to a single department</a:t>
            </a:r>
          </a:p>
          <a:p>
            <a:pPr marL="0" indent="0">
              <a:lnSpc>
                <a:spcPct val="150000"/>
              </a:lnSpc>
              <a:buNone/>
            </a:pPr>
            <a:r>
              <a:rPr lang="en-US" sz="1900" dirty="0">
                <a:latin typeface="Calibri" panose="020F0502020204030204" pitchFamily="34" charset="0"/>
                <a:cs typeface="Calibri" panose="020F0502020204030204" pitchFamily="34" charset="0"/>
              </a:rPr>
              <a:t>Several lecturers belong to one department</a:t>
            </a:r>
          </a:p>
          <a:p>
            <a:pPr marL="0" indent="0">
              <a:lnSpc>
                <a:spcPct val="150000"/>
              </a:lnSpc>
              <a:buNone/>
            </a:pPr>
            <a:r>
              <a:rPr lang="en-US" sz="1900" dirty="0">
                <a:latin typeface="Calibri" panose="020F0502020204030204" pitchFamily="34" charset="0"/>
                <a:cs typeface="Calibri" panose="020F0502020204030204" pitchFamily="34" charset="0"/>
              </a:rPr>
              <a:t>One lecturer teaches many students</a:t>
            </a:r>
          </a:p>
          <a:p>
            <a:pPr>
              <a:lnSpc>
                <a:spcPct val="150000"/>
              </a:lnSpc>
            </a:pPr>
            <a:r>
              <a:rPr lang="en-US" sz="1900" dirty="0">
                <a:latin typeface="Calibri" panose="020F0502020204030204" pitchFamily="34" charset="0"/>
                <a:cs typeface="Calibri" panose="020F0502020204030204" pitchFamily="34" charset="0"/>
              </a:rPr>
              <a:t>Draw the Entity-Relationship diagram (ER) 	</a:t>
            </a:r>
          </a:p>
        </p:txBody>
      </p:sp>
    </p:spTree>
    <p:extLst>
      <p:ext uri="{BB962C8B-B14F-4D97-AF65-F5344CB8AC3E}">
        <p14:creationId xmlns:p14="http://schemas.microsoft.com/office/powerpoint/2010/main" val="336635243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31091" y="1285103"/>
            <a:ext cx="8501449" cy="3970318"/>
          </a:xfrm>
          <a:prstGeom prst="rect">
            <a:avLst/>
          </a:prstGeom>
        </p:spPr>
        <p:txBody>
          <a:bodyPr wrap="square">
            <a:spAutoFit/>
          </a:bodyPr>
          <a:lstStyle/>
          <a:p>
            <a:pPr>
              <a:lnSpc>
                <a:spcPct val="200000"/>
              </a:lnSpc>
              <a:spcAft>
                <a:spcPts val="800"/>
              </a:spcAft>
            </a:pPr>
            <a:r>
              <a:rPr lang="en-US" dirty="0" smtClean="0">
                <a:latin typeface="Calibri" panose="020F0502020204030204" pitchFamily="34" charset="0"/>
                <a:ea typeface="Calibri" panose="020F0502020204030204" pitchFamily="34" charset="0"/>
                <a:cs typeface="Calibri" panose="020F0502020204030204" pitchFamily="34" charset="0"/>
              </a:rPr>
              <a:t>2. Company </a:t>
            </a:r>
            <a:r>
              <a:rPr lang="en-US" dirty="0">
                <a:latin typeface="Calibri" panose="020F0502020204030204" pitchFamily="34" charset="0"/>
                <a:ea typeface="Calibri" panose="020F0502020204030204" pitchFamily="34" charset="0"/>
                <a:cs typeface="Calibri" panose="020F0502020204030204" pitchFamily="34" charset="0"/>
              </a:rPr>
              <a:t>Y deals with writing and publishing articles. An employee of the company is characterized by </a:t>
            </a:r>
            <a:r>
              <a:rPr lang="en-US" dirty="0" err="1">
                <a:latin typeface="Calibri" panose="020F0502020204030204" pitchFamily="34" charset="0"/>
                <a:ea typeface="Calibri" panose="020F0502020204030204" pitchFamily="34" charset="0"/>
                <a:cs typeface="Calibri" panose="020F0502020204030204" pitchFamily="34" charset="0"/>
              </a:rPr>
              <a:t>employeeID</a:t>
            </a:r>
            <a:r>
              <a:rPr lang="en-US" dirty="0">
                <a:latin typeface="Calibri" panose="020F0502020204030204" pitchFamily="34" charset="0"/>
                <a:ea typeface="Calibri" panose="020F0502020204030204" pitchFamily="34" charset="0"/>
                <a:cs typeface="Calibri" panose="020F0502020204030204" pitchFamily="34" charset="0"/>
              </a:rPr>
              <a:t> (unique), name (first name and last name) and E-mail address. One employee can write several articles which are identified by a </a:t>
            </a:r>
            <a:r>
              <a:rPr lang="en-US" dirty="0" err="1">
                <a:latin typeface="Calibri" panose="020F0502020204030204" pitchFamily="34" charset="0"/>
                <a:ea typeface="Calibri" panose="020F0502020204030204" pitchFamily="34" charset="0"/>
                <a:cs typeface="Calibri" panose="020F0502020204030204" pitchFamily="34" charset="0"/>
              </a:rPr>
              <a:t>uniquesarticle</a:t>
            </a:r>
            <a:r>
              <a:rPr lang="en-US" dirty="0">
                <a:latin typeface="Calibri" panose="020F0502020204030204" pitchFamily="34" charset="0"/>
                <a:ea typeface="Calibri" panose="020F0502020204030204" pitchFamily="34" charset="0"/>
                <a:cs typeface="Calibri" panose="020F0502020204030204" pitchFamily="34" charset="0"/>
              </a:rPr>
              <a:t> id, title, timestamp and text body. Each article can contain one or more comments from different people. Each comment is identified by its unique ID, timestamp and text. An employee can also post a comment on any published article. Model the above database using an ER model</a:t>
            </a:r>
            <a:endParaRPr lang="en-US" sz="16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5947514"/>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908</TotalTime>
  <Words>2873</Words>
  <Application>Microsoft Office PowerPoint</Application>
  <PresentationFormat>Widescreen</PresentationFormat>
  <Paragraphs>212</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Century Gothic</vt:lpstr>
      <vt:lpstr>Times New Roman</vt:lpstr>
      <vt:lpstr>Wingdings</vt:lpstr>
      <vt:lpstr>Wingdings 3</vt:lpstr>
      <vt:lpstr>Wisp</vt:lpstr>
      <vt:lpstr>DATA MODELS, SCHEMAS, AND INSTANCES</vt:lpstr>
      <vt:lpstr>DATABASE SCHEMA</vt:lpstr>
      <vt:lpstr>THREE LEVEL ANSI-SPARC DATABASE ARCHITECTURE</vt:lpstr>
      <vt:lpstr>Three level database architecture</vt:lpstr>
      <vt:lpstr>PowerPoint Presentation</vt:lpstr>
      <vt:lpstr>PowerPoint Presentation</vt:lpstr>
      <vt:lpstr>PowerPoint Presentation</vt:lpstr>
      <vt:lpstr>PowerPoint Presentation</vt:lpstr>
      <vt:lpstr>PowerPoint Presentation</vt:lpstr>
      <vt:lpstr>PowerPoint Presentation</vt:lpstr>
      <vt:lpstr>DATA MODELS</vt:lpstr>
      <vt:lpstr>TYPES OF DATA MODELS</vt:lpstr>
      <vt:lpstr>TYPES OF DATA MODELS</vt:lpstr>
      <vt:lpstr>TYPES OF DATA MODELS</vt:lpstr>
      <vt:lpstr>Data Modeling Using the Entity-Relationship Model</vt:lpstr>
      <vt:lpstr>Entities and Attributes</vt:lpstr>
      <vt:lpstr>Entities and Attributes</vt:lpstr>
      <vt:lpstr>TYPES OF ATTRIBUTES</vt:lpstr>
      <vt:lpstr>Types of attributes</vt:lpstr>
      <vt:lpstr>Types of attributes</vt:lpstr>
      <vt:lpstr>Types of attributes</vt:lpstr>
      <vt:lpstr>Types of attributes</vt:lpstr>
      <vt:lpstr>Types of attributes</vt:lpstr>
      <vt:lpstr>Relationship between entities</vt:lpstr>
      <vt:lpstr>Relationship between entities</vt:lpstr>
      <vt:lpstr>Constraints on Relationships</vt:lpstr>
      <vt:lpstr>Participation Constraints</vt:lpstr>
      <vt:lpstr>Participation Constraints</vt:lpstr>
      <vt:lpstr>Cardinality Ratio</vt:lpstr>
      <vt:lpstr>Cardinality Ratio</vt:lpstr>
      <vt:lpstr>  Cardinality of relationships</vt:lpstr>
      <vt:lpstr>  Cardinality of relationships</vt:lpstr>
      <vt:lpstr>Cardinality of relationships</vt:lpstr>
      <vt:lpstr>Cardinality of relationships</vt:lpstr>
      <vt:lpstr>Cardinality of relationships</vt:lpstr>
      <vt:lpstr>Cardinality of relationships</vt:lpstr>
      <vt:lpstr>Strong and Weak entities</vt:lpstr>
      <vt:lpstr>Strong and Weak entities</vt:lpstr>
      <vt:lpstr>Strong and Weak entities</vt:lpstr>
      <vt:lpstr>Weak entities</vt:lpstr>
      <vt:lpstr>Weak entity example</vt:lpstr>
      <vt:lpstr>Advantages of ER Modeling </vt:lpstr>
      <vt:lpstr>Disadvantages of ER Modeling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1</dc:title>
  <dc:creator>polin mwkx</dc:creator>
  <cp:lastModifiedBy>polin mwkx</cp:lastModifiedBy>
  <cp:revision>195</cp:revision>
  <dcterms:created xsi:type="dcterms:W3CDTF">2022-01-26T07:42:41Z</dcterms:created>
  <dcterms:modified xsi:type="dcterms:W3CDTF">2022-10-11T10:09:40Z</dcterms:modified>
</cp:coreProperties>
</file>