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308" r:id="rId4"/>
    <p:sldId id="339" r:id="rId5"/>
    <p:sldId id="340" r:id="rId6"/>
    <p:sldId id="341" r:id="rId7"/>
    <p:sldId id="342" r:id="rId8"/>
    <p:sldId id="343" r:id="rId9"/>
    <p:sldId id="344" r:id="rId10"/>
    <p:sldId id="345" r:id="rId11"/>
    <p:sldId id="309" r:id="rId12"/>
    <p:sldId id="310" r:id="rId13"/>
    <p:sldId id="311" r:id="rId14"/>
    <p:sldId id="312" r:id="rId15"/>
    <p:sldId id="313" r:id="rId16"/>
    <p:sldId id="314" r:id="rId17"/>
    <p:sldId id="346" r:id="rId18"/>
    <p:sldId id="347" r:id="rId19"/>
    <p:sldId id="348" r:id="rId20"/>
    <p:sldId id="349" r:id="rId21"/>
    <p:sldId id="350" r:id="rId22"/>
    <p:sldId id="261" r:id="rId23"/>
    <p:sldId id="315" r:id="rId24"/>
    <p:sldId id="316" r:id="rId25"/>
    <p:sldId id="317" r:id="rId26"/>
    <p:sldId id="318" r:id="rId27"/>
    <p:sldId id="351" r:id="rId28"/>
    <p:sldId id="352" r:id="rId29"/>
    <p:sldId id="353" r:id="rId30"/>
    <p:sldId id="330" r:id="rId31"/>
    <p:sldId id="359" r:id="rId32"/>
    <p:sldId id="334" r:id="rId33"/>
    <p:sldId id="355" r:id="rId34"/>
    <p:sldId id="356" r:id="rId35"/>
    <p:sldId id="357" r:id="rId36"/>
    <p:sldId id="358"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5" autoAdjust="0"/>
    <p:restoredTop sz="94660"/>
  </p:normalViewPr>
  <p:slideViewPr>
    <p:cSldViewPr snapToGrid="0">
      <p:cViewPr varScale="1">
        <p:scale>
          <a:sx n="78" d="100"/>
          <a:sy n="78" d="100"/>
        </p:scale>
        <p:origin x="2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10/4/2022</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20554" y="2452817"/>
            <a:ext cx="7160267" cy="1439562"/>
          </a:xfrm>
        </p:spPr>
        <p:txBody>
          <a:bodyPr>
            <a:normAutofit fontScale="90000"/>
          </a:bodyPr>
          <a:lstStyle/>
          <a:p>
            <a:pPr algn="ctr"/>
            <a:r>
              <a:rPr lang="en-US" dirty="0" smtClean="0">
                <a:latin typeface="Calibri" panose="020F0502020204030204" pitchFamily="34" charset="0"/>
                <a:cs typeface="Calibri" panose="020F0502020204030204" pitchFamily="34" charset="0"/>
              </a:rPr>
              <a:t>COSC 0150:</a:t>
            </a:r>
            <a:br>
              <a:rPr lang="en-US" dirty="0" smtClean="0">
                <a:latin typeface="Calibri" panose="020F0502020204030204" pitchFamily="34" charset="0"/>
                <a:cs typeface="Calibri" panose="020F0502020204030204" pitchFamily="34" charset="0"/>
              </a:rPr>
            </a:br>
            <a:r>
              <a:rPr lang="en-US" dirty="0" smtClean="0">
                <a:latin typeface="Calibri" panose="020F0502020204030204" pitchFamily="34" charset="0"/>
                <a:cs typeface="Calibri" panose="020F0502020204030204" pitchFamily="34" charset="0"/>
              </a:rPr>
              <a:t>DATABASE SYSTEMS 1</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591571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2295" y="625712"/>
            <a:ext cx="9404723" cy="708817"/>
          </a:xfrm>
        </p:spPr>
        <p:txBody>
          <a:bodyPr/>
          <a:lstStyle/>
          <a:p>
            <a:pPr algn="ctr"/>
            <a:r>
              <a:rPr lang="en-US" dirty="0">
                <a:latin typeface="Calibri" panose="020F0502020204030204" pitchFamily="34" charset="0"/>
                <a:cs typeface="Calibri" panose="020F0502020204030204" pitchFamily="34" charset="0"/>
              </a:rPr>
              <a:t>Definition of </a:t>
            </a:r>
            <a:r>
              <a:rPr lang="en-US" dirty="0" smtClean="0">
                <a:latin typeface="Calibri" panose="020F0502020204030204" pitchFamily="34" charset="0"/>
                <a:cs typeface="Calibri" panose="020F0502020204030204" pitchFamily="34" charset="0"/>
              </a:rPr>
              <a:t>terms</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572870" y="1495167"/>
            <a:ext cx="9820061" cy="4843849"/>
          </a:xfrm>
        </p:spPr>
        <p:txBody>
          <a:bodyPr>
            <a:normAutofit/>
          </a:bodyPr>
          <a:lstStyle/>
          <a:p>
            <a:pPr>
              <a:lnSpc>
                <a:spcPct val="200000"/>
              </a:lnSpc>
            </a:pPr>
            <a:r>
              <a:rPr lang="en-US" dirty="0">
                <a:latin typeface="Calibri" panose="020F0502020204030204" pitchFamily="34" charset="0"/>
                <a:cs typeface="Calibri" panose="020F0502020204030204" pitchFamily="34" charset="0"/>
              </a:rPr>
              <a:t>Data: It is a collection of facts and figures that can be processed to produce information.</a:t>
            </a:r>
          </a:p>
          <a:p>
            <a:pPr>
              <a:lnSpc>
                <a:spcPct val="200000"/>
              </a:lnSpc>
            </a:pPr>
            <a:r>
              <a:rPr lang="en-US" dirty="0">
                <a:latin typeface="Calibri" panose="020F0502020204030204" pitchFamily="34" charset="0"/>
                <a:cs typeface="Calibri" panose="020F0502020204030204" pitchFamily="34" charset="0"/>
              </a:rPr>
              <a:t>Information is the processed data on which decisions and actions are based. Information can be defined as the organized and classified data to provide meaningful values.</a:t>
            </a:r>
          </a:p>
          <a:p>
            <a:pPr>
              <a:lnSpc>
                <a:spcPct val="200000"/>
              </a:lnSpc>
            </a:pPr>
            <a:r>
              <a:rPr lang="en-US" dirty="0">
                <a:latin typeface="Calibri" panose="020F0502020204030204" pitchFamily="34" charset="0"/>
                <a:cs typeface="Calibri" panose="020F0502020204030204" pitchFamily="34" charset="0"/>
              </a:rPr>
              <a:t>Database   </a:t>
            </a:r>
            <a:r>
              <a:rPr lang="en-US" dirty="0" smtClean="0">
                <a:latin typeface="Calibri" panose="020F0502020204030204" pitchFamily="34" charset="0"/>
                <a:cs typeface="Calibri" panose="020F0502020204030204" pitchFamily="34" charset="0"/>
              </a:rPr>
              <a:t>A database </a:t>
            </a:r>
            <a:r>
              <a:rPr lang="en-US" dirty="0">
                <a:latin typeface="Calibri" panose="020F0502020204030204" pitchFamily="34" charset="0"/>
                <a:cs typeface="Calibri" panose="020F0502020204030204" pitchFamily="34" charset="0"/>
              </a:rPr>
              <a:t>is </a:t>
            </a:r>
            <a:r>
              <a:rPr lang="en-US" dirty="0" smtClean="0">
                <a:latin typeface="Calibri" panose="020F0502020204030204" pitchFamily="34" charset="0"/>
                <a:cs typeface="Calibri" panose="020F0502020204030204" pitchFamily="34" charset="0"/>
              </a:rPr>
              <a:t>an integrated collection of </a:t>
            </a:r>
            <a:r>
              <a:rPr lang="en-US" dirty="0">
                <a:latin typeface="Calibri" panose="020F0502020204030204" pitchFamily="34" charset="0"/>
                <a:cs typeface="Calibri" panose="020F0502020204030204" pitchFamily="34" charset="0"/>
              </a:rPr>
              <a:t>logically related records or files consolidated into a common </a:t>
            </a:r>
            <a:r>
              <a:rPr lang="en-US" dirty="0" smtClean="0">
                <a:latin typeface="Calibri" panose="020F0502020204030204" pitchFamily="34" charset="0"/>
                <a:cs typeface="Calibri" panose="020F0502020204030204" pitchFamily="34" charset="0"/>
              </a:rPr>
              <a:t>pool </a:t>
            </a:r>
            <a:r>
              <a:rPr lang="en-US" dirty="0">
                <a:latin typeface="Calibri" panose="020F0502020204030204" pitchFamily="34" charset="0"/>
                <a:cs typeface="Calibri" panose="020F0502020204030204" pitchFamily="34" charset="0"/>
              </a:rPr>
              <a:t>that provides data	for one	or more multiple uses</a:t>
            </a:r>
            <a:r>
              <a:rPr lang="en-US" dirty="0" smtClean="0">
                <a:latin typeface="Calibri" panose="020F0502020204030204" pitchFamily="34" charset="0"/>
                <a:cs typeface="Calibri" panose="020F0502020204030204" pitchFamily="34" charset="0"/>
              </a:rPr>
              <a:t>.</a:t>
            </a:r>
          </a:p>
          <a:p>
            <a:pPr>
              <a:lnSpc>
                <a:spcPct val="200000"/>
              </a:lnSpc>
            </a:pPr>
            <a:r>
              <a:rPr lang="en-US" dirty="0" smtClean="0">
                <a:latin typeface="Calibri" panose="020F0502020204030204" pitchFamily="34" charset="0"/>
                <a:cs typeface="Calibri" panose="020F0502020204030204" pitchFamily="34" charset="0"/>
              </a:rPr>
              <a:t>A </a:t>
            </a:r>
            <a:r>
              <a:rPr lang="en-US" dirty="0">
                <a:latin typeface="Calibri" panose="020F0502020204030204" pitchFamily="34" charset="0"/>
                <a:cs typeface="Calibri" panose="020F0502020204030204" pitchFamily="34" charset="0"/>
              </a:rPr>
              <a:t>database is designed, built, and populated with data for a specific purpose. It has an intended group of users and some preconceived applications in which these users are interested</a:t>
            </a:r>
            <a:endParaRPr lang="en-US" dirty="0" smtClean="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84018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94022" y="951470"/>
            <a:ext cx="10169610" cy="5362833"/>
          </a:xfrm>
        </p:spPr>
        <p:txBody>
          <a:bodyPr>
            <a:noAutofit/>
          </a:bodyPr>
          <a:lstStyle/>
          <a:p>
            <a:pPr>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Before the use of computer, a manual file system was used to maintain the records and files. All the data was stored in </a:t>
            </a:r>
            <a:r>
              <a:rPr lang="en-US" dirty="0" smtClean="0">
                <a:latin typeface="Calibri" panose="020F0502020204030204" pitchFamily="34" charset="0"/>
                <a:cs typeface="Calibri" panose="020F0502020204030204" pitchFamily="34" charset="0"/>
              </a:rPr>
              <a:t>files. </a:t>
            </a:r>
            <a:r>
              <a:rPr lang="en-US" dirty="0">
                <a:latin typeface="Calibri" panose="020F0502020204030204" pitchFamily="34" charset="0"/>
                <a:cs typeface="Calibri" panose="020F0502020204030204" pitchFamily="34" charset="0"/>
              </a:rPr>
              <a:t>But this system was good only for small organizations having small number of items</a:t>
            </a:r>
            <a:r>
              <a:rPr lang="en-US" dirty="0" smtClean="0">
                <a:latin typeface="Calibri" panose="020F0502020204030204" pitchFamily="34" charset="0"/>
                <a:cs typeface="Calibri" panose="020F0502020204030204" pitchFamily="34" charset="0"/>
              </a:rPr>
              <a:t>.</a:t>
            </a:r>
          </a:p>
          <a:p>
            <a:pPr fontAlgn="base">
              <a:buFont typeface="Wingdings" panose="05000000000000000000" pitchFamily="2" charset="2"/>
              <a:buChar char="v"/>
            </a:pPr>
            <a:r>
              <a:rPr lang="en-US" dirty="0">
                <a:latin typeface="Calibri" panose="020F0502020204030204" pitchFamily="34" charset="0"/>
                <a:cs typeface="Calibri" panose="020F0502020204030204" pitchFamily="34" charset="0"/>
              </a:rPr>
              <a:t>I</a:t>
            </a:r>
            <a:r>
              <a:rPr lang="en-US" dirty="0" smtClean="0">
                <a:latin typeface="Calibri" panose="020F0502020204030204" pitchFamily="34" charset="0"/>
                <a:cs typeface="Calibri" panose="020F0502020204030204" pitchFamily="34" charset="0"/>
              </a:rPr>
              <a:t>t </a:t>
            </a:r>
            <a:r>
              <a:rPr lang="en-US" dirty="0">
                <a:latin typeface="Calibri" panose="020F0502020204030204" pitchFamily="34" charset="0"/>
                <a:cs typeface="Calibri" panose="020F0502020204030204" pitchFamily="34" charset="0"/>
              </a:rPr>
              <a:t>has many </a:t>
            </a:r>
            <a:r>
              <a:rPr lang="en-US" b="1" dirty="0">
                <a:latin typeface="Calibri" panose="020F0502020204030204" pitchFamily="34" charset="0"/>
                <a:cs typeface="Calibri" panose="020F0502020204030204" pitchFamily="34" charset="0"/>
              </a:rPr>
              <a:t>disadvantages</a:t>
            </a:r>
            <a:r>
              <a:rPr lang="en-US" dirty="0">
                <a:latin typeface="Calibri" panose="020F0502020204030204" pitchFamily="34" charset="0"/>
                <a:cs typeface="Calibri" panose="020F0502020204030204" pitchFamily="34" charset="0"/>
              </a:rPr>
              <a:t> given below:</a:t>
            </a:r>
          </a:p>
          <a:p>
            <a:pPr lvl="1" fontAlgn="base">
              <a:buFont typeface="Wingdings" panose="05000000000000000000" pitchFamily="2" charset="2"/>
              <a:buChar char="v"/>
            </a:pPr>
            <a:r>
              <a:rPr lang="en-US" sz="1800" dirty="0">
                <a:latin typeface="Calibri" panose="020F0502020204030204" pitchFamily="34" charset="0"/>
                <a:cs typeface="Calibri" panose="020F0502020204030204" pitchFamily="34" charset="0"/>
              </a:rPr>
              <a:t>It was </a:t>
            </a:r>
            <a:r>
              <a:rPr lang="en-US" sz="1800" b="1" dirty="0">
                <a:latin typeface="Calibri" panose="020F0502020204030204" pitchFamily="34" charset="0"/>
                <a:cs typeface="Calibri" panose="020F0502020204030204" pitchFamily="34" charset="0"/>
              </a:rPr>
              <a:t>time consuming</a:t>
            </a:r>
            <a:r>
              <a:rPr lang="en-US" sz="1800" dirty="0">
                <a:latin typeface="Calibri" panose="020F0502020204030204" pitchFamily="34" charset="0"/>
                <a:cs typeface="Calibri" panose="020F0502020204030204" pitchFamily="34" charset="0"/>
              </a:rPr>
              <a:t>.</a:t>
            </a:r>
          </a:p>
          <a:p>
            <a:pPr lvl="1" fontAlgn="base">
              <a:buFont typeface="Wingdings" panose="05000000000000000000" pitchFamily="2" charset="2"/>
              <a:buChar char="v"/>
            </a:pPr>
            <a:r>
              <a:rPr lang="en-US" sz="1800" b="1" dirty="0">
                <a:latin typeface="Calibri" panose="020F0502020204030204" pitchFamily="34" charset="0"/>
                <a:cs typeface="Calibri" panose="020F0502020204030204" pitchFamily="34" charset="0"/>
              </a:rPr>
              <a:t>Inefficient</a:t>
            </a:r>
            <a:r>
              <a:rPr lang="en-US" sz="1800" dirty="0">
                <a:latin typeface="Calibri" panose="020F0502020204030204" pitchFamily="34" charset="0"/>
                <a:cs typeface="Calibri" panose="020F0502020204030204" pitchFamily="34" charset="0"/>
              </a:rPr>
              <a:t> to maintain the record of big firm having large number of items.</a:t>
            </a:r>
          </a:p>
          <a:p>
            <a:pPr lvl="1" fontAlgn="base">
              <a:buFont typeface="Wingdings" panose="05000000000000000000" pitchFamily="2" charset="2"/>
              <a:buChar char="v"/>
            </a:pPr>
            <a:r>
              <a:rPr lang="en-US" sz="1800" dirty="0">
                <a:latin typeface="Calibri" panose="020F0502020204030204" pitchFamily="34" charset="0"/>
                <a:cs typeface="Calibri" panose="020F0502020204030204" pitchFamily="34" charset="0"/>
              </a:rPr>
              <a:t>It requires a </a:t>
            </a:r>
            <a:r>
              <a:rPr lang="en-US" sz="1800" b="1" dirty="0">
                <a:latin typeface="Calibri" panose="020F0502020204030204" pitchFamily="34" charset="0"/>
                <a:cs typeface="Calibri" panose="020F0502020204030204" pitchFamily="34" charset="0"/>
              </a:rPr>
              <a:t>lots of labor work</a:t>
            </a:r>
            <a:r>
              <a:rPr lang="en-US" sz="1800" dirty="0">
                <a:latin typeface="Calibri" panose="020F0502020204030204" pitchFamily="34" charset="0"/>
                <a:cs typeface="Calibri" panose="020F0502020204030204" pitchFamily="34" charset="0"/>
              </a:rPr>
              <a:t> to do.</a:t>
            </a:r>
          </a:p>
          <a:p>
            <a:pPr lvl="1" fontAlgn="base">
              <a:buFont typeface="Wingdings" panose="05000000000000000000" pitchFamily="2" charset="2"/>
              <a:buChar char="v"/>
            </a:pPr>
            <a:r>
              <a:rPr lang="en-US" sz="1800" dirty="0">
                <a:latin typeface="Calibri" panose="020F0502020204030204" pitchFamily="34" charset="0"/>
                <a:cs typeface="Calibri" panose="020F0502020204030204" pitchFamily="34" charset="0"/>
              </a:rPr>
              <a:t>It becomes more complex when anyone requires changing the information.</a:t>
            </a:r>
          </a:p>
          <a:p>
            <a:pPr>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To overcome these disadvantages and to make the processing fast, </a:t>
            </a:r>
            <a:r>
              <a:rPr lang="en-US" b="1" dirty="0">
                <a:latin typeface="Calibri" panose="020F0502020204030204" pitchFamily="34" charset="0"/>
                <a:cs typeface="Calibri" panose="020F0502020204030204" pitchFamily="34" charset="0"/>
              </a:rPr>
              <a:t>File Processing System</a:t>
            </a:r>
            <a:r>
              <a:rPr lang="en-US" dirty="0">
                <a:latin typeface="Calibri" panose="020F0502020204030204" pitchFamily="34" charset="0"/>
                <a:cs typeface="Calibri" panose="020F0502020204030204" pitchFamily="34" charset="0"/>
              </a:rPr>
              <a:t> was introduced. This system was able to solve all the above </a:t>
            </a:r>
            <a:r>
              <a:rPr lang="en-US" dirty="0" smtClean="0">
                <a:latin typeface="Calibri" panose="020F0502020204030204" pitchFamily="34" charset="0"/>
                <a:cs typeface="Calibri" panose="020F0502020204030204" pitchFamily="34" charset="0"/>
              </a:rPr>
              <a:t>problems</a:t>
            </a:r>
            <a:r>
              <a:rPr lang="en-US" dirty="0">
                <a:latin typeface="Calibri" panose="020F0502020204030204" pitchFamily="34" charset="0"/>
                <a:cs typeface="Calibri" panose="020F0502020204030204" pitchFamily="34" charset="0"/>
              </a:rPr>
              <a:t> </a:t>
            </a:r>
            <a:r>
              <a:rPr lang="en-US" dirty="0" smtClean="0">
                <a:latin typeface="Calibri" panose="020F0502020204030204" pitchFamily="34" charset="0"/>
                <a:cs typeface="Calibri" panose="020F0502020204030204" pitchFamily="34" charset="0"/>
              </a:rPr>
              <a:t>but also had its disadvantages</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400234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64599" y="428004"/>
            <a:ext cx="6644374" cy="708818"/>
          </a:xfrm>
        </p:spPr>
        <p:txBody>
          <a:bodyPr>
            <a:normAutofit/>
          </a:bodyPr>
          <a:lstStyle/>
          <a:p>
            <a:pPr fontAlgn="base"/>
            <a:r>
              <a:rPr lang="en-US" b="1" dirty="0">
                <a:latin typeface="Calibri" panose="020F0502020204030204" pitchFamily="34" charset="0"/>
                <a:cs typeface="Calibri" panose="020F0502020204030204" pitchFamily="34" charset="0"/>
              </a:rPr>
              <a:t>Traditional File Processing </a:t>
            </a:r>
            <a:r>
              <a:rPr lang="en-US" b="1" dirty="0" smtClean="0">
                <a:latin typeface="Calibri" panose="020F0502020204030204" pitchFamily="34" charset="0"/>
                <a:cs typeface="Calibri" panose="020F0502020204030204" pitchFamily="34" charset="0"/>
              </a:rPr>
              <a:t>System</a:t>
            </a:r>
            <a:endParaRPr lang="en-US" b="1"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013253" y="1260386"/>
            <a:ext cx="5647038" cy="5251625"/>
          </a:xfrm>
        </p:spPr>
        <p:txBody>
          <a:bodyPr>
            <a:noAutofit/>
          </a:bodyPr>
          <a:lstStyle/>
          <a:p>
            <a:pPr>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It was totally computer based system where all the information </a:t>
            </a:r>
            <a:r>
              <a:rPr lang="en-US" dirty="0" smtClean="0">
                <a:latin typeface="Calibri" panose="020F0502020204030204" pitchFamily="34" charset="0"/>
                <a:cs typeface="Calibri" panose="020F0502020204030204" pitchFamily="34" charset="0"/>
              </a:rPr>
              <a:t>was stored </a:t>
            </a:r>
            <a:r>
              <a:rPr lang="en-US" dirty="0">
                <a:latin typeface="Calibri" panose="020F0502020204030204" pitchFamily="34" charset="0"/>
                <a:cs typeface="Calibri" panose="020F0502020204030204" pitchFamily="34" charset="0"/>
              </a:rPr>
              <a:t>in different computer files.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Additionally, traditional </a:t>
            </a:r>
            <a:r>
              <a:rPr lang="en-US" dirty="0">
                <a:latin typeface="Calibri" panose="020F0502020204030204" pitchFamily="34" charset="0"/>
                <a:cs typeface="Calibri" panose="020F0502020204030204" pitchFamily="34" charset="0"/>
              </a:rPr>
              <a:t>files system stores data in a manner that all the departments of an organization have their own set of files that </a:t>
            </a:r>
            <a:r>
              <a:rPr lang="en-US" b="1" dirty="0">
                <a:latin typeface="Calibri" panose="020F0502020204030204" pitchFamily="34" charset="0"/>
                <a:cs typeface="Calibri" panose="020F0502020204030204" pitchFamily="34" charset="0"/>
              </a:rPr>
              <a:t>creates data redundancy</a:t>
            </a:r>
            <a:r>
              <a:rPr lang="en-US" dirty="0" smtClean="0">
                <a:latin typeface="Calibri" panose="020F0502020204030204" pitchFamily="34" charset="0"/>
                <a:cs typeface="Calibri" panose="020F0502020204030204" pitchFamily="34" charset="0"/>
              </a:rPr>
              <a:t>.</a:t>
            </a:r>
          </a:p>
          <a:p>
            <a:pPr>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A typical </a:t>
            </a:r>
            <a:r>
              <a:rPr lang="en-US" b="1" dirty="0">
                <a:latin typeface="Calibri" panose="020F0502020204030204" pitchFamily="34" charset="0"/>
                <a:cs typeface="Calibri" panose="020F0502020204030204" pitchFamily="34" charset="0"/>
              </a:rPr>
              <a:t>Traditional File Processing Systems</a:t>
            </a:r>
            <a:r>
              <a:rPr lang="en-US" dirty="0">
                <a:latin typeface="Calibri" panose="020F0502020204030204" pitchFamily="34" charset="0"/>
                <a:cs typeface="Calibri" panose="020F0502020204030204" pitchFamily="34" charset="0"/>
              </a:rPr>
              <a:t> is shown in the diagram that shows program and data independency.</a:t>
            </a:r>
          </a:p>
        </p:txBody>
      </p:sp>
      <p:pic>
        <p:nvPicPr>
          <p:cNvPr id="4" name="Picture 3"/>
          <p:cNvPicPr>
            <a:picLocks noChangeAspect="1"/>
          </p:cNvPicPr>
          <p:nvPr/>
        </p:nvPicPr>
        <p:blipFill>
          <a:blip r:embed="rId2"/>
          <a:stretch>
            <a:fillRect/>
          </a:stretch>
        </p:blipFill>
        <p:spPr>
          <a:xfrm>
            <a:off x="6731261" y="2096908"/>
            <a:ext cx="4858428" cy="3801005"/>
          </a:xfrm>
          <a:prstGeom prst="rect">
            <a:avLst/>
          </a:prstGeom>
        </p:spPr>
      </p:pic>
    </p:spTree>
    <p:extLst>
      <p:ext uri="{BB962C8B-B14F-4D97-AF65-F5344CB8AC3E}">
        <p14:creationId xmlns:p14="http://schemas.microsoft.com/office/powerpoint/2010/main" val="224087224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6437" y="428004"/>
            <a:ext cx="9758276" cy="708818"/>
          </a:xfrm>
        </p:spPr>
        <p:txBody>
          <a:bodyPr>
            <a:normAutofit fontScale="90000"/>
          </a:bodyPr>
          <a:lstStyle/>
          <a:p>
            <a:pPr fontAlgn="base"/>
            <a:r>
              <a:rPr lang="en-US" b="1" dirty="0">
                <a:latin typeface="Calibri" panose="020F0502020204030204" pitchFamily="34" charset="0"/>
                <a:cs typeface="Calibri" panose="020F0502020204030204" pitchFamily="34" charset="0"/>
              </a:rPr>
              <a:t>Characteristics OF Traditional File Processing System</a:t>
            </a:r>
          </a:p>
        </p:txBody>
      </p:sp>
      <p:sp>
        <p:nvSpPr>
          <p:cNvPr id="3" name="Content Placeholder 2"/>
          <p:cNvSpPr>
            <a:spLocks noGrp="1"/>
          </p:cNvSpPr>
          <p:nvPr>
            <p:ph idx="1"/>
          </p:nvPr>
        </p:nvSpPr>
        <p:spPr>
          <a:xfrm>
            <a:off x="2162432" y="1556950"/>
            <a:ext cx="9008076" cy="4744995"/>
          </a:xfrm>
        </p:spPr>
        <p:txBody>
          <a:bodyPr>
            <a:noAutofit/>
          </a:bodyPr>
          <a:lstStyle/>
          <a:p>
            <a:pPr fontAlgn="base">
              <a:lnSpc>
                <a:spcPct val="15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It stores data of an organization in group of files.</a:t>
            </a:r>
          </a:p>
          <a:p>
            <a:pPr fontAlgn="base">
              <a:lnSpc>
                <a:spcPct val="15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Files carrying data are independent on each other.</a:t>
            </a:r>
          </a:p>
          <a:p>
            <a:pPr fontAlgn="base">
              <a:lnSpc>
                <a:spcPct val="150000"/>
              </a:lnSpc>
              <a:buFont typeface="Wingdings" panose="05000000000000000000" pitchFamily="2" charset="2"/>
              <a:buChar char="v"/>
            </a:pPr>
            <a:r>
              <a:rPr lang="en-US" b="1" dirty="0">
                <a:latin typeface="Calibri" panose="020F0502020204030204" pitchFamily="34" charset="0"/>
                <a:cs typeface="Calibri" panose="020F0502020204030204" pitchFamily="34" charset="0"/>
              </a:rPr>
              <a:t>COBOL, C, C++</a:t>
            </a:r>
            <a:r>
              <a:rPr lang="en-US" dirty="0">
                <a:latin typeface="Calibri" panose="020F0502020204030204" pitchFamily="34" charset="0"/>
                <a:cs typeface="Calibri" panose="020F0502020204030204" pitchFamily="34" charset="0"/>
              </a:rPr>
              <a:t> programming languages were used to design the files.</a:t>
            </a:r>
          </a:p>
          <a:p>
            <a:pPr fontAlgn="base">
              <a:lnSpc>
                <a:spcPct val="15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Each file contains data for some specific area or department like library, student fees, and student examinations.</a:t>
            </a:r>
          </a:p>
          <a:p>
            <a:pPr fontAlgn="base">
              <a:lnSpc>
                <a:spcPct val="15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It is less flexible and has many limitations.</a:t>
            </a:r>
          </a:p>
          <a:p>
            <a:pPr fontAlgn="base">
              <a:lnSpc>
                <a:spcPct val="15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It is very difficult to maintain file processing system.</a:t>
            </a:r>
          </a:p>
          <a:p>
            <a:pPr fontAlgn="base">
              <a:lnSpc>
                <a:spcPct val="15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Any change in one file affects all the files that creates burden on the programmer</a:t>
            </a:r>
            <a:r>
              <a:rPr lang="en-US" dirty="0" smtClean="0">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662923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73892" y="1124464"/>
            <a:ext cx="10033686" cy="4856205"/>
          </a:xfrm>
        </p:spPr>
        <p:txBody>
          <a:bodyPr>
            <a:noAutofit/>
          </a:bodyPr>
          <a:lstStyle/>
          <a:p>
            <a:pPr fontAlgn="base">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Overall, </a:t>
            </a:r>
            <a:r>
              <a:rPr lang="en-US" b="1" dirty="0">
                <a:latin typeface="Calibri" panose="020F0502020204030204" pitchFamily="34" charset="0"/>
                <a:cs typeface="Calibri" panose="020F0502020204030204" pitchFamily="34" charset="0"/>
              </a:rPr>
              <a:t>Traditional File Processing Systems </a:t>
            </a:r>
            <a:r>
              <a:rPr lang="en-US" dirty="0">
                <a:latin typeface="Calibri" panose="020F0502020204030204" pitchFamily="34" charset="0"/>
                <a:cs typeface="Calibri" panose="020F0502020204030204" pitchFamily="34" charset="0"/>
              </a:rPr>
              <a:t>was good in many cases in </a:t>
            </a:r>
            <a:r>
              <a:rPr lang="en-US" dirty="0" smtClean="0">
                <a:latin typeface="Calibri" panose="020F0502020204030204" pitchFamily="34" charset="0"/>
                <a:cs typeface="Calibri" panose="020F0502020204030204" pitchFamily="34" charset="0"/>
              </a:rPr>
              <a:t>comparison </a:t>
            </a:r>
            <a:r>
              <a:rPr lang="en-US" dirty="0">
                <a:latin typeface="Calibri" panose="020F0502020204030204" pitchFamily="34" charset="0"/>
                <a:cs typeface="Calibri" panose="020F0502020204030204" pitchFamily="34" charset="0"/>
              </a:rPr>
              <a:t>to manual non computer based system but still it had many disadvantages that were overcome by Data Base Management System.</a:t>
            </a:r>
          </a:p>
        </p:txBody>
      </p:sp>
    </p:spTree>
    <p:extLst>
      <p:ext uri="{BB962C8B-B14F-4D97-AF65-F5344CB8AC3E}">
        <p14:creationId xmlns:p14="http://schemas.microsoft.com/office/powerpoint/2010/main" val="39210918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27777" y="465074"/>
            <a:ext cx="7052148" cy="906525"/>
          </a:xfrm>
        </p:spPr>
        <p:txBody>
          <a:bodyPr>
            <a:normAutofit fontScale="90000"/>
          </a:bodyPr>
          <a:lstStyle/>
          <a:p>
            <a:pPr algn="ctr"/>
            <a:r>
              <a:rPr lang="en-US" dirty="0" smtClean="0">
                <a:latin typeface="Calibri" panose="020F0502020204030204" pitchFamily="34" charset="0"/>
                <a:cs typeface="Calibri" panose="020F0502020204030204" pitchFamily="34" charset="0"/>
              </a:rPr>
              <a:t>Database Management System (DBMS)</a:t>
            </a:r>
            <a:endParaRPr lang="en-US" dirty="0"/>
          </a:p>
        </p:txBody>
      </p:sp>
      <p:sp>
        <p:nvSpPr>
          <p:cNvPr id="3" name="Content Placeholder 2"/>
          <p:cNvSpPr>
            <a:spLocks noGrp="1"/>
          </p:cNvSpPr>
          <p:nvPr>
            <p:ph idx="1"/>
          </p:nvPr>
        </p:nvSpPr>
        <p:spPr>
          <a:xfrm>
            <a:off x="902043" y="1322173"/>
            <a:ext cx="10935729" cy="5049794"/>
          </a:xfrm>
        </p:spPr>
        <p:txBody>
          <a:bodyPr>
            <a:normAutofit/>
          </a:bodyPr>
          <a:lstStyle/>
          <a:p>
            <a:pPr>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A database management system (DBMS) is a collection of programs that enables users to create and maintain a database.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The </a:t>
            </a:r>
            <a:r>
              <a:rPr lang="en-US" dirty="0">
                <a:latin typeface="Calibri" panose="020F0502020204030204" pitchFamily="34" charset="0"/>
                <a:cs typeface="Calibri" panose="020F0502020204030204" pitchFamily="34" charset="0"/>
              </a:rPr>
              <a:t>DBMS is hence a general-purpose software system that facilitates the processes of defining, constructing, manipulating, and sharing databases among various users and applications. </a:t>
            </a:r>
            <a:endParaRPr lang="en-US" dirty="0" smtClean="0">
              <a:latin typeface="Calibri" panose="020F0502020204030204" pitchFamily="34" charset="0"/>
              <a:cs typeface="Calibri" panose="020F0502020204030204" pitchFamily="34" charset="0"/>
            </a:endParaRPr>
          </a:p>
          <a:p>
            <a:pPr lvl="1">
              <a:lnSpc>
                <a:spcPct val="200000"/>
              </a:lnSpc>
              <a:buFont typeface="Wingdings" panose="05000000000000000000" pitchFamily="2" charset="2"/>
              <a:buChar char="ü"/>
            </a:pPr>
            <a:r>
              <a:rPr lang="en-US" sz="1800" b="1" dirty="0" smtClean="0">
                <a:latin typeface="Calibri" panose="020F0502020204030204" pitchFamily="34" charset="0"/>
                <a:cs typeface="Calibri" panose="020F0502020204030204" pitchFamily="34" charset="0"/>
              </a:rPr>
              <a:t>Defining</a:t>
            </a:r>
            <a:r>
              <a:rPr lang="en-US" sz="1800" dirty="0" smtClean="0">
                <a:latin typeface="Calibri" panose="020F0502020204030204" pitchFamily="34" charset="0"/>
                <a:cs typeface="Calibri" panose="020F0502020204030204" pitchFamily="34" charset="0"/>
              </a:rPr>
              <a:t> </a:t>
            </a:r>
            <a:r>
              <a:rPr lang="en-US" sz="1800" dirty="0">
                <a:latin typeface="Calibri" panose="020F0502020204030204" pitchFamily="34" charset="0"/>
                <a:cs typeface="Calibri" panose="020F0502020204030204" pitchFamily="34" charset="0"/>
              </a:rPr>
              <a:t>a database involves specifying the data types, structures, and constraints for the data to be stored in the database. </a:t>
            </a:r>
            <a:endParaRPr lang="en-US" sz="1800" dirty="0" smtClean="0">
              <a:latin typeface="Calibri" panose="020F0502020204030204" pitchFamily="34" charset="0"/>
              <a:cs typeface="Calibri" panose="020F0502020204030204" pitchFamily="34" charset="0"/>
            </a:endParaRPr>
          </a:p>
          <a:p>
            <a:pPr lvl="1">
              <a:lnSpc>
                <a:spcPct val="200000"/>
              </a:lnSpc>
              <a:buFont typeface="Wingdings" panose="05000000000000000000" pitchFamily="2" charset="2"/>
              <a:buChar char="ü"/>
            </a:pPr>
            <a:r>
              <a:rPr lang="en-US" sz="1800" b="1" dirty="0" smtClean="0">
                <a:latin typeface="Calibri" panose="020F0502020204030204" pitchFamily="34" charset="0"/>
                <a:cs typeface="Calibri" panose="020F0502020204030204" pitchFamily="34" charset="0"/>
              </a:rPr>
              <a:t>Constructing </a:t>
            </a:r>
            <a:r>
              <a:rPr lang="en-US" sz="1800" dirty="0">
                <a:latin typeface="Calibri" panose="020F0502020204030204" pitchFamily="34" charset="0"/>
                <a:cs typeface="Calibri" panose="020F0502020204030204" pitchFamily="34" charset="0"/>
              </a:rPr>
              <a:t>the database is the process of storing the data itself on some storage medium that is controlled by the DBMS</a:t>
            </a:r>
            <a:r>
              <a:rPr lang="en-US" sz="1800" dirty="0" smtClean="0">
                <a:latin typeface="Calibri" panose="020F0502020204030204" pitchFamily="34" charset="0"/>
                <a:cs typeface="Calibri" panose="020F0502020204030204" pitchFamily="34" charset="0"/>
              </a:rPr>
              <a:t>.</a:t>
            </a:r>
            <a:endParaRPr lang="en-US"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671411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0134" y="526858"/>
            <a:ext cx="7052148" cy="906525"/>
          </a:xfrm>
        </p:spPr>
        <p:txBody>
          <a:bodyPr>
            <a:normAutofit fontScale="90000"/>
          </a:bodyPr>
          <a:lstStyle/>
          <a:p>
            <a:pPr algn="ctr"/>
            <a:r>
              <a:rPr lang="en-US" dirty="0" smtClean="0">
                <a:latin typeface="Calibri" panose="020F0502020204030204" pitchFamily="34" charset="0"/>
                <a:cs typeface="Calibri" panose="020F0502020204030204" pitchFamily="34" charset="0"/>
              </a:rPr>
              <a:t>Database Management System (DBMS)</a:t>
            </a:r>
            <a:endParaRPr lang="en-US" dirty="0"/>
          </a:p>
        </p:txBody>
      </p:sp>
      <p:sp>
        <p:nvSpPr>
          <p:cNvPr id="3" name="Content Placeholder 2"/>
          <p:cNvSpPr>
            <a:spLocks noGrp="1"/>
          </p:cNvSpPr>
          <p:nvPr>
            <p:ph idx="1"/>
          </p:nvPr>
        </p:nvSpPr>
        <p:spPr>
          <a:xfrm>
            <a:off x="1371600" y="1940010"/>
            <a:ext cx="9737124" cy="3793525"/>
          </a:xfrm>
        </p:spPr>
        <p:txBody>
          <a:bodyPr>
            <a:noAutofit/>
          </a:bodyPr>
          <a:lstStyle/>
          <a:p>
            <a:pPr>
              <a:lnSpc>
                <a:spcPct val="250000"/>
              </a:lnSpc>
              <a:buFont typeface="Wingdings" panose="05000000000000000000" pitchFamily="2" charset="2"/>
              <a:buChar char="ü"/>
            </a:pPr>
            <a:r>
              <a:rPr lang="en-US" b="1" dirty="0" smtClean="0">
                <a:latin typeface="Calibri" panose="020F0502020204030204" pitchFamily="34" charset="0"/>
                <a:cs typeface="Calibri" panose="020F0502020204030204" pitchFamily="34" charset="0"/>
              </a:rPr>
              <a:t>Manipulating</a:t>
            </a:r>
            <a:r>
              <a:rPr lang="en-US" dirty="0" smtClean="0">
                <a:latin typeface="Calibri" panose="020F0502020204030204" pitchFamily="34" charset="0"/>
                <a:cs typeface="Calibri" panose="020F0502020204030204" pitchFamily="34" charset="0"/>
              </a:rPr>
              <a:t> a database includes such functions as querying the database to retrieve specific data, updating the database to reflect changes in the </a:t>
            </a:r>
            <a:r>
              <a:rPr lang="en-US" dirty="0" err="1" smtClean="0">
                <a:latin typeface="Calibri" panose="020F0502020204030204" pitchFamily="34" charset="0"/>
                <a:cs typeface="Calibri" panose="020F0502020204030204" pitchFamily="34" charset="0"/>
              </a:rPr>
              <a:t>miniworld</a:t>
            </a:r>
            <a:r>
              <a:rPr lang="en-US" dirty="0" smtClean="0">
                <a:latin typeface="Calibri" panose="020F0502020204030204" pitchFamily="34" charset="0"/>
                <a:cs typeface="Calibri" panose="020F0502020204030204" pitchFamily="34" charset="0"/>
              </a:rPr>
              <a:t>, and generating reports from the data. </a:t>
            </a:r>
          </a:p>
          <a:p>
            <a:pPr>
              <a:lnSpc>
                <a:spcPct val="250000"/>
              </a:lnSpc>
              <a:buFont typeface="Wingdings" panose="05000000000000000000" pitchFamily="2" charset="2"/>
              <a:buChar char="ü"/>
            </a:pPr>
            <a:r>
              <a:rPr lang="en-US" b="1" dirty="0" smtClean="0">
                <a:latin typeface="Calibri" panose="020F0502020204030204" pitchFamily="34" charset="0"/>
                <a:cs typeface="Calibri" panose="020F0502020204030204" pitchFamily="34" charset="0"/>
              </a:rPr>
              <a:t>Sharing</a:t>
            </a:r>
            <a:r>
              <a:rPr lang="en-US" dirty="0" smtClean="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 database allows multiple users and programs to access the database </a:t>
            </a:r>
            <a:r>
              <a:rPr lang="en-US" dirty="0" smtClean="0">
                <a:latin typeface="Calibri" panose="020F0502020204030204" pitchFamily="34" charset="0"/>
                <a:cs typeface="Calibri" panose="020F0502020204030204" pitchFamily="34" charset="0"/>
              </a:rPr>
              <a:t>concurrently.</a:t>
            </a:r>
          </a:p>
        </p:txBody>
      </p:sp>
    </p:spTree>
    <p:extLst>
      <p:ext uri="{BB962C8B-B14F-4D97-AF65-F5344CB8AC3E}">
        <p14:creationId xmlns:p14="http://schemas.microsoft.com/office/powerpoint/2010/main" val="34148083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28923" y="514502"/>
            <a:ext cx="7052148" cy="708818"/>
          </a:xfrm>
        </p:spPr>
        <p:txBody>
          <a:bodyPr>
            <a:normAutofit fontScale="90000"/>
          </a:bodyPr>
          <a:lstStyle/>
          <a:p>
            <a:pPr algn="ctr"/>
            <a:r>
              <a:rPr lang="en-US" dirty="0" smtClean="0">
                <a:latin typeface="Calibri" panose="020F0502020204030204" pitchFamily="34" charset="0"/>
                <a:cs typeface="Calibri" panose="020F0502020204030204" pitchFamily="34" charset="0"/>
              </a:rPr>
              <a:t>Database Management System (DBMS)</a:t>
            </a:r>
            <a:endParaRPr lang="en-US" dirty="0"/>
          </a:p>
        </p:txBody>
      </p:sp>
      <p:sp>
        <p:nvSpPr>
          <p:cNvPr id="3" name="Content Placeholder 2"/>
          <p:cNvSpPr>
            <a:spLocks noGrp="1"/>
          </p:cNvSpPr>
          <p:nvPr>
            <p:ph idx="1"/>
          </p:nvPr>
        </p:nvSpPr>
        <p:spPr>
          <a:xfrm>
            <a:off x="1334529" y="1408669"/>
            <a:ext cx="9576486" cy="5049794"/>
          </a:xfrm>
        </p:spPr>
        <p:txBody>
          <a:bodyPr>
            <a:noAutofit/>
          </a:bodyPr>
          <a:lstStyle/>
          <a:p>
            <a:pPr>
              <a:lnSpc>
                <a:spcPct val="200000"/>
              </a:lnSpc>
              <a:buFont typeface="Wingdings" panose="05000000000000000000" pitchFamily="2" charset="2"/>
              <a:buChar char="v"/>
            </a:pPr>
            <a:r>
              <a:rPr lang="en-US" sz="1900" dirty="0" smtClean="0">
                <a:latin typeface="Calibri" panose="020F0502020204030204" pitchFamily="34" charset="0"/>
                <a:cs typeface="Calibri" panose="020F0502020204030204" pitchFamily="34" charset="0"/>
              </a:rPr>
              <a:t>Other important functions provided by the DBMS include </a:t>
            </a:r>
          </a:p>
          <a:p>
            <a:pPr>
              <a:lnSpc>
                <a:spcPct val="200000"/>
              </a:lnSpc>
              <a:buFont typeface="Wingdings" panose="05000000000000000000" pitchFamily="2" charset="2"/>
              <a:buChar char="ü"/>
            </a:pPr>
            <a:r>
              <a:rPr lang="en-US" sz="1900" b="1" dirty="0" smtClean="0">
                <a:latin typeface="Calibri" panose="020F0502020204030204" pitchFamily="34" charset="0"/>
                <a:cs typeface="Calibri" panose="020F0502020204030204" pitchFamily="34" charset="0"/>
              </a:rPr>
              <a:t>Protecting the database</a:t>
            </a:r>
            <a:r>
              <a:rPr lang="en-US" sz="1900" dirty="0" smtClean="0">
                <a:latin typeface="Calibri" panose="020F0502020204030204" pitchFamily="34" charset="0"/>
                <a:cs typeface="Calibri" panose="020F0502020204030204" pitchFamily="34" charset="0"/>
              </a:rPr>
              <a:t>: Protection includes both system protection against hardware or software malfunction (or crashes), and security protection against unauthorized or malicious access</a:t>
            </a:r>
          </a:p>
          <a:p>
            <a:pPr>
              <a:lnSpc>
                <a:spcPct val="200000"/>
              </a:lnSpc>
              <a:buFont typeface="Wingdings" panose="05000000000000000000" pitchFamily="2" charset="2"/>
              <a:buChar char="ü"/>
            </a:pPr>
            <a:r>
              <a:rPr lang="en-US" sz="1900" b="1" dirty="0" smtClean="0">
                <a:latin typeface="Calibri" panose="020F0502020204030204" pitchFamily="34" charset="0"/>
                <a:cs typeface="Calibri" panose="020F0502020204030204" pitchFamily="34" charset="0"/>
              </a:rPr>
              <a:t>Maintaining</a:t>
            </a:r>
            <a:r>
              <a:rPr lang="en-US" sz="1900" dirty="0" smtClean="0">
                <a:latin typeface="Calibri" panose="020F0502020204030204" pitchFamily="34" charset="0"/>
                <a:cs typeface="Calibri" panose="020F0502020204030204" pitchFamily="34" charset="0"/>
              </a:rPr>
              <a:t> it over a long period of time: A typical large database may have a life cycle of many years, so the DBMS must be able to maintain the database system by allowing the system to evolve as requirements change over time.</a:t>
            </a:r>
            <a:endParaRPr lang="en-US" sz="19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260912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0134" y="526858"/>
            <a:ext cx="7052148" cy="535823"/>
          </a:xfrm>
        </p:spPr>
        <p:txBody>
          <a:bodyPr>
            <a:normAutofit fontScale="90000"/>
          </a:bodyPr>
          <a:lstStyle/>
          <a:p>
            <a:pPr algn="ctr"/>
            <a:r>
              <a:rPr lang="en-US" dirty="0" smtClean="0">
                <a:latin typeface="Calibri" panose="020F0502020204030204" pitchFamily="34" charset="0"/>
                <a:cs typeface="Calibri" panose="020F0502020204030204" pitchFamily="34" charset="0"/>
              </a:rPr>
              <a:t>Database Management System (DBMS)</a:t>
            </a:r>
            <a:endParaRPr lang="en-US" dirty="0"/>
          </a:p>
        </p:txBody>
      </p:sp>
      <p:sp>
        <p:nvSpPr>
          <p:cNvPr id="3" name="Content Placeholder 2"/>
          <p:cNvSpPr>
            <a:spLocks noGrp="1"/>
          </p:cNvSpPr>
          <p:nvPr>
            <p:ph idx="1"/>
          </p:nvPr>
        </p:nvSpPr>
        <p:spPr>
          <a:xfrm>
            <a:off x="1124465" y="1260389"/>
            <a:ext cx="9984259" cy="5214551"/>
          </a:xfrm>
        </p:spPr>
        <p:txBody>
          <a:bodyPr>
            <a:noAutofit/>
          </a:bodyPr>
          <a:lstStyle/>
          <a:p>
            <a:pPr>
              <a:lnSpc>
                <a:spcPct val="250000"/>
              </a:lnSpc>
              <a:buFont typeface="Wingdings" panose="05000000000000000000" pitchFamily="2" charset="2"/>
              <a:buChar char="ü"/>
            </a:pPr>
            <a:r>
              <a:rPr lang="en-US" dirty="0">
                <a:latin typeface="Calibri" panose="020F0502020204030204" pitchFamily="34" charset="0"/>
                <a:cs typeface="Calibri" panose="020F0502020204030204" pitchFamily="34" charset="0"/>
              </a:rPr>
              <a:t>A database in a DBMS could be viewed by lots of different people with different responsibilities. </a:t>
            </a:r>
            <a:r>
              <a:rPr lang="en-US" dirty="0" smtClean="0">
                <a:latin typeface="Calibri" panose="020F0502020204030204" pitchFamily="34" charset="0"/>
                <a:cs typeface="Calibri" panose="020F0502020204030204" pitchFamily="34" charset="0"/>
              </a:rPr>
              <a:t>For example</a:t>
            </a:r>
          </a:p>
        </p:txBody>
      </p:sp>
      <p:pic>
        <p:nvPicPr>
          <p:cNvPr id="4" name="Picture 3"/>
          <p:cNvPicPr>
            <a:picLocks noChangeAspect="1"/>
          </p:cNvPicPr>
          <p:nvPr/>
        </p:nvPicPr>
        <p:blipFill>
          <a:blip r:embed="rId2"/>
          <a:stretch>
            <a:fillRect/>
          </a:stretch>
        </p:blipFill>
        <p:spPr>
          <a:xfrm>
            <a:off x="3521676" y="2245114"/>
            <a:ext cx="5338120" cy="3698485"/>
          </a:xfrm>
          <a:prstGeom prst="rect">
            <a:avLst/>
          </a:prstGeom>
        </p:spPr>
      </p:pic>
    </p:spTree>
    <p:extLst>
      <p:ext uri="{BB962C8B-B14F-4D97-AF65-F5344CB8AC3E}">
        <p14:creationId xmlns:p14="http://schemas.microsoft.com/office/powerpoint/2010/main" val="20087885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7648" y="563929"/>
            <a:ext cx="8905660" cy="708818"/>
          </a:xfrm>
        </p:spPr>
        <p:txBody>
          <a:bodyPr>
            <a:normAutofit/>
          </a:bodyPr>
          <a:lstStyle/>
          <a:p>
            <a:pPr algn="ctr"/>
            <a:r>
              <a:rPr lang="en-US" sz="3000" b="1" dirty="0">
                <a:latin typeface="Calibri" panose="020F0502020204030204" pitchFamily="34" charset="0"/>
                <a:cs typeface="Calibri" panose="020F0502020204030204" pitchFamily="34" charset="0"/>
              </a:rPr>
              <a:t>CHARACTERISTICS OF THE DATABASE </a:t>
            </a:r>
            <a:r>
              <a:rPr lang="en-US" sz="3000" b="1" dirty="0" smtClean="0">
                <a:latin typeface="Calibri" panose="020F0502020204030204" pitchFamily="34" charset="0"/>
                <a:cs typeface="Calibri" panose="020F0502020204030204" pitchFamily="34" charset="0"/>
              </a:rPr>
              <a:t>APROACH</a:t>
            </a:r>
            <a:endParaRPr lang="en-US" sz="3000" b="1"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173891" y="1322171"/>
            <a:ext cx="10021330" cy="5049794"/>
          </a:xfrm>
        </p:spPr>
        <p:txBody>
          <a:bodyPr>
            <a:noAutofit/>
          </a:bodyPr>
          <a:lstStyle/>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In </a:t>
            </a:r>
            <a:r>
              <a:rPr lang="en-US" dirty="0">
                <a:latin typeface="Calibri" panose="020F0502020204030204" pitchFamily="34" charset="0"/>
                <a:cs typeface="Calibri" panose="020F0502020204030204" pitchFamily="34" charset="0"/>
              </a:rPr>
              <a:t>the database approach, a single repository of data is maintained that is defined once and then is accessed by various users. </a:t>
            </a: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The </a:t>
            </a:r>
            <a:r>
              <a:rPr lang="en-US" dirty="0">
                <a:latin typeface="Calibri" panose="020F0502020204030204" pitchFamily="34" charset="0"/>
                <a:cs typeface="Calibri" panose="020F0502020204030204" pitchFamily="34" charset="0"/>
              </a:rPr>
              <a:t>main characteristics of the database approach versus the file-processing approach are the following: </a:t>
            </a:r>
          </a:p>
          <a:p>
            <a:pPr lvl="1">
              <a:lnSpc>
                <a:spcPct val="200000"/>
              </a:lnSpc>
              <a:buFont typeface="Wingdings" panose="05000000000000000000" pitchFamily="2" charset="2"/>
              <a:buChar char="ü"/>
            </a:pPr>
            <a:r>
              <a:rPr lang="en-US" sz="1800" dirty="0" smtClean="0">
                <a:latin typeface="Calibri" panose="020F0502020204030204" pitchFamily="34" charset="0"/>
                <a:cs typeface="Calibri" panose="020F0502020204030204" pitchFamily="34" charset="0"/>
              </a:rPr>
              <a:t>Self-describing </a:t>
            </a:r>
            <a:r>
              <a:rPr lang="en-US" sz="1800" dirty="0">
                <a:latin typeface="Calibri" panose="020F0502020204030204" pitchFamily="34" charset="0"/>
                <a:cs typeface="Calibri" panose="020F0502020204030204" pitchFamily="34" charset="0"/>
              </a:rPr>
              <a:t>nature of a database </a:t>
            </a:r>
            <a:r>
              <a:rPr lang="en-US" sz="1800" dirty="0" smtClean="0">
                <a:latin typeface="Calibri" panose="020F0502020204030204" pitchFamily="34" charset="0"/>
                <a:cs typeface="Calibri" panose="020F0502020204030204" pitchFamily="34" charset="0"/>
              </a:rPr>
              <a:t>system</a:t>
            </a:r>
          </a:p>
          <a:p>
            <a:pPr lvl="1">
              <a:lnSpc>
                <a:spcPct val="200000"/>
              </a:lnSpc>
              <a:buFont typeface="Wingdings" panose="05000000000000000000" pitchFamily="2" charset="2"/>
              <a:buChar char="ü"/>
            </a:pPr>
            <a:r>
              <a:rPr lang="en-US" sz="1800" dirty="0" smtClean="0">
                <a:latin typeface="Calibri" panose="020F0502020204030204" pitchFamily="34" charset="0"/>
                <a:cs typeface="Calibri" panose="020F0502020204030204" pitchFamily="34" charset="0"/>
              </a:rPr>
              <a:t> </a:t>
            </a:r>
            <a:r>
              <a:rPr lang="en-US" sz="1800" dirty="0">
                <a:latin typeface="Calibri" panose="020F0502020204030204" pitchFamily="34" charset="0"/>
                <a:cs typeface="Calibri" panose="020F0502020204030204" pitchFamily="34" charset="0"/>
              </a:rPr>
              <a:t>Insulation between programs and data, and data abstraction </a:t>
            </a:r>
          </a:p>
          <a:p>
            <a:pPr lvl="1">
              <a:lnSpc>
                <a:spcPct val="200000"/>
              </a:lnSpc>
              <a:buFont typeface="Wingdings" panose="05000000000000000000" pitchFamily="2" charset="2"/>
              <a:buChar char="ü"/>
            </a:pPr>
            <a:r>
              <a:rPr lang="en-US" sz="1800" dirty="0" smtClean="0">
                <a:latin typeface="Calibri" panose="020F0502020204030204" pitchFamily="34" charset="0"/>
                <a:cs typeface="Calibri" panose="020F0502020204030204" pitchFamily="34" charset="0"/>
              </a:rPr>
              <a:t>Support </a:t>
            </a:r>
            <a:r>
              <a:rPr lang="en-US" sz="1800" dirty="0">
                <a:latin typeface="Calibri" panose="020F0502020204030204" pitchFamily="34" charset="0"/>
                <a:cs typeface="Calibri" panose="020F0502020204030204" pitchFamily="34" charset="0"/>
              </a:rPr>
              <a:t>of multiple views of the data </a:t>
            </a:r>
          </a:p>
          <a:p>
            <a:pPr lvl="1">
              <a:lnSpc>
                <a:spcPct val="200000"/>
              </a:lnSpc>
              <a:buFont typeface="Wingdings" panose="05000000000000000000" pitchFamily="2" charset="2"/>
              <a:buChar char="ü"/>
            </a:pPr>
            <a:r>
              <a:rPr lang="en-US" sz="1800" dirty="0" smtClean="0">
                <a:latin typeface="Calibri" panose="020F0502020204030204" pitchFamily="34" charset="0"/>
                <a:cs typeface="Calibri" panose="020F0502020204030204" pitchFamily="34" charset="0"/>
              </a:rPr>
              <a:t>Sharing </a:t>
            </a:r>
            <a:r>
              <a:rPr lang="en-US" sz="1800" dirty="0">
                <a:latin typeface="Calibri" panose="020F0502020204030204" pitchFamily="34" charset="0"/>
                <a:cs typeface="Calibri" panose="020F0502020204030204" pitchFamily="34" charset="0"/>
              </a:rPr>
              <a:t>of data and multiuser transaction </a:t>
            </a:r>
            <a:r>
              <a:rPr lang="en-US" sz="1800" dirty="0" smtClean="0">
                <a:latin typeface="Calibri" panose="020F0502020204030204" pitchFamily="34" charset="0"/>
                <a:cs typeface="Calibri" panose="020F0502020204030204" pitchFamily="34" charset="0"/>
              </a:rPr>
              <a:t>processing</a:t>
            </a:r>
            <a:endParaRPr lang="en-US"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276063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1983" y="600999"/>
            <a:ext cx="5915325" cy="708818"/>
          </a:xfrm>
        </p:spPr>
        <p:txBody>
          <a:bodyPr>
            <a:normAutofit/>
          </a:bodyPr>
          <a:lstStyle/>
          <a:p>
            <a:pPr lvl="1" algn="ctr" defTabSz="457200" rtl="0">
              <a:spcBef>
                <a:spcPct val="0"/>
              </a:spcBef>
            </a:pPr>
            <a:r>
              <a:rPr lang="en-US" b="1" dirty="0" smtClean="0">
                <a:solidFill>
                  <a:schemeClr val="tx1"/>
                </a:solidFill>
                <a:latin typeface="Calibri" panose="020F0502020204030204" pitchFamily="34" charset="0"/>
                <a:cs typeface="Calibri" panose="020F0502020204030204" pitchFamily="34" charset="0"/>
              </a:rPr>
              <a:t>1.  Self-describing </a:t>
            </a:r>
            <a:r>
              <a:rPr lang="en-US" b="1" dirty="0">
                <a:solidFill>
                  <a:schemeClr val="tx1"/>
                </a:solidFill>
                <a:latin typeface="Calibri" panose="020F0502020204030204" pitchFamily="34" charset="0"/>
                <a:cs typeface="Calibri" panose="020F0502020204030204" pitchFamily="34" charset="0"/>
              </a:rPr>
              <a:t>nature of a database </a:t>
            </a:r>
            <a:r>
              <a:rPr lang="en-US" b="1" dirty="0" smtClean="0">
                <a:solidFill>
                  <a:schemeClr val="tx1"/>
                </a:solidFill>
                <a:latin typeface="Calibri" panose="020F0502020204030204" pitchFamily="34" charset="0"/>
                <a:cs typeface="Calibri" panose="020F0502020204030204" pitchFamily="34" charset="0"/>
              </a:rPr>
              <a:t>system</a:t>
            </a:r>
            <a:endParaRPr lang="en-US" sz="3000" b="1" dirty="0">
              <a:solidFill>
                <a:schemeClr val="tx1"/>
              </a:solidFill>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173891" y="1445741"/>
            <a:ext cx="10021330" cy="4926224"/>
          </a:xfrm>
        </p:spPr>
        <p:txBody>
          <a:bodyPr>
            <a:noAutofit/>
          </a:bodyPr>
          <a:lstStyle/>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Fundamental </a:t>
            </a:r>
            <a:r>
              <a:rPr lang="en-US" dirty="0">
                <a:latin typeface="Calibri" panose="020F0502020204030204" pitchFamily="34" charset="0"/>
                <a:cs typeface="Calibri" panose="020F0502020204030204" pitchFamily="34" charset="0"/>
              </a:rPr>
              <a:t>characteristic of the database approach is that the database system </a:t>
            </a:r>
            <a:r>
              <a:rPr lang="en-US" dirty="0" smtClean="0">
                <a:latin typeface="Calibri" panose="020F0502020204030204" pitchFamily="34" charset="0"/>
                <a:cs typeface="Calibri" panose="020F0502020204030204" pitchFamily="34" charset="0"/>
              </a:rPr>
              <a:t>contains </a:t>
            </a:r>
            <a:r>
              <a:rPr lang="en-US" dirty="0">
                <a:latin typeface="Calibri" panose="020F0502020204030204" pitchFamily="34" charset="0"/>
                <a:cs typeface="Calibri" panose="020F0502020204030204" pitchFamily="34" charset="0"/>
              </a:rPr>
              <a:t>not only the </a:t>
            </a:r>
            <a:r>
              <a:rPr lang="en-US" dirty="0" smtClean="0">
                <a:latin typeface="Calibri" panose="020F0502020204030204" pitchFamily="34" charset="0"/>
                <a:cs typeface="Calibri" panose="020F0502020204030204" pitchFamily="34" charset="0"/>
              </a:rPr>
              <a:t>database </a:t>
            </a:r>
            <a:r>
              <a:rPr lang="en-US" dirty="0">
                <a:latin typeface="Calibri" panose="020F0502020204030204" pitchFamily="34" charset="0"/>
                <a:cs typeface="Calibri" panose="020F0502020204030204" pitchFamily="34" charset="0"/>
              </a:rPr>
              <a:t>itself but also a complete definition or description of the </a:t>
            </a:r>
            <a:r>
              <a:rPr lang="en-US" dirty="0" smtClean="0">
                <a:latin typeface="Calibri" panose="020F0502020204030204" pitchFamily="34" charset="0"/>
                <a:cs typeface="Calibri" panose="020F0502020204030204" pitchFamily="34" charset="0"/>
              </a:rPr>
              <a:t>database </a:t>
            </a:r>
            <a:r>
              <a:rPr lang="en-US" dirty="0">
                <a:latin typeface="Calibri" panose="020F0502020204030204" pitchFamily="34" charset="0"/>
                <a:cs typeface="Calibri" panose="020F0502020204030204" pitchFamily="34" charset="0"/>
              </a:rPr>
              <a:t>structure and constraints.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This </a:t>
            </a:r>
            <a:r>
              <a:rPr lang="en-US" dirty="0">
                <a:latin typeface="Calibri" panose="020F0502020204030204" pitchFamily="34" charset="0"/>
                <a:cs typeface="Calibri" panose="020F0502020204030204" pitchFamily="34" charset="0"/>
              </a:rPr>
              <a:t>definition is stored in the DBMS catalog, which contains information such as the structure of each file, the type and storage format of each data item, and various constraints on the data.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The </a:t>
            </a:r>
            <a:r>
              <a:rPr lang="en-US" dirty="0">
                <a:latin typeface="Calibri" panose="020F0502020204030204" pitchFamily="34" charset="0"/>
                <a:cs typeface="Calibri" panose="020F0502020204030204" pitchFamily="34" charset="0"/>
              </a:rPr>
              <a:t>information stored in the catalog is called </a:t>
            </a:r>
            <a:r>
              <a:rPr lang="en-US" b="1" dirty="0">
                <a:latin typeface="Calibri" panose="020F0502020204030204" pitchFamily="34" charset="0"/>
                <a:cs typeface="Calibri" panose="020F0502020204030204" pitchFamily="34" charset="0"/>
              </a:rPr>
              <a:t>meta-data</a:t>
            </a:r>
            <a:r>
              <a:rPr lang="en-US" dirty="0">
                <a:latin typeface="Calibri" panose="020F0502020204030204" pitchFamily="34" charset="0"/>
                <a:cs typeface="Calibri" panose="020F0502020204030204" pitchFamily="34" charset="0"/>
              </a:rPr>
              <a:t>, and it describes the structure of the primary database</a:t>
            </a:r>
            <a:endParaRPr lang="en-US"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438985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2426" y="662783"/>
            <a:ext cx="6347812" cy="424612"/>
          </a:xfrm>
        </p:spPr>
        <p:txBody>
          <a:bodyPr>
            <a:noAutofit/>
          </a:bodyPr>
          <a:lstStyle/>
          <a:p>
            <a:pPr lvl="1" algn="ctr" defTabSz="457200" rtl="0">
              <a:spcBef>
                <a:spcPct val="0"/>
              </a:spcBef>
            </a:pPr>
            <a:r>
              <a:rPr lang="en-US" b="1" dirty="0" smtClean="0">
                <a:solidFill>
                  <a:schemeClr val="tx1"/>
                </a:solidFill>
                <a:latin typeface="Calibri" panose="020F0502020204030204" pitchFamily="34" charset="0"/>
                <a:cs typeface="Calibri" panose="020F0502020204030204" pitchFamily="34" charset="0"/>
              </a:rPr>
              <a:t>2. Insulation </a:t>
            </a:r>
            <a:r>
              <a:rPr lang="en-US" b="1" dirty="0">
                <a:solidFill>
                  <a:schemeClr val="tx1"/>
                </a:solidFill>
                <a:latin typeface="Calibri" panose="020F0502020204030204" pitchFamily="34" charset="0"/>
                <a:cs typeface="Calibri" panose="020F0502020204030204" pitchFamily="34" charset="0"/>
              </a:rPr>
              <a:t>between programs and data, and data abstraction</a:t>
            </a:r>
          </a:p>
        </p:txBody>
      </p:sp>
      <p:sp>
        <p:nvSpPr>
          <p:cNvPr id="3" name="Content Placeholder 2"/>
          <p:cNvSpPr>
            <a:spLocks noGrp="1"/>
          </p:cNvSpPr>
          <p:nvPr>
            <p:ph idx="1"/>
          </p:nvPr>
        </p:nvSpPr>
        <p:spPr>
          <a:xfrm>
            <a:off x="1173891" y="1445741"/>
            <a:ext cx="10021330" cy="4926224"/>
          </a:xfrm>
        </p:spPr>
        <p:txBody>
          <a:bodyPr>
            <a:noAutofit/>
          </a:bodyPr>
          <a:lstStyle/>
          <a:p>
            <a:pPr>
              <a:lnSpc>
                <a:spcPct val="25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In traditional file processing, the structure of data files is embedded in the application </a:t>
            </a:r>
            <a:r>
              <a:rPr lang="en-US" dirty="0" smtClean="0">
                <a:latin typeface="Calibri" panose="020F0502020204030204" pitchFamily="34" charset="0"/>
                <a:cs typeface="Calibri" panose="020F0502020204030204" pitchFamily="34" charset="0"/>
              </a:rPr>
              <a:t>programs, so </a:t>
            </a:r>
            <a:r>
              <a:rPr lang="en-US" dirty="0">
                <a:latin typeface="Calibri" panose="020F0502020204030204" pitchFamily="34" charset="0"/>
                <a:cs typeface="Calibri" panose="020F0502020204030204" pitchFamily="34" charset="0"/>
              </a:rPr>
              <a:t>any changes to the structure of a file may require changing </a:t>
            </a:r>
            <a:r>
              <a:rPr lang="en-US" dirty="0" smtClean="0">
                <a:latin typeface="Calibri" panose="020F0502020204030204" pitchFamily="34" charset="0"/>
                <a:cs typeface="Calibri" panose="020F0502020204030204" pitchFamily="34" charset="0"/>
              </a:rPr>
              <a:t>all programs </a:t>
            </a:r>
            <a:r>
              <a:rPr lang="en-US" dirty="0">
                <a:latin typeface="Calibri" panose="020F0502020204030204" pitchFamily="34" charset="0"/>
                <a:cs typeface="Calibri" panose="020F0502020204030204" pitchFamily="34" charset="0"/>
              </a:rPr>
              <a:t>that access this file. </a:t>
            </a:r>
            <a:endParaRPr lang="en-US" dirty="0" smtClean="0">
              <a:latin typeface="Calibri" panose="020F0502020204030204" pitchFamily="34" charset="0"/>
              <a:cs typeface="Calibri" panose="020F0502020204030204" pitchFamily="34" charset="0"/>
            </a:endParaRPr>
          </a:p>
          <a:p>
            <a:pPr>
              <a:lnSpc>
                <a:spcPct val="25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By </a:t>
            </a:r>
            <a:r>
              <a:rPr lang="en-US" dirty="0">
                <a:latin typeface="Calibri" panose="020F0502020204030204" pitchFamily="34" charset="0"/>
                <a:cs typeface="Calibri" panose="020F0502020204030204" pitchFamily="34" charset="0"/>
              </a:rPr>
              <a:t>contrast, DBMS access programs do not require such changes in most cases. </a:t>
            </a:r>
            <a:endParaRPr lang="en-US" dirty="0" smtClean="0">
              <a:latin typeface="Calibri" panose="020F0502020204030204" pitchFamily="34" charset="0"/>
              <a:cs typeface="Calibri" panose="020F0502020204030204" pitchFamily="34" charset="0"/>
            </a:endParaRPr>
          </a:p>
          <a:p>
            <a:pPr>
              <a:lnSpc>
                <a:spcPct val="25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The structure </a:t>
            </a:r>
            <a:r>
              <a:rPr lang="en-US" dirty="0">
                <a:latin typeface="Calibri" panose="020F0502020204030204" pitchFamily="34" charset="0"/>
                <a:cs typeface="Calibri" panose="020F0502020204030204" pitchFamily="34" charset="0"/>
              </a:rPr>
              <a:t>of data files </a:t>
            </a:r>
            <a:r>
              <a:rPr lang="en-US" dirty="0" smtClean="0">
                <a:latin typeface="Calibri" panose="020F0502020204030204" pitchFamily="34" charset="0"/>
                <a:cs typeface="Calibri" panose="020F0502020204030204" pitchFamily="34" charset="0"/>
              </a:rPr>
              <a:t>is stored </a:t>
            </a:r>
            <a:r>
              <a:rPr lang="en-US" dirty="0">
                <a:latin typeface="Calibri" panose="020F0502020204030204" pitchFamily="34" charset="0"/>
                <a:cs typeface="Calibri" panose="020F0502020204030204" pitchFamily="34" charset="0"/>
              </a:rPr>
              <a:t>in the DBMS catalog separately from the access programs. We call this property program-data independence. </a:t>
            </a:r>
            <a:endParaRPr lang="en-US"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478079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2426" y="662783"/>
            <a:ext cx="6347812" cy="424612"/>
          </a:xfrm>
        </p:spPr>
        <p:txBody>
          <a:bodyPr>
            <a:noAutofit/>
          </a:bodyPr>
          <a:lstStyle/>
          <a:p>
            <a:pPr lvl="1" algn="ctr" defTabSz="457200" rtl="0">
              <a:spcBef>
                <a:spcPct val="0"/>
              </a:spcBef>
            </a:pPr>
            <a:r>
              <a:rPr lang="en-US" b="1" dirty="0" smtClean="0">
                <a:solidFill>
                  <a:schemeClr val="tx1"/>
                </a:solidFill>
                <a:latin typeface="Calibri" panose="020F0502020204030204" pitchFamily="34" charset="0"/>
                <a:cs typeface="Calibri" panose="020F0502020204030204" pitchFamily="34" charset="0"/>
              </a:rPr>
              <a:t>2. Insulation </a:t>
            </a:r>
            <a:r>
              <a:rPr lang="en-US" b="1" dirty="0">
                <a:solidFill>
                  <a:schemeClr val="tx1"/>
                </a:solidFill>
                <a:latin typeface="Calibri" panose="020F0502020204030204" pitchFamily="34" charset="0"/>
                <a:cs typeface="Calibri" panose="020F0502020204030204" pitchFamily="34" charset="0"/>
              </a:rPr>
              <a:t>between programs and data, and data abstraction</a:t>
            </a:r>
          </a:p>
        </p:txBody>
      </p:sp>
      <p:sp>
        <p:nvSpPr>
          <p:cNvPr id="3" name="Content Placeholder 2"/>
          <p:cNvSpPr>
            <a:spLocks noGrp="1"/>
          </p:cNvSpPr>
          <p:nvPr>
            <p:ph idx="1"/>
          </p:nvPr>
        </p:nvSpPr>
        <p:spPr>
          <a:xfrm>
            <a:off x="1173890" y="1445741"/>
            <a:ext cx="10280823" cy="4926224"/>
          </a:xfrm>
        </p:spPr>
        <p:txBody>
          <a:bodyPr>
            <a:noAutofit/>
          </a:bodyPr>
          <a:lstStyle/>
          <a:p>
            <a:pPr>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For example, a file access program may be written in such a way that it can access only STUDENT records of the </a:t>
            </a:r>
            <a:r>
              <a:rPr lang="en-US" dirty="0" smtClean="0">
                <a:latin typeface="Calibri" panose="020F0502020204030204" pitchFamily="34" charset="0"/>
                <a:cs typeface="Calibri" panose="020F0502020204030204" pitchFamily="34" charset="0"/>
              </a:rPr>
              <a:t>structure.</a:t>
            </a: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If </a:t>
            </a:r>
            <a:r>
              <a:rPr lang="en-US" dirty="0">
                <a:latin typeface="Calibri" panose="020F0502020204030204" pitchFamily="34" charset="0"/>
                <a:cs typeface="Calibri" panose="020F0502020204030204" pitchFamily="34" charset="0"/>
              </a:rPr>
              <a:t>we want to add another piece of data to each STUDENT record, say the </a:t>
            </a:r>
            <a:r>
              <a:rPr lang="en-US" dirty="0" err="1">
                <a:latin typeface="Calibri" panose="020F0502020204030204" pitchFamily="34" charset="0"/>
                <a:cs typeface="Calibri" panose="020F0502020204030204" pitchFamily="34" charset="0"/>
              </a:rPr>
              <a:t>BirthDate</a:t>
            </a:r>
            <a:r>
              <a:rPr lang="en-US" dirty="0">
                <a:latin typeface="Calibri" panose="020F0502020204030204" pitchFamily="34" charset="0"/>
                <a:cs typeface="Calibri" panose="020F0502020204030204" pitchFamily="34" charset="0"/>
              </a:rPr>
              <a:t>, such a program will no longer work and must be changed.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By </a:t>
            </a:r>
            <a:r>
              <a:rPr lang="en-US" dirty="0">
                <a:latin typeface="Calibri" panose="020F0502020204030204" pitchFamily="34" charset="0"/>
                <a:cs typeface="Calibri" panose="020F0502020204030204" pitchFamily="34" charset="0"/>
              </a:rPr>
              <a:t>contrast, in a </a:t>
            </a:r>
            <a:r>
              <a:rPr lang="en-US" dirty="0" smtClean="0">
                <a:latin typeface="Calibri" panose="020F0502020204030204" pitchFamily="34" charset="0"/>
                <a:cs typeface="Calibri" panose="020F0502020204030204" pitchFamily="34" charset="0"/>
              </a:rPr>
              <a:t>DBMS environment</a:t>
            </a:r>
            <a:r>
              <a:rPr lang="en-US" dirty="0">
                <a:latin typeface="Calibri" panose="020F0502020204030204" pitchFamily="34" charset="0"/>
                <a:cs typeface="Calibri" panose="020F0502020204030204" pitchFamily="34" charset="0"/>
              </a:rPr>
              <a:t>, we just need to change the description of STUDENT records in the catalog to reflect the inclusion of the new data item </a:t>
            </a:r>
            <a:r>
              <a:rPr lang="en-US" dirty="0" err="1">
                <a:latin typeface="Calibri" panose="020F0502020204030204" pitchFamily="34" charset="0"/>
                <a:cs typeface="Calibri" panose="020F0502020204030204" pitchFamily="34" charset="0"/>
              </a:rPr>
              <a:t>BirthDate</a:t>
            </a:r>
            <a:r>
              <a:rPr lang="en-US" dirty="0">
                <a:latin typeface="Calibri" panose="020F0502020204030204" pitchFamily="34" charset="0"/>
                <a:cs typeface="Calibri" panose="020F0502020204030204" pitchFamily="34" charset="0"/>
              </a:rPr>
              <a:t>; no programs are changed.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The </a:t>
            </a:r>
            <a:r>
              <a:rPr lang="en-US" dirty="0">
                <a:latin typeface="Calibri" panose="020F0502020204030204" pitchFamily="34" charset="0"/>
                <a:cs typeface="Calibri" panose="020F0502020204030204" pitchFamily="34" charset="0"/>
              </a:rPr>
              <a:t>next time a DBMS program refers to the catalog, the new structure of STUDENT records will be accessed and used.</a:t>
            </a:r>
          </a:p>
        </p:txBody>
      </p:sp>
    </p:spTree>
    <p:extLst>
      <p:ext uri="{BB962C8B-B14F-4D97-AF65-F5344CB8AC3E}">
        <p14:creationId xmlns:p14="http://schemas.microsoft.com/office/powerpoint/2010/main" val="29853719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5615" y="477432"/>
            <a:ext cx="4617866" cy="622320"/>
          </a:xfrm>
        </p:spPr>
        <p:txBody>
          <a:bodyPr>
            <a:noAutofit/>
          </a:bodyPr>
          <a:lstStyle/>
          <a:p>
            <a:pPr lvl="1">
              <a:lnSpc>
                <a:spcPct val="200000"/>
              </a:lnSpc>
            </a:pPr>
            <a:r>
              <a:rPr lang="en-US" sz="2000" b="1" dirty="0" smtClean="0">
                <a:solidFill>
                  <a:schemeClr val="tx1"/>
                </a:solidFill>
                <a:latin typeface="Calibri" panose="020F0502020204030204" pitchFamily="34" charset="0"/>
                <a:cs typeface="Calibri" panose="020F0502020204030204" pitchFamily="34" charset="0"/>
              </a:rPr>
              <a:t>3. Support </a:t>
            </a:r>
            <a:r>
              <a:rPr lang="en-US" sz="2000" b="1" dirty="0">
                <a:solidFill>
                  <a:schemeClr val="tx1"/>
                </a:solidFill>
                <a:latin typeface="Calibri" panose="020F0502020204030204" pitchFamily="34" charset="0"/>
                <a:cs typeface="Calibri" panose="020F0502020204030204" pitchFamily="34" charset="0"/>
              </a:rPr>
              <a:t>of multiple views of the data </a:t>
            </a:r>
          </a:p>
        </p:txBody>
      </p:sp>
      <p:sp>
        <p:nvSpPr>
          <p:cNvPr id="3" name="Content Placeholder 2"/>
          <p:cNvSpPr>
            <a:spLocks noGrp="1"/>
          </p:cNvSpPr>
          <p:nvPr>
            <p:ph idx="1"/>
          </p:nvPr>
        </p:nvSpPr>
        <p:spPr>
          <a:xfrm>
            <a:off x="1173890" y="1445741"/>
            <a:ext cx="10280823" cy="4926224"/>
          </a:xfrm>
        </p:spPr>
        <p:txBody>
          <a:bodyPr>
            <a:noAutofit/>
          </a:bodyPr>
          <a:lstStyle/>
          <a:p>
            <a:pPr>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A database typically has many users, each of whom may require a different perspective or view of the database</a:t>
            </a:r>
            <a:r>
              <a:rPr lang="en-US" dirty="0" smtClean="0">
                <a:latin typeface="Calibri" panose="020F0502020204030204" pitchFamily="34" charset="0"/>
                <a:cs typeface="Calibri" panose="020F0502020204030204" pitchFamily="34" charset="0"/>
              </a:rPr>
              <a:t>.</a:t>
            </a: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 view may be a subset of the database or it may contain virtual data that is derived from the database files but is not explicitly stored.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Some </a:t>
            </a:r>
            <a:r>
              <a:rPr lang="en-US" dirty="0">
                <a:latin typeface="Calibri" panose="020F0502020204030204" pitchFamily="34" charset="0"/>
                <a:cs typeface="Calibri" panose="020F0502020204030204" pitchFamily="34" charset="0"/>
              </a:rPr>
              <a:t>users may not need to be aware of whether the data they refer to is stored or derived.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A </a:t>
            </a:r>
            <a:r>
              <a:rPr lang="en-US" dirty="0">
                <a:latin typeface="Calibri" panose="020F0502020204030204" pitchFamily="34" charset="0"/>
                <a:cs typeface="Calibri" panose="020F0502020204030204" pitchFamily="34" charset="0"/>
              </a:rPr>
              <a:t>multiuser DBMS whose users have a variety of distinct applications must provide facilities for defining multiple views.</a:t>
            </a:r>
          </a:p>
        </p:txBody>
      </p:sp>
    </p:spTree>
    <p:extLst>
      <p:ext uri="{BB962C8B-B14F-4D97-AF65-F5344CB8AC3E}">
        <p14:creationId xmlns:p14="http://schemas.microsoft.com/office/powerpoint/2010/main" val="128480285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5614" y="539216"/>
            <a:ext cx="6162461" cy="622320"/>
          </a:xfrm>
        </p:spPr>
        <p:txBody>
          <a:bodyPr>
            <a:noAutofit/>
          </a:bodyPr>
          <a:lstStyle/>
          <a:p>
            <a:pPr lvl="1">
              <a:lnSpc>
                <a:spcPct val="200000"/>
              </a:lnSpc>
            </a:pPr>
            <a:r>
              <a:rPr lang="en-US" sz="2000" b="1" dirty="0">
                <a:solidFill>
                  <a:schemeClr val="tx1"/>
                </a:solidFill>
                <a:latin typeface="Calibri" panose="020F0502020204030204" pitchFamily="34" charset="0"/>
                <a:cs typeface="Calibri" panose="020F0502020204030204" pitchFamily="34" charset="0"/>
              </a:rPr>
              <a:t>4</a:t>
            </a:r>
            <a:r>
              <a:rPr lang="en-US" sz="2000" b="1" dirty="0" smtClean="0">
                <a:solidFill>
                  <a:schemeClr val="tx1"/>
                </a:solidFill>
                <a:latin typeface="Calibri" panose="020F0502020204030204" pitchFamily="34" charset="0"/>
                <a:cs typeface="Calibri" panose="020F0502020204030204" pitchFamily="34" charset="0"/>
              </a:rPr>
              <a:t>. </a:t>
            </a:r>
            <a:r>
              <a:rPr lang="en-US" sz="2000" b="1" dirty="0">
                <a:solidFill>
                  <a:schemeClr val="tx1"/>
                </a:solidFill>
                <a:latin typeface="Calibri" panose="020F0502020204030204" pitchFamily="34" charset="0"/>
                <a:cs typeface="Calibri" panose="020F0502020204030204" pitchFamily="34" charset="0"/>
              </a:rPr>
              <a:t>Sharing of data and multiuser transaction </a:t>
            </a:r>
            <a:r>
              <a:rPr lang="en-US" sz="2000" b="1" dirty="0" smtClean="0">
                <a:solidFill>
                  <a:schemeClr val="tx1"/>
                </a:solidFill>
                <a:latin typeface="Calibri" panose="020F0502020204030204" pitchFamily="34" charset="0"/>
                <a:cs typeface="Calibri" panose="020F0502020204030204" pitchFamily="34" charset="0"/>
              </a:rPr>
              <a:t>processing</a:t>
            </a:r>
            <a:endParaRPr lang="en-US" sz="2000" b="1" dirty="0">
              <a:solidFill>
                <a:schemeClr val="tx1"/>
              </a:solidFill>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309814" y="1668163"/>
            <a:ext cx="9564132" cy="3793524"/>
          </a:xfrm>
        </p:spPr>
        <p:txBody>
          <a:bodyPr>
            <a:noAutofit/>
          </a:bodyPr>
          <a:lstStyle/>
          <a:p>
            <a:pPr>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A multiuser DBMS, as its name implies, must allow multiple users to access the database at the same time.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This </a:t>
            </a:r>
            <a:r>
              <a:rPr lang="en-US" dirty="0">
                <a:latin typeface="Calibri" panose="020F0502020204030204" pitchFamily="34" charset="0"/>
                <a:cs typeface="Calibri" panose="020F0502020204030204" pitchFamily="34" charset="0"/>
              </a:rPr>
              <a:t>is essential if data for multiple applications is to be integrated and maintained in a single database.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The </a:t>
            </a:r>
            <a:r>
              <a:rPr lang="en-US" dirty="0">
                <a:latin typeface="Calibri" panose="020F0502020204030204" pitchFamily="34" charset="0"/>
                <a:cs typeface="Calibri" panose="020F0502020204030204" pitchFamily="34" charset="0"/>
              </a:rPr>
              <a:t>DBMS must include concurrency control software to ensure that several users trying to update the same data do so in a controlled manner so that the result of the updates is correct.</a:t>
            </a:r>
          </a:p>
        </p:txBody>
      </p:sp>
    </p:spTree>
    <p:extLst>
      <p:ext uri="{BB962C8B-B14F-4D97-AF65-F5344CB8AC3E}">
        <p14:creationId xmlns:p14="http://schemas.microsoft.com/office/powerpoint/2010/main" val="270501868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7074" y="563929"/>
            <a:ext cx="7954191" cy="671747"/>
          </a:xfrm>
        </p:spPr>
        <p:txBody>
          <a:bodyPr>
            <a:normAutofit/>
          </a:bodyPr>
          <a:lstStyle/>
          <a:p>
            <a:pPr algn="ctr"/>
            <a:r>
              <a:rPr lang="en-US" sz="3000" b="1" dirty="0">
                <a:latin typeface="Calibri" panose="020F0502020204030204" pitchFamily="34" charset="0"/>
                <a:cs typeface="Calibri" panose="020F0502020204030204" pitchFamily="34" charset="0"/>
              </a:rPr>
              <a:t>ADVANTAGES OF USING THE DBMS </a:t>
            </a:r>
            <a:r>
              <a:rPr lang="en-US" sz="3000" b="1" dirty="0" smtClean="0">
                <a:latin typeface="Calibri" panose="020F0502020204030204" pitchFamily="34" charset="0"/>
                <a:cs typeface="Calibri" panose="020F0502020204030204" pitchFamily="34" charset="0"/>
              </a:rPr>
              <a:t>APROACH</a:t>
            </a:r>
            <a:endParaRPr lang="en-US" sz="3000" b="1"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396315" y="1532239"/>
            <a:ext cx="9910118" cy="4547285"/>
          </a:xfrm>
        </p:spPr>
        <p:txBody>
          <a:bodyPr>
            <a:normAutofit/>
          </a:bodyPr>
          <a:lstStyle/>
          <a:p>
            <a:pPr marL="0" indent="0">
              <a:lnSpc>
                <a:spcPct val="200000"/>
              </a:lnSpc>
              <a:buNone/>
            </a:pPr>
            <a:r>
              <a:rPr lang="en-US" b="1" dirty="0" smtClean="0">
                <a:latin typeface="Calibri" panose="020F0502020204030204" pitchFamily="34" charset="0"/>
                <a:cs typeface="Calibri" panose="020F0502020204030204" pitchFamily="34" charset="0"/>
              </a:rPr>
              <a:t>1. Controlling of Redundancy: </a:t>
            </a:r>
            <a:r>
              <a:rPr lang="en-US" dirty="0" smtClean="0">
                <a:latin typeface="Calibri" panose="020F0502020204030204" pitchFamily="34" charset="0"/>
                <a:cs typeface="Calibri" panose="020F0502020204030204" pitchFamily="34" charset="0"/>
              </a:rPr>
              <a:t>Data redundancy refers to the duplication of data (</a:t>
            </a:r>
            <a:r>
              <a:rPr lang="en-US" dirty="0" err="1" smtClean="0">
                <a:latin typeface="Calibri" panose="020F0502020204030204" pitchFamily="34" charset="0"/>
                <a:cs typeface="Calibri" panose="020F0502020204030204" pitchFamily="34" charset="0"/>
              </a:rPr>
              <a:t>i.e</a:t>
            </a:r>
            <a:r>
              <a:rPr lang="en-US" dirty="0" smtClean="0">
                <a:latin typeface="Calibri" panose="020F0502020204030204" pitchFamily="34" charset="0"/>
                <a:cs typeface="Calibri" panose="020F0502020204030204" pitchFamily="34" charset="0"/>
              </a:rPr>
              <a:t> storing same data multiple times). In a database system, by having a centralized database and centralized control of data by the DBA the unnecessary duplication of data is avoided. It also eliminates the extra time for processing the large volume of data. It results in saving the storage space. </a:t>
            </a:r>
          </a:p>
          <a:p>
            <a:pPr marL="0" indent="0">
              <a:lnSpc>
                <a:spcPct val="200000"/>
              </a:lnSpc>
              <a:buNone/>
            </a:pPr>
            <a:r>
              <a:rPr lang="en-US" b="1" dirty="0" smtClean="0">
                <a:latin typeface="Calibri" panose="020F0502020204030204" pitchFamily="34" charset="0"/>
                <a:cs typeface="Calibri" panose="020F0502020204030204" pitchFamily="34" charset="0"/>
              </a:rPr>
              <a:t>2. Security : </a:t>
            </a:r>
            <a:r>
              <a:rPr lang="en-US" dirty="0" smtClean="0">
                <a:latin typeface="Calibri" panose="020F0502020204030204" pitchFamily="34" charset="0"/>
                <a:cs typeface="Calibri" panose="020F0502020204030204" pitchFamily="34" charset="0"/>
              </a:rPr>
              <a:t>Having complete authority over the operational data, enables the DBA in ensuring that the only mean of access to the database is through proper channels. The DBA can define authorization checks to be carried out whenever access to sensitive data is attempted. </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790054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7074" y="563929"/>
            <a:ext cx="7954191" cy="671747"/>
          </a:xfrm>
        </p:spPr>
        <p:txBody>
          <a:bodyPr>
            <a:normAutofit/>
          </a:bodyPr>
          <a:lstStyle/>
          <a:p>
            <a:pPr algn="ctr"/>
            <a:r>
              <a:rPr lang="en-US" sz="3000" b="1" dirty="0">
                <a:latin typeface="Calibri" panose="020F0502020204030204" pitchFamily="34" charset="0"/>
                <a:cs typeface="Calibri" panose="020F0502020204030204" pitchFamily="34" charset="0"/>
              </a:rPr>
              <a:t>ADVANTAGES OF USING THE DBMS </a:t>
            </a:r>
            <a:r>
              <a:rPr lang="en-US" sz="3000" b="1" dirty="0" smtClean="0">
                <a:latin typeface="Calibri" panose="020F0502020204030204" pitchFamily="34" charset="0"/>
                <a:cs typeface="Calibri" panose="020F0502020204030204" pitchFamily="34" charset="0"/>
              </a:rPr>
              <a:t>APROACH</a:t>
            </a:r>
            <a:endParaRPr lang="en-US" sz="3000" b="1"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285103" y="1396315"/>
            <a:ext cx="10120183" cy="5016843"/>
          </a:xfrm>
        </p:spPr>
        <p:txBody>
          <a:bodyPr>
            <a:normAutofit fontScale="92500"/>
          </a:bodyPr>
          <a:lstStyle/>
          <a:p>
            <a:pPr marL="0" indent="0">
              <a:lnSpc>
                <a:spcPct val="200000"/>
              </a:lnSpc>
              <a:buNone/>
            </a:pPr>
            <a:r>
              <a:rPr lang="en-US" b="1" dirty="0" smtClean="0">
                <a:latin typeface="Calibri" panose="020F0502020204030204" pitchFamily="34" charset="0"/>
                <a:cs typeface="Calibri" panose="020F0502020204030204" pitchFamily="34" charset="0"/>
              </a:rPr>
              <a:t>3. Data </a:t>
            </a:r>
            <a:r>
              <a:rPr lang="en-US" b="1" dirty="0">
                <a:latin typeface="Calibri" panose="020F0502020204030204" pitchFamily="34" charset="0"/>
                <a:cs typeface="Calibri" panose="020F0502020204030204" pitchFamily="34" charset="0"/>
              </a:rPr>
              <a:t>Consistency : </a:t>
            </a:r>
            <a:r>
              <a:rPr lang="en-US" dirty="0">
                <a:latin typeface="Calibri" panose="020F0502020204030204" pitchFamily="34" charset="0"/>
                <a:cs typeface="Calibri" panose="020F0502020204030204" pitchFamily="34" charset="0"/>
              </a:rPr>
              <a:t>By eliminating data redundancy, we greatly reduce the opportunities for inconsistency. For example: is </a:t>
            </a:r>
            <a:r>
              <a:rPr lang="en-US" dirty="0" smtClean="0">
                <a:latin typeface="Calibri" panose="020F0502020204030204" pitchFamily="34" charset="0"/>
                <a:cs typeface="Calibri" panose="020F0502020204030204" pitchFamily="34" charset="0"/>
              </a:rPr>
              <a:t>a registration number is </a:t>
            </a:r>
            <a:r>
              <a:rPr lang="en-US" dirty="0">
                <a:latin typeface="Calibri" panose="020F0502020204030204" pitchFamily="34" charset="0"/>
                <a:cs typeface="Calibri" panose="020F0502020204030204" pitchFamily="34" charset="0"/>
              </a:rPr>
              <a:t>stored only once, we cannot have disagreement on the stored values. Also updating data values is greatly simplified when each value is stored in one place only. Finally, we avoid the wasted storage that results from redundant data storage. </a:t>
            </a:r>
            <a:endParaRPr lang="en-US" dirty="0" smtClean="0">
              <a:latin typeface="Calibri" panose="020F0502020204030204" pitchFamily="34" charset="0"/>
              <a:cs typeface="Calibri" panose="020F0502020204030204" pitchFamily="34" charset="0"/>
            </a:endParaRPr>
          </a:p>
          <a:p>
            <a:pPr marL="0" indent="0">
              <a:lnSpc>
                <a:spcPct val="200000"/>
              </a:lnSpc>
              <a:buNone/>
            </a:pPr>
            <a:r>
              <a:rPr lang="en-US" b="1" dirty="0" smtClean="0">
                <a:latin typeface="Calibri" panose="020F0502020204030204" pitchFamily="34" charset="0"/>
                <a:cs typeface="Calibri" panose="020F0502020204030204" pitchFamily="34" charset="0"/>
              </a:rPr>
              <a:t>4.  </a:t>
            </a:r>
            <a:r>
              <a:rPr lang="en-US" b="1" dirty="0">
                <a:latin typeface="Calibri" panose="020F0502020204030204" pitchFamily="34" charset="0"/>
                <a:cs typeface="Calibri" panose="020F0502020204030204" pitchFamily="34" charset="0"/>
              </a:rPr>
              <a:t>Enforcing Integrity constraints </a:t>
            </a:r>
          </a:p>
          <a:p>
            <a:pPr>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Integrity means that the data in the database is accurate. Most database applications have certain integrity constraints that must hold for the data. </a:t>
            </a:r>
            <a:r>
              <a:rPr lang="en-US" dirty="0" smtClean="0">
                <a:latin typeface="Calibri" panose="020F0502020204030204" pitchFamily="34" charset="0"/>
                <a:cs typeface="Calibri" panose="020F0502020204030204" pitchFamily="34" charset="0"/>
              </a:rPr>
              <a:t>A </a:t>
            </a:r>
            <a:r>
              <a:rPr lang="en-US" dirty="0">
                <a:latin typeface="Calibri" panose="020F0502020204030204" pitchFamily="34" charset="0"/>
                <a:cs typeface="Calibri" panose="020F0502020204030204" pitchFamily="34" charset="0"/>
              </a:rPr>
              <a:t>DBMS should provide capabilities for defining and enforcing these constraints. The simplest type of integrity constraint involves specifying a data type for each data item</a:t>
            </a:r>
          </a:p>
          <a:p>
            <a:pPr marL="0" indent="0">
              <a:lnSpc>
                <a:spcPct val="200000"/>
              </a:lnSpc>
              <a:buNone/>
            </a:pP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806080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7074" y="563929"/>
            <a:ext cx="7954191" cy="671747"/>
          </a:xfrm>
        </p:spPr>
        <p:txBody>
          <a:bodyPr>
            <a:normAutofit/>
          </a:bodyPr>
          <a:lstStyle/>
          <a:p>
            <a:pPr algn="ctr"/>
            <a:r>
              <a:rPr lang="en-US" sz="3000" b="1" dirty="0">
                <a:latin typeface="Calibri" panose="020F0502020204030204" pitchFamily="34" charset="0"/>
                <a:cs typeface="Calibri" panose="020F0502020204030204" pitchFamily="34" charset="0"/>
              </a:rPr>
              <a:t>ADVANTAGES OF USING THE DBMS </a:t>
            </a:r>
            <a:r>
              <a:rPr lang="en-US" sz="3000" b="1" dirty="0" smtClean="0">
                <a:latin typeface="Calibri" panose="020F0502020204030204" pitchFamily="34" charset="0"/>
                <a:cs typeface="Calibri" panose="020F0502020204030204" pitchFamily="34" charset="0"/>
              </a:rPr>
              <a:t>APROACH</a:t>
            </a:r>
            <a:endParaRPr lang="en-US" sz="3000" b="1"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926755" y="1396314"/>
            <a:ext cx="10577385" cy="5016843"/>
          </a:xfrm>
        </p:spPr>
        <p:txBody>
          <a:bodyPr>
            <a:normAutofit/>
          </a:bodyPr>
          <a:lstStyle/>
          <a:p>
            <a:pPr marL="0" indent="0">
              <a:lnSpc>
                <a:spcPct val="200000"/>
              </a:lnSpc>
              <a:buNone/>
            </a:pPr>
            <a:r>
              <a:rPr lang="en-US" b="1" dirty="0">
                <a:latin typeface="Calibri" panose="020F0502020204030204" pitchFamily="34" charset="0"/>
                <a:cs typeface="Calibri" panose="020F0502020204030204" pitchFamily="34" charset="0"/>
              </a:rPr>
              <a:t>5</a:t>
            </a:r>
            <a:r>
              <a:rPr lang="en-US" b="1" dirty="0" smtClean="0">
                <a:latin typeface="Calibri" panose="020F0502020204030204" pitchFamily="34" charset="0"/>
                <a:cs typeface="Calibri" panose="020F0502020204030204" pitchFamily="34" charset="0"/>
              </a:rPr>
              <a:t>. </a:t>
            </a:r>
            <a:r>
              <a:rPr lang="en-US" b="1" dirty="0">
                <a:latin typeface="Calibri" panose="020F0502020204030204" pitchFamily="34" charset="0"/>
                <a:cs typeface="Calibri" panose="020F0502020204030204" pitchFamily="34" charset="0"/>
              </a:rPr>
              <a:t>Providing Storage Structures for Efficient Query </a:t>
            </a:r>
            <a:r>
              <a:rPr lang="en-US" b="1" dirty="0" smtClean="0">
                <a:latin typeface="Calibri" panose="020F0502020204030204" pitchFamily="34" charset="0"/>
                <a:cs typeface="Calibri" panose="020F0502020204030204" pitchFamily="34" charset="0"/>
              </a:rPr>
              <a:t>Processing</a:t>
            </a: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Database </a:t>
            </a:r>
            <a:r>
              <a:rPr lang="en-US" dirty="0">
                <a:latin typeface="Calibri" panose="020F0502020204030204" pitchFamily="34" charset="0"/>
                <a:cs typeface="Calibri" panose="020F0502020204030204" pitchFamily="34" charset="0"/>
              </a:rPr>
              <a:t>systems must provide capabilities for efficiently executing queries and updates.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Because </a:t>
            </a:r>
            <a:r>
              <a:rPr lang="en-US" dirty="0">
                <a:latin typeface="Calibri" panose="020F0502020204030204" pitchFamily="34" charset="0"/>
                <a:cs typeface="Calibri" panose="020F0502020204030204" pitchFamily="34" charset="0"/>
              </a:rPr>
              <a:t>the database is typically stored on disk, the DBMS must provide specialized data structures to speed up disk search for the desired records.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Auxiliary </a:t>
            </a:r>
            <a:r>
              <a:rPr lang="en-US" dirty="0">
                <a:latin typeface="Calibri" panose="020F0502020204030204" pitchFamily="34" charset="0"/>
                <a:cs typeface="Calibri" panose="020F0502020204030204" pitchFamily="34" charset="0"/>
              </a:rPr>
              <a:t>files called </a:t>
            </a:r>
            <a:r>
              <a:rPr lang="en-US" b="1" dirty="0">
                <a:latin typeface="Calibri" panose="020F0502020204030204" pitchFamily="34" charset="0"/>
                <a:cs typeface="Calibri" panose="020F0502020204030204" pitchFamily="34" charset="0"/>
              </a:rPr>
              <a:t>indexes</a:t>
            </a:r>
            <a:r>
              <a:rPr lang="en-US" dirty="0">
                <a:latin typeface="Calibri" panose="020F0502020204030204" pitchFamily="34" charset="0"/>
                <a:cs typeface="Calibri" panose="020F0502020204030204" pitchFamily="34" charset="0"/>
              </a:rPr>
              <a:t> are used for this purpose. Indexes are typically based on tree data structures or hash data </a:t>
            </a:r>
            <a:r>
              <a:rPr lang="en-US" dirty="0" smtClean="0">
                <a:latin typeface="Calibri" panose="020F0502020204030204" pitchFamily="34" charset="0"/>
                <a:cs typeface="Calibri" panose="020F0502020204030204" pitchFamily="34" charset="0"/>
              </a:rPr>
              <a:t>structures, suitably </a:t>
            </a:r>
            <a:r>
              <a:rPr lang="en-US" dirty="0">
                <a:latin typeface="Calibri" panose="020F0502020204030204" pitchFamily="34" charset="0"/>
                <a:cs typeface="Calibri" panose="020F0502020204030204" pitchFamily="34" charset="0"/>
              </a:rPr>
              <a:t>modified for disk search.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In order to process the database records needed by a particular query, those records must be copied from disk to memory.</a:t>
            </a:r>
          </a:p>
        </p:txBody>
      </p:sp>
    </p:spTree>
    <p:extLst>
      <p:ext uri="{BB962C8B-B14F-4D97-AF65-F5344CB8AC3E}">
        <p14:creationId xmlns:p14="http://schemas.microsoft.com/office/powerpoint/2010/main" val="32300439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7074" y="563929"/>
            <a:ext cx="7954191" cy="671747"/>
          </a:xfrm>
        </p:spPr>
        <p:txBody>
          <a:bodyPr>
            <a:normAutofit/>
          </a:bodyPr>
          <a:lstStyle/>
          <a:p>
            <a:pPr algn="ctr"/>
            <a:r>
              <a:rPr lang="en-US" sz="3000" b="1" dirty="0">
                <a:latin typeface="Calibri" panose="020F0502020204030204" pitchFamily="34" charset="0"/>
                <a:cs typeface="Calibri" panose="020F0502020204030204" pitchFamily="34" charset="0"/>
              </a:rPr>
              <a:t>ADVANTAGES OF USING THE DBMS </a:t>
            </a:r>
            <a:r>
              <a:rPr lang="en-US" sz="3000" b="1" dirty="0" smtClean="0">
                <a:latin typeface="Calibri" panose="020F0502020204030204" pitchFamily="34" charset="0"/>
                <a:cs typeface="Calibri" panose="020F0502020204030204" pitchFamily="34" charset="0"/>
              </a:rPr>
              <a:t>APROACH</a:t>
            </a:r>
            <a:endParaRPr lang="en-US" sz="3000" b="1"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926755" y="1396314"/>
            <a:ext cx="10577385" cy="5016843"/>
          </a:xfrm>
        </p:spPr>
        <p:txBody>
          <a:bodyPr>
            <a:normAutofit/>
          </a:bodyPr>
          <a:lstStyle/>
          <a:p>
            <a:pPr marL="0" indent="0">
              <a:lnSpc>
                <a:spcPct val="200000"/>
              </a:lnSpc>
              <a:buNone/>
            </a:pPr>
            <a:r>
              <a:rPr lang="en-US" b="1" dirty="0">
                <a:latin typeface="Calibri" panose="020F0502020204030204" pitchFamily="34" charset="0"/>
                <a:cs typeface="Calibri" panose="020F0502020204030204" pitchFamily="34" charset="0"/>
              </a:rPr>
              <a:t>6</a:t>
            </a:r>
            <a:r>
              <a:rPr lang="en-US" b="1" dirty="0" smtClean="0">
                <a:latin typeface="Calibri" panose="020F0502020204030204" pitchFamily="34" charset="0"/>
                <a:cs typeface="Calibri" panose="020F0502020204030204" pitchFamily="34" charset="0"/>
              </a:rPr>
              <a:t>. </a:t>
            </a:r>
            <a:r>
              <a:rPr lang="en-US" b="1" dirty="0">
                <a:latin typeface="Calibri" panose="020F0502020204030204" pitchFamily="34" charset="0"/>
                <a:cs typeface="Calibri" panose="020F0502020204030204" pitchFamily="34" charset="0"/>
              </a:rPr>
              <a:t>Providing Backup and Recovery</a:t>
            </a:r>
            <a:endParaRPr lang="en-US" b="1"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A DBMS must provide facilities for recovering from hardware or software failures.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The </a:t>
            </a:r>
            <a:r>
              <a:rPr lang="en-US" dirty="0">
                <a:latin typeface="Calibri" panose="020F0502020204030204" pitchFamily="34" charset="0"/>
                <a:cs typeface="Calibri" panose="020F0502020204030204" pitchFamily="34" charset="0"/>
              </a:rPr>
              <a:t>backup and recovery subsystem of the DBMS is responsible for recovery. For example, if the computer system fails in the middle of a complex update transaction, the</a:t>
            </a:r>
            <a:r>
              <a:rPr lang="en-US" b="1" dirty="0">
                <a:latin typeface="Calibri" panose="020F0502020204030204" pitchFamily="34" charset="0"/>
                <a:cs typeface="Calibri" panose="020F0502020204030204" pitchFamily="34" charset="0"/>
              </a:rPr>
              <a:t> recovery subsystem </a:t>
            </a:r>
            <a:r>
              <a:rPr lang="en-US" dirty="0">
                <a:latin typeface="Calibri" panose="020F0502020204030204" pitchFamily="34" charset="0"/>
                <a:cs typeface="Calibri" panose="020F0502020204030204" pitchFamily="34" charset="0"/>
              </a:rPr>
              <a:t>is responsible for making sure that the database is restored to the state it was in before the transaction started executing.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Alternatively</a:t>
            </a:r>
            <a:r>
              <a:rPr lang="en-US" dirty="0">
                <a:latin typeface="Calibri" panose="020F0502020204030204" pitchFamily="34" charset="0"/>
                <a:cs typeface="Calibri" panose="020F0502020204030204" pitchFamily="34" charset="0"/>
              </a:rPr>
              <a:t>, the recovery subsystem could ensure that the transaction is resumed from the point at which it was interrupted so that its full effect is recorded in the database.</a:t>
            </a:r>
          </a:p>
        </p:txBody>
      </p:sp>
    </p:spTree>
    <p:extLst>
      <p:ext uri="{BB962C8B-B14F-4D97-AF65-F5344CB8AC3E}">
        <p14:creationId xmlns:p14="http://schemas.microsoft.com/office/powerpoint/2010/main" val="77155351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2614" y="1482812"/>
            <a:ext cx="10577385" cy="4534930"/>
          </a:xfrm>
        </p:spPr>
        <p:txBody>
          <a:bodyPr>
            <a:normAutofit/>
          </a:bodyPr>
          <a:lstStyle/>
          <a:p>
            <a:pPr>
              <a:lnSpc>
                <a:spcPct val="200000"/>
              </a:lnSpc>
            </a:pPr>
            <a:r>
              <a:rPr lang="en-US" dirty="0">
                <a:latin typeface="Calibri" panose="020F0502020204030204" pitchFamily="34" charset="0"/>
                <a:cs typeface="Calibri" panose="020F0502020204030204" pitchFamily="34" charset="0"/>
              </a:rPr>
              <a:t>I</a:t>
            </a:r>
            <a:r>
              <a:rPr lang="en-US" dirty="0" smtClean="0">
                <a:latin typeface="Calibri" panose="020F0502020204030204" pitchFamily="34" charset="0"/>
                <a:cs typeface="Calibri" panose="020F0502020204030204" pitchFamily="34" charset="0"/>
              </a:rPr>
              <a:t>n </a:t>
            </a:r>
            <a:r>
              <a:rPr lang="en-US" dirty="0">
                <a:latin typeface="Calibri" panose="020F0502020204030204" pitchFamily="34" charset="0"/>
                <a:cs typeface="Calibri" panose="020F0502020204030204" pitchFamily="34" charset="0"/>
              </a:rPr>
              <a:t>spite of the advantages of using a DBMS, there are a few situations in which such a </a:t>
            </a:r>
            <a:r>
              <a:rPr lang="en-US" dirty="0" smtClean="0">
                <a:latin typeface="Calibri" panose="020F0502020204030204" pitchFamily="34" charset="0"/>
                <a:cs typeface="Calibri" panose="020F0502020204030204" pitchFamily="34" charset="0"/>
              </a:rPr>
              <a:t>system </a:t>
            </a:r>
            <a:r>
              <a:rPr lang="en-US" dirty="0">
                <a:latin typeface="Calibri" panose="020F0502020204030204" pitchFamily="34" charset="0"/>
                <a:cs typeface="Calibri" panose="020F0502020204030204" pitchFamily="34" charset="0"/>
              </a:rPr>
              <a:t>may involve unnecessary overhead costs that would not be incurred in traditional file processing</a:t>
            </a:r>
            <a:r>
              <a:rPr lang="en-US" dirty="0" smtClean="0">
                <a:latin typeface="Calibri" panose="020F0502020204030204" pitchFamily="34" charset="0"/>
                <a:cs typeface="Calibri" panose="020F0502020204030204" pitchFamily="34" charset="0"/>
              </a:rPr>
              <a:t>.</a:t>
            </a:r>
          </a:p>
          <a:p>
            <a:pPr>
              <a:lnSpc>
                <a:spcPct val="200000"/>
              </a:lnSpc>
            </a:pPr>
            <a:r>
              <a:rPr lang="en-US" dirty="0" smtClean="0">
                <a:latin typeface="Calibri" panose="020F0502020204030204" pitchFamily="34" charset="0"/>
                <a:cs typeface="Calibri" panose="020F0502020204030204" pitchFamily="34" charset="0"/>
              </a:rPr>
              <a:t>The </a:t>
            </a:r>
            <a:r>
              <a:rPr lang="en-US" dirty="0">
                <a:latin typeface="Calibri" panose="020F0502020204030204" pitchFamily="34" charset="0"/>
                <a:cs typeface="Calibri" panose="020F0502020204030204" pitchFamily="34" charset="0"/>
              </a:rPr>
              <a:t>overhead costs of using a DBMS are due to the </a:t>
            </a:r>
            <a:r>
              <a:rPr lang="en-US" dirty="0" smtClean="0">
                <a:latin typeface="Calibri" panose="020F0502020204030204" pitchFamily="34" charset="0"/>
                <a:cs typeface="Calibri" panose="020F0502020204030204" pitchFamily="34" charset="0"/>
              </a:rPr>
              <a:t>following:</a:t>
            </a:r>
          </a:p>
          <a:p>
            <a:pPr lvl="1">
              <a:lnSpc>
                <a:spcPct val="200000"/>
              </a:lnSpc>
              <a:buFont typeface="Wingdings" panose="05000000000000000000" pitchFamily="2" charset="2"/>
              <a:buChar char="ü"/>
            </a:pPr>
            <a:r>
              <a:rPr lang="en-US" sz="1800" dirty="0" smtClean="0">
                <a:latin typeface="Calibri" panose="020F0502020204030204" pitchFamily="34" charset="0"/>
                <a:cs typeface="Calibri" panose="020F0502020204030204" pitchFamily="34" charset="0"/>
              </a:rPr>
              <a:t>High </a:t>
            </a:r>
            <a:r>
              <a:rPr lang="en-US" sz="1800" dirty="0">
                <a:latin typeface="Calibri" panose="020F0502020204030204" pitchFamily="34" charset="0"/>
                <a:cs typeface="Calibri" panose="020F0502020204030204" pitchFamily="34" charset="0"/>
              </a:rPr>
              <a:t>initial investment in hardware, software, and training </a:t>
            </a:r>
          </a:p>
          <a:p>
            <a:pPr lvl="1">
              <a:lnSpc>
                <a:spcPct val="200000"/>
              </a:lnSpc>
              <a:buFont typeface="Wingdings" panose="05000000000000000000" pitchFamily="2" charset="2"/>
              <a:buChar char="ü"/>
            </a:pPr>
            <a:r>
              <a:rPr lang="en-US" sz="1800" dirty="0" smtClean="0">
                <a:latin typeface="Calibri" panose="020F0502020204030204" pitchFamily="34" charset="0"/>
                <a:cs typeface="Calibri" panose="020F0502020204030204" pitchFamily="34" charset="0"/>
              </a:rPr>
              <a:t>The </a:t>
            </a:r>
            <a:r>
              <a:rPr lang="en-US" sz="1800" dirty="0">
                <a:latin typeface="Calibri" panose="020F0502020204030204" pitchFamily="34" charset="0"/>
                <a:cs typeface="Calibri" panose="020F0502020204030204" pitchFamily="34" charset="0"/>
              </a:rPr>
              <a:t>generality that a DBMS provides for defining and processing data </a:t>
            </a:r>
            <a:endParaRPr lang="en-US" sz="1800" dirty="0" smtClean="0">
              <a:latin typeface="Calibri" panose="020F0502020204030204" pitchFamily="34" charset="0"/>
              <a:cs typeface="Calibri" panose="020F0502020204030204" pitchFamily="34" charset="0"/>
            </a:endParaRPr>
          </a:p>
          <a:p>
            <a:pPr lvl="1">
              <a:lnSpc>
                <a:spcPct val="200000"/>
              </a:lnSpc>
              <a:buFont typeface="Wingdings" panose="05000000000000000000" pitchFamily="2" charset="2"/>
              <a:buChar char="ü"/>
            </a:pPr>
            <a:r>
              <a:rPr lang="en-US" sz="1800" dirty="0" smtClean="0">
                <a:latin typeface="Calibri" panose="020F0502020204030204" pitchFamily="34" charset="0"/>
                <a:cs typeface="Calibri" panose="020F0502020204030204" pitchFamily="34" charset="0"/>
              </a:rPr>
              <a:t>Overhead </a:t>
            </a:r>
            <a:r>
              <a:rPr lang="en-US" sz="1800" dirty="0">
                <a:latin typeface="Calibri" panose="020F0502020204030204" pitchFamily="34" charset="0"/>
                <a:cs typeface="Calibri" panose="020F0502020204030204" pitchFamily="34" charset="0"/>
              </a:rPr>
              <a:t>for providing security, concurrency control, recovery, and integrity functions</a:t>
            </a:r>
          </a:p>
        </p:txBody>
      </p:sp>
      <p:sp>
        <p:nvSpPr>
          <p:cNvPr id="4" name="Title 1"/>
          <p:cNvSpPr>
            <a:spLocks noGrp="1"/>
          </p:cNvSpPr>
          <p:nvPr>
            <p:ph type="title"/>
          </p:nvPr>
        </p:nvSpPr>
        <p:spPr>
          <a:xfrm>
            <a:off x="3163330" y="526860"/>
            <a:ext cx="5115697" cy="523466"/>
          </a:xfrm>
        </p:spPr>
        <p:txBody>
          <a:bodyPr>
            <a:normAutofit fontScale="90000"/>
          </a:bodyPr>
          <a:lstStyle/>
          <a:p>
            <a:pPr algn="ctr"/>
            <a:r>
              <a:rPr lang="en-US" sz="3000" b="1" dirty="0" smtClean="0">
                <a:latin typeface="Calibri" panose="020F0502020204030204" pitchFamily="34" charset="0"/>
                <a:cs typeface="Calibri" panose="020F0502020204030204" pitchFamily="34" charset="0"/>
              </a:rPr>
              <a:t>DBMS Overheads</a:t>
            </a:r>
            <a:endParaRPr lang="en-US" sz="30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0023959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3323" y="662783"/>
            <a:ext cx="5594051" cy="671747"/>
          </a:xfrm>
        </p:spPr>
        <p:txBody>
          <a:bodyPr/>
          <a:lstStyle/>
          <a:p>
            <a:pPr algn="ctr"/>
            <a:r>
              <a:rPr lang="en-US" b="1" dirty="0" smtClean="0">
                <a:latin typeface="Calibri" panose="020F0502020204030204" pitchFamily="34" charset="0"/>
                <a:cs typeface="Calibri" panose="020F0502020204030204" pitchFamily="34" charset="0"/>
              </a:rPr>
              <a:t>Database users</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433382" y="1915298"/>
            <a:ext cx="9440564" cy="3015048"/>
          </a:xfrm>
        </p:spPr>
        <p:txBody>
          <a:bodyPr>
            <a:normAutofit lnSpcReduction="10000"/>
          </a:bodyPr>
          <a:lstStyle/>
          <a:p>
            <a:pPr>
              <a:lnSpc>
                <a:spcPct val="200000"/>
              </a:lnSpc>
            </a:pPr>
            <a:r>
              <a:rPr lang="en-US" dirty="0" smtClean="0">
                <a:latin typeface="Calibri" panose="020F0502020204030204" pitchFamily="34" charset="0"/>
                <a:cs typeface="Calibri" panose="020F0502020204030204" pitchFamily="34" charset="0"/>
              </a:rPr>
              <a:t>Many people </a:t>
            </a:r>
            <a:r>
              <a:rPr lang="en-US" dirty="0">
                <a:latin typeface="Calibri" panose="020F0502020204030204" pitchFamily="34" charset="0"/>
                <a:cs typeface="Calibri" panose="020F0502020204030204" pitchFamily="34" charset="0"/>
              </a:rPr>
              <a:t>are involved in the design, use, and maintenance of a large database with hundreds of users.</a:t>
            </a:r>
            <a:endParaRPr lang="en-US" dirty="0" smtClean="0">
              <a:latin typeface="Calibri" panose="020F0502020204030204" pitchFamily="34" charset="0"/>
              <a:cs typeface="Calibri" panose="020F0502020204030204" pitchFamily="34" charset="0"/>
            </a:endParaRPr>
          </a:p>
          <a:p>
            <a:pPr>
              <a:lnSpc>
                <a:spcPct val="200000"/>
              </a:lnSpc>
            </a:pPr>
            <a:r>
              <a:rPr lang="en-US" dirty="0" smtClean="0">
                <a:latin typeface="Calibri" panose="020F0502020204030204" pitchFamily="34" charset="0"/>
                <a:cs typeface="Calibri" panose="020F0502020204030204" pitchFamily="34" charset="0"/>
              </a:rPr>
              <a:t>A </a:t>
            </a:r>
            <a:r>
              <a:rPr lang="en-US" dirty="0">
                <a:latin typeface="Calibri" panose="020F0502020204030204" pitchFamily="34" charset="0"/>
                <a:cs typeface="Calibri" panose="020F0502020204030204" pitchFamily="34" charset="0"/>
              </a:rPr>
              <a:t>typical DBMS has users with different rights and permissions who use it for different purposes. </a:t>
            </a:r>
            <a:endParaRPr lang="en-US" dirty="0" smtClean="0">
              <a:latin typeface="Calibri" panose="020F0502020204030204" pitchFamily="34" charset="0"/>
              <a:cs typeface="Calibri" panose="020F0502020204030204" pitchFamily="34" charset="0"/>
            </a:endParaRPr>
          </a:p>
          <a:p>
            <a:pPr>
              <a:lnSpc>
                <a:spcPct val="200000"/>
              </a:lnSpc>
            </a:pPr>
            <a:r>
              <a:rPr lang="en-US" dirty="0" smtClean="0">
                <a:latin typeface="Calibri" panose="020F0502020204030204" pitchFamily="34" charset="0"/>
                <a:cs typeface="Calibri" panose="020F0502020204030204" pitchFamily="34" charset="0"/>
              </a:rPr>
              <a:t>The </a:t>
            </a:r>
            <a:r>
              <a:rPr lang="en-US" dirty="0">
                <a:latin typeface="Calibri" panose="020F0502020204030204" pitchFamily="34" charset="0"/>
                <a:cs typeface="Calibri" panose="020F0502020204030204" pitchFamily="34" charset="0"/>
              </a:rPr>
              <a:t>users of a DBMS can be broadly categorized as </a:t>
            </a:r>
            <a:r>
              <a:rPr lang="en-US" dirty="0" smtClean="0">
                <a:latin typeface="Calibri" panose="020F0502020204030204" pitchFamily="34" charset="0"/>
                <a:cs typeface="Calibri" panose="020F0502020204030204" pitchFamily="34" charset="0"/>
              </a:rPr>
              <a:t>follows</a:t>
            </a:r>
          </a:p>
        </p:txBody>
      </p:sp>
    </p:spTree>
    <p:extLst>
      <p:ext uri="{BB962C8B-B14F-4D97-AF65-F5344CB8AC3E}">
        <p14:creationId xmlns:p14="http://schemas.microsoft.com/office/powerpoint/2010/main" val="227884707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5485" y="600999"/>
            <a:ext cx="5594051" cy="671747"/>
          </a:xfrm>
        </p:spPr>
        <p:txBody>
          <a:bodyPr/>
          <a:lstStyle/>
          <a:p>
            <a:pPr algn="ctr"/>
            <a:r>
              <a:rPr lang="en-US" b="1" dirty="0" smtClean="0">
                <a:latin typeface="Calibri" panose="020F0502020204030204" pitchFamily="34" charset="0"/>
                <a:cs typeface="Calibri" panose="020F0502020204030204" pitchFamily="34" charset="0"/>
              </a:rPr>
              <a:t>Database users</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136821" y="1606379"/>
            <a:ext cx="10503244" cy="4633783"/>
          </a:xfrm>
        </p:spPr>
        <p:txBody>
          <a:bodyPr>
            <a:normAutofit/>
          </a:bodyPr>
          <a:lstStyle/>
          <a:p>
            <a:pPr>
              <a:lnSpc>
                <a:spcPct val="200000"/>
              </a:lnSpc>
              <a:buAutoNum type="arabicPeriod"/>
            </a:pPr>
            <a:r>
              <a:rPr lang="en-US" b="1" dirty="0" smtClean="0">
                <a:latin typeface="Calibri" panose="020F0502020204030204" pitchFamily="34" charset="0"/>
                <a:cs typeface="Calibri" panose="020F0502020204030204" pitchFamily="34" charset="0"/>
              </a:rPr>
              <a:t>Database Administrators (DBA)</a:t>
            </a:r>
            <a:endParaRPr lang="en-US" dirty="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In any organization where many persons use the same resources, there is a need for a chief administrator to oversee and manage these resources.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In </a:t>
            </a:r>
            <a:r>
              <a:rPr lang="en-US" dirty="0">
                <a:latin typeface="Calibri" panose="020F0502020204030204" pitchFamily="34" charset="0"/>
                <a:cs typeface="Calibri" panose="020F0502020204030204" pitchFamily="34" charset="0"/>
              </a:rPr>
              <a:t>a database environment, the </a:t>
            </a:r>
            <a:r>
              <a:rPr lang="en-US" dirty="0" smtClean="0">
                <a:latin typeface="Calibri" panose="020F0502020204030204" pitchFamily="34" charset="0"/>
                <a:cs typeface="Calibri" panose="020F0502020204030204" pitchFamily="34" charset="0"/>
              </a:rPr>
              <a:t>primary </a:t>
            </a:r>
            <a:r>
              <a:rPr lang="en-US" dirty="0">
                <a:latin typeface="Calibri" panose="020F0502020204030204" pitchFamily="34" charset="0"/>
                <a:cs typeface="Calibri" panose="020F0502020204030204" pitchFamily="34" charset="0"/>
              </a:rPr>
              <a:t>resource is the database itself, and the secondary resource is the DBMS and related software.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Administering </a:t>
            </a:r>
            <a:r>
              <a:rPr lang="en-US" dirty="0">
                <a:latin typeface="Calibri" panose="020F0502020204030204" pitchFamily="34" charset="0"/>
                <a:cs typeface="Calibri" panose="020F0502020204030204" pitchFamily="34" charset="0"/>
              </a:rPr>
              <a:t>these resources is the responsibility of the database </a:t>
            </a:r>
            <a:r>
              <a:rPr lang="en-US" dirty="0" smtClean="0">
                <a:latin typeface="Calibri" panose="020F0502020204030204" pitchFamily="34" charset="0"/>
                <a:cs typeface="Calibri" panose="020F0502020204030204" pitchFamily="34" charset="0"/>
              </a:rPr>
              <a:t>administrator </a:t>
            </a:r>
            <a:r>
              <a:rPr lang="en-US" dirty="0">
                <a:latin typeface="Calibri" panose="020F0502020204030204" pitchFamily="34" charset="0"/>
                <a:cs typeface="Calibri" panose="020F0502020204030204" pitchFamily="34" charset="0"/>
              </a:rPr>
              <a:t>(DBA). </a:t>
            </a:r>
          </a:p>
        </p:txBody>
      </p:sp>
    </p:spTree>
    <p:extLst>
      <p:ext uri="{BB962C8B-B14F-4D97-AF65-F5344CB8AC3E}">
        <p14:creationId xmlns:p14="http://schemas.microsoft.com/office/powerpoint/2010/main" val="153351230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5485" y="600999"/>
            <a:ext cx="5594051" cy="671747"/>
          </a:xfrm>
        </p:spPr>
        <p:txBody>
          <a:bodyPr/>
          <a:lstStyle/>
          <a:p>
            <a:pPr algn="ctr"/>
            <a:r>
              <a:rPr lang="en-US" b="1" dirty="0" smtClean="0">
                <a:latin typeface="Calibri" panose="020F0502020204030204" pitchFamily="34" charset="0"/>
                <a:cs typeface="Calibri" panose="020F0502020204030204" pitchFamily="34" charset="0"/>
              </a:rPr>
              <a:t>Database users</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235674" y="1396314"/>
            <a:ext cx="10070758" cy="5189836"/>
          </a:xfrm>
        </p:spPr>
        <p:txBody>
          <a:bodyPr>
            <a:normAutofit/>
          </a:bodyPr>
          <a:lstStyle/>
          <a:p>
            <a:pPr>
              <a:lnSpc>
                <a:spcPct val="200000"/>
              </a:lnSpc>
              <a:buAutoNum type="arabicPeriod"/>
            </a:pPr>
            <a:r>
              <a:rPr lang="en-US" b="1" dirty="0" smtClean="0">
                <a:latin typeface="Calibri" panose="020F0502020204030204" pitchFamily="34" charset="0"/>
                <a:cs typeface="Calibri" panose="020F0502020204030204" pitchFamily="34" charset="0"/>
              </a:rPr>
              <a:t>Database Administrators (DBA)</a:t>
            </a:r>
            <a:endParaRPr lang="en-US" dirty="0">
              <a:latin typeface="Calibri" panose="020F0502020204030204" pitchFamily="34" charset="0"/>
              <a:cs typeface="Calibri" panose="020F0502020204030204" pitchFamily="34" charset="0"/>
            </a:endParaRPr>
          </a:p>
          <a:p>
            <a:pPr marL="0" indent="0">
              <a:lnSpc>
                <a:spcPct val="200000"/>
              </a:lnSpc>
              <a:buNone/>
            </a:pPr>
            <a:r>
              <a:rPr lang="en-US" dirty="0">
                <a:latin typeface="Calibri" panose="020F0502020204030204" pitchFamily="34" charset="0"/>
                <a:cs typeface="Calibri" panose="020F0502020204030204" pitchFamily="34" charset="0"/>
              </a:rPr>
              <a:t>The DBA is responsible for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ü"/>
            </a:pPr>
            <a:r>
              <a:rPr lang="en-US" dirty="0" smtClean="0">
                <a:latin typeface="Calibri" panose="020F0502020204030204" pitchFamily="34" charset="0"/>
                <a:cs typeface="Calibri" panose="020F0502020204030204" pitchFamily="34" charset="0"/>
              </a:rPr>
              <a:t>Authorizing </a:t>
            </a:r>
            <a:r>
              <a:rPr lang="en-US" dirty="0">
                <a:latin typeface="Calibri" panose="020F0502020204030204" pitchFamily="34" charset="0"/>
                <a:cs typeface="Calibri" panose="020F0502020204030204" pitchFamily="34" charset="0"/>
              </a:rPr>
              <a:t>access to the </a:t>
            </a:r>
            <a:r>
              <a:rPr lang="en-US" dirty="0" smtClean="0">
                <a:latin typeface="Calibri" panose="020F0502020204030204" pitchFamily="34" charset="0"/>
                <a:cs typeface="Calibri" panose="020F0502020204030204" pitchFamily="34" charset="0"/>
              </a:rPr>
              <a:t>database. </a:t>
            </a:r>
          </a:p>
          <a:p>
            <a:pPr>
              <a:lnSpc>
                <a:spcPct val="200000"/>
              </a:lnSpc>
              <a:buFont typeface="Wingdings" panose="05000000000000000000" pitchFamily="2" charset="2"/>
              <a:buChar char="ü"/>
            </a:pPr>
            <a:r>
              <a:rPr lang="en-US" dirty="0" smtClean="0">
                <a:latin typeface="Calibri" panose="020F0502020204030204" pitchFamily="34" charset="0"/>
                <a:cs typeface="Calibri" panose="020F0502020204030204" pitchFamily="34" charset="0"/>
              </a:rPr>
              <a:t>Coordinating </a:t>
            </a:r>
            <a:r>
              <a:rPr lang="en-US" dirty="0">
                <a:latin typeface="Calibri" panose="020F0502020204030204" pitchFamily="34" charset="0"/>
                <a:cs typeface="Calibri" panose="020F0502020204030204" pitchFamily="34" charset="0"/>
              </a:rPr>
              <a:t>and monitoring its </a:t>
            </a:r>
            <a:r>
              <a:rPr lang="en-US" dirty="0" smtClean="0">
                <a:latin typeface="Calibri" panose="020F0502020204030204" pitchFamily="34" charset="0"/>
                <a:cs typeface="Calibri" panose="020F0502020204030204" pitchFamily="34" charset="0"/>
              </a:rPr>
              <a:t>use </a:t>
            </a:r>
          </a:p>
          <a:p>
            <a:pPr>
              <a:lnSpc>
                <a:spcPct val="200000"/>
              </a:lnSpc>
              <a:buFont typeface="Wingdings" panose="05000000000000000000" pitchFamily="2" charset="2"/>
              <a:buChar char="ü"/>
            </a:pPr>
            <a:r>
              <a:rPr lang="en-US" dirty="0" smtClean="0">
                <a:latin typeface="Calibri" panose="020F0502020204030204" pitchFamily="34" charset="0"/>
                <a:cs typeface="Calibri" panose="020F0502020204030204" pitchFamily="34" charset="0"/>
              </a:rPr>
              <a:t>Acquiring </a:t>
            </a:r>
            <a:r>
              <a:rPr lang="en-US" dirty="0">
                <a:latin typeface="Calibri" panose="020F0502020204030204" pitchFamily="34" charset="0"/>
                <a:cs typeface="Calibri" panose="020F0502020204030204" pitchFamily="34" charset="0"/>
              </a:rPr>
              <a:t>software and hardware resources as needed.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ü"/>
            </a:pPr>
            <a:r>
              <a:rPr lang="en-US" dirty="0" smtClean="0">
                <a:latin typeface="Calibri" panose="020F0502020204030204" pitchFamily="34" charset="0"/>
                <a:cs typeface="Calibri" panose="020F0502020204030204" pitchFamily="34" charset="0"/>
              </a:rPr>
              <a:t>The </a:t>
            </a:r>
            <a:r>
              <a:rPr lang="en-US" dirty="0">
                <a:latin typeface="Calibri" panose="020F0502020204030204" pitchFamily="34" charset="0"/>
                <a:cs typeface="Calibri" panose="020F0502020204030204" pitchFamily="34" charset="0"/>
              </a:rPr>
              <a:t>DBA is </a:t>
            </a:r>
            <a:r>
              <a:rPr lang="en-US" dirty="0" smtClean="0">
                <a:latin typeface="Calibri" panose="020F0502020204030204" pitchFamily="34" charset="0"/>
                <a:cs typeface="Calibri" panose="020F0502020204030204" pitchFamily="34" charset="0"/>
              </a:rPr>
              <a:t>also accountable </a:t>
            </a:r>
            <a:r>
              <a:rPr lang="en-US" dirty="0">
                <a:latin typeface="Calibri" panose="020F0502020204030204" pitchFamily="34" charset="0"/>
                <a:cs typeface="Calibri" panose="020F0502020204030204" pitchFamily="34" charset="0"/>
              </a:rPr>
              <a:t>for problems such as breach of security or poor system response time.</a:t>
            </a:r>
          </a:p>
        </p:txBody>
      </p:sp>
    </p:spTree>
    <p:extLst>
      <p:ext uri="{BB962C8B-B14F-4D97-AF65-F5344CB8AC3E}">
        <p14:creationId xmlns:p14="http://schemas.microsoft.com/office/powerpoint/2010/main" val="312541354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5485" y="600999"/>
            <a:ext cx="5594051" cy="671747"/>
          </a:xfrm>
        </p:spPr>
        <p:txBody>
          <a:bodyPr/>
          <a:lstStyle/>
          <a:p>
            <a:pPr algn="ctr"/>
            <a:r>
              <a:rPr lang="en-US" b="1" dirty="0" smtClean="0">
                <a:latin typeface="Calibri" panose="020F0502020204030204" pitchFamily="34" charset="0"/>
                <a:cs typeface="Calibri" panose="020F0502020204030204" pitchFamily="34" charset="0"/>
              </a:rPr>
              <a:t>Database users</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136821" y="1606379"/>
            <a:ext cx="10503244" cy="4633783"/>
          </a:xfrm>
        </p:spPr>
        <p:txBody>
          <a:bodyPr>
            <a:normAutofit/>
          </a:bodyPr>
          <a:lstStyle/>
          <a:p>
            <a:pPr marL="0" indent="0">
              <a:lnSpc>
                <a:spcPct val="200000"/>
              </a:lnSpc>
              <a:buNone/>
            </a:pPr>
            <a:r>
              <a:rPr lang="en-US" b="1" dirty="0" smtClean="0">
                <a:latin typeface="Calibri" panose="020F0502020204030204" pitchFamily="34" charset="0"/>
                <a:cs typeface="Calibri" panose="020F0502020204030204" pitchFamily="34" charset="0"/>
              </a:rPr>
              <a:t>2. Database Designers</a:t>
            </a:r>
            <a:endParaRPr lang="en-US" dirty="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Database designers are responsible for identifying the data to be stored in the database and for choosing appropriate structures to represent and store this data.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These </a:t>
            </a:r>
            <a:r>
              <a:rPr lang="en-US" dirty="0">
                <a:latin typeface="Calibri" panose="020F0502020204030204" pitchFamily="34" charset="0"/>
                <a:cs typeface="Calibri" panose="020F0502020204030204" pitchFamily="34" charset="0"/>
              </a:rPr>
              <a:t>tasks are mostly undertaken before the database is actually implemented and populated with data.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It </a:t>
            </a:r>
            <a:r>
              <a:rPr lang="en-US" dirty="0">
                <a:latin typeface="Calibri" panose="020F0502020204030204" pitchFamily="34" charset="0"/>
                <a:cs typeface="Calibri" panose="020F0502020204030204" pitchFamily="34" charset="0"/>
              </a:rPr>
              <a:t>is the responsibility of database designers to communicate with all prospective database users in order to understand their requirements, and to come up with a design that meets these requirements.</a:t>
            </a:r>
          </a:p>
        </p:txBody>
      </p:sp>
    </p:spTree>
    <p:extLst>
      <p:ext uri="{BB962C8B-B14F-4D97-AF65-F5344CB8AC3E}">
        <p14:creationId xmlns:p14="http://schemas.microsoft.com/office/powerpoint/2010/main" val="263079907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5485" y="600999"/>
            <a:ext cx="5594051" cy="671747"/>
          </a:xfrm>
        </p:spPr>
        <p:txBody>
          <a:bodyPr/>
          <a:lstStyle/>
          <a:p>
            <a:pPr algn="ctr"/>
            <a:r>
              <a:rPr lang="en-US" b="1" dirty="0" smtClean="0">
                <a:latin typeface="Calibri" panose="020F0502020204030204" pitchFamily="34" charset="0"/>
                <a:cs typeface="Calibri" panose="020F0502020204030204" pitchFamily="34" charset="0"/>
              </a:rPr>
              <a:t>Database users</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136821" y="1606379"/>
            <a:ext cx="10503244" cy="2669059"/>
          </a:xfrm>
        </p:spPr>
        <p:txBody>
          <a:bodyPr>
            <a:normAutofit/>
          </a:bodyPr>
          <a:lstStyle/>
          <a:p>
            <a:pPr marL="0" indent="0">
              <a:lnSpc>
                <a:spcPct val="200000"/>
              </a:lnSpc>
              <a:buNone/>
            </a:pPr>
            <a:r>
              <a:rPr lang="en-US" b="1" dirty="0">
                <a:latin typeface="Calibri" panose="020F0502020204030204" pitchFamily="34" charset="0"/>
                <a:cs typeface="Calibri" panose="020F0502020204030204" pitchFamily="34" charset="0"/>
              </a:rPr>
              <a:t>3</a:t>
            </a:r>
            <a:r>
              <a:rPr lang="en-US" b="1" dirty="0" smtClean="0">
                <a:latin typeface="Calibri" panose="020F0502020204030204" pitchFamily="34" charset="0"/>
                <a:cs typeface="Calibri" panose="020F0502020204030204" pitchFamily="34" charset="0"/>
              </a:rPr>
              <a:t>. End users</a:t>
            </a:r>
            <a:endParaRPr lang="en-US" dirty="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End users are the people whose jobs require access to the database for querying, updating, and generating reports; the database primarily exists for their </a:t>
            </a:r>
            <a:r>
              <a:rPr lang="en-US" dirty="0" smtClean="0">
                <a:latin typeface="Calibri" panose="020F0502020204030204" pitchFamily="34" charset="0"/>
                <a:cs typeface="Calibri" panose="020F0502020204030204" pitchFamily="34" charset="0"/>
              </a:rPr>
              <a:t>use</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0235840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9801" y="512899"/>
            <a:ext cx="8911687" cy="710420"/>
          </a:xfrm>
        </p:spPr>
        <p:txBody>
          <a:bodyPr/>
          <a:lstStyle/>
          <a:p>
            <a:pPr algn="ctr"/>
            <a:r>
              <a:rPr lang="en-US" b="1" dirty="0" smtClean="0">
                <a:latin typeface="Calibri" panose="020F0502020204030204" pitchFamily="34" charset="0"/>
                <a:cs typeface="Calibri" panose="020F0502020204030204" pitchFamily="34" charset="0"/>
              </a:rPr>
              <a:t>Components of a database system</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594021" y="1235676"/>
            <a:ext cx="9465276" cy="5152767"/>
          </a:xfrm>
        </p:spPr>
        <p:txBody>
          <a:bodyPr>
            <a:noAutofit/>
          </a:bodyPr>
          <a:lstStyle/>
          <a:p>
            <a:pPr marL="0" indent="0">
              <a:lnSpc>
                <a:spcPct val="200000"/>
              </a:lnSpc>
              <a:buNone/>
            </a:pPr>
            <a:r>
              <a:rPr lang="en-US" dirty="0">
                <a:latin typeface="Calibri" panose="020F0502020204030204" pitchFamily="34" charset="0"/>
                <a:cs typeface="Calibri" panose="020F0502020204030204" pitchFamily="34" charset="0"/>
              </a:rPr>
              <a:t>Database systems constitute five elements/components:</a:t>
            </a:r>
          </a:p>
          <a:p>
            <a:pPr marL="0" indent="0">
              <a:lnSpc>
                <a:spcPct val="200000"/>
              </a:lnSpc>
              <a:buNone/>
            </a:pPr>
            <a:r>
              <a:rPr lang="en-US" dirty="0">
                <a:latin typeface="Calibri" panose="020F0502020204030204" pitchFamily="34" charset="0"/>
                <a:cs typeface="Calibri" panose="020F0502020204030204" pitchFamily="34" charset="0"/>
              </a:rPr>
              <a:t> 1. </a:t>
            </a:r>
            <a:r>
              <a:rPr lang="en-US" b="1" dirty="0">
                <a:latin typeface="Calibri" panose="020F0502020204030204" pitchFamily="34" charset="0"/>
                <a:cs typeface="Calibri" panose="020F0502020204030204" pitchFamily="34" charset="0"/>
              </a:rPr>
              <a:t>Hardware</a:t>
            </a:r>
          </a:p>
          <a:p>
            <a:pPr marL="0" indent="0">
              <a:lnSpc>
                <a:spcPct val="200000"/>
              </a:lnSpc>
              <a:buNone/>
            </a:pPr>
            <a:r>
              <a:rPr lang="en-US" dirty="0">
                <a:latin typeface="Calibri" panose="020F0502020204030204" pitchFamily="34" charset="0"/>
                <a:cs typeface="Calibri" panose="020F0502020204030204" pitchFamily="34" charset="0"/>
              </a:rPr>
              <a:t>Hardware refers to the physical, electronic devices such as computers and hard disks that offer the interface between computers and real-world systems.</a:t>
            </a:r>
          </a:p>
          <a:p>
            <a:pPr marL="0" indent="0">
              <a:lnSpc>
                <a:spcPct val="200000"/>
              </a:lnSpc>
              <a:buNone/>
            </a:pPr>
            <a:r>
              <a:rPr lang="en-US" dirty="0">
                <a:latin typeface="Calibri" panose="020F0502020204030204" pitchFamily="34" charset="0"/>
                <a:cs typeface="Calibri" panose="020F0502020204030204" pitchFamily="34" charset="0"/>
              </a:rPr>
              <a:t> </a:t>
            </a:r>
            <a:r>
              <a:rPr lang="en-US" dirty="0" smtClean="0">
                <a:latin typeface="Calibri" panose="020F0502020204030204" pitchFamily="34" charset="0"/>
                <a:cs typeface="Calibri" panose="020F0502020204030204" pitchFamily="34" charset="0"/>
              </a:rPr>
              <a:t>2</a:t>
            </a:r>
            <a:r>
              <a:rPr lang="en-US" b="1" dirty="0" smtClean="0">
                <a:latin typeface="Calibri" panose="020F0502020204030204" pitchFamily="34" charset="0"/>
                <a:cs typeface="Calibri" panose="020F0502020204030204" pitchFamily="34" charset="0"/>
              </a:rPr>
              <a:t>. </a:t>
            </a:r>
            <a:r>
              <a:rPr lang="en-US" b="1" dirty="0">
                <a:latin typeface="Calibri" panose="020F0502020204030204" pitchFamily="34" charset="0"/>
                <a:cs typeface="Calibri" panose="020F0502020204030204" pitchFamily="34" charset="0"/>
              </a:rPr>
              <a:t>Software</a:t>
            </a:r>
          </a:p>
          <a:p>
            <a:pPr marL="0" indent="0">
              <a:lnSpc>
                <a:spcPct val="200000"/>
              </a:lnSpc>
              <a:buNone/>
            </a:pPr>
            <a:r>
              <a:rPr lang="en-US" dirty="0">
                <a:latin typeface="Calibri" panose="020F0502020204030204" pitchFamily="34" charset="0"/>
                <a:cs typeface="Calibri" panose="020F0502020204030204" pitchFamily="34" charset="0"/>
              </a:rPr>
              <a:t>Software is a set of programs used to manage and control the database and includes the database software, operating system, network software used to share the data with other users, and the applications used to access the </a:t>
            </a:r>
            <a:r>
              <a:rPr lang="en-US" dirty="0" smtClean="0">
                <a:latin typeface="Calibri" panose="020F0502020204030204" pitchFamily="34" charset="0"/>
                <a:cs typeface="Calibri" panose="020F0502020204030204" pitchFamily="34" charset="0"/>
              </a:rPr>
              <a:t>data.</a:t>
            </a:r>
          </a:p>
        </p:txBody>
      </p:sp>
    </p:spTree>
    <p:extLst>
      <p:ext uri="{BB962C8B-B14F-4D97-AF65-F5344CB8AC3E}">
        <p14:creationId xmlns:p14="http://schemas.microsoft.com/office/powerpoint/2010/main" val="4097519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9801" y="512899"/>
            <a:ext cx="8911687" cy="710420"/>
          </a:xfrm>
        </p:spPr>
        <p:txBody>
          <a:bodyPr/>
          <a:lstStyle/>
          <a:p>
            <a:pPr algn="ctr"/>
            <a:r>
              <a:rPr lang="en-US" b="1" dirty="0" smtClean="0">
                <a:latin typeface="Calibri" panose="020F0502020204030204" pitchFamily="34" charset="0"/>
                <a:cs typeface="Calibri" panose="020F0502020204030204" pitchFamily="34" charset="0"/>
              </a:rPr>
              <a:t>Components of a database system</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594021" y="1235676"/>
            <a:ext cx="9465276" cy="5152767"/>
          </a:xfrm>
        </p:spPr>
        <p:txBody>
          <a:bodyPr>
            <a:noAutofit/>
          </a:bodyPr>
          <a:lstStyle/>
          <a:p>
            <a:pPr marL="0" indent="0">
              <a:lnSpc>
                <a:spcPct val="200000"/>
              </a:lnSpc>
              <a:buNone/>
            </a:pPr>
            <a:r>
              <a:rPr lang="en-US" b="1" dirty="0">
                <a:latin typeface="Calibri" panose="020F0502020204030204" pitchFamily="34" charset="0"/>
                <a:cs typeface="Calibri" panose="020F0502020204030204" pitchFamily="34" charset="0"/>
              </a:rPr>
              <a:t>3. Data</a:t>
            </a:r>
          </a:p>
          <a:p>
            <a:pPr marL="0" indent="0">
              <a:lnSpc>
                <a:spcPct val="200000"/>
              </a:lnSpc>
              <a:buNone/>
            </a:pPr>
            <a:r>
              <a:rPr lang="en-US" dirty="0">
                <a:latin typeface="Calibri" panose="020F0502020204030204" pitchFamily="34" charset="0"/>
                <a:cs typeface="Calibri" panose="020F0502020204030204" pitchFamily="34" charset="0"/>
              </a:rPr>
              <a:t>Data are raw facts and information that need to be organized and processed to make it more meaningful. Database dictionaries are used to centralize, document, control, and coordinate the use of data within an organization. A database is a repository of information about a database (also called metadata).</a:t>
            </a:r>
          </a:p>
        </p:txBody>
      </p:sp>
    </p:spTree>
    <p:extLst>
      <p:ext uri="{BB962C8B-B14F-4D97-AF65-F5344CB8AC3E}">
        <p14:creationId xmlns:p14="http://schemas.microsoft.com/office/powerpoint/2010/main" val="4259331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9801" y="302834"/>
            <a:ext cx="8911687" cy="710420"/>
          </a:xfrm>
        </p:spPr>
        <p:txBody>
          <a:bodyPr/>
          <a:lstStyle/>
          <a:p>
            <a:pPr algn="ctr"/>
            <a:r>
              <a:rPr lang="en-US" b="1" dirty="0" smtClean="0"/>
              <a:t>Components of a database system</a:t>
            </a:r>
            <a:endParaRPr lang="en-US" dirty="0"/>
          </a:p>
        </p:txBody>
      </p:sp>
      <p:sp>
        <p:nvSpPr>
          <p:cNvPr id="3" name="Content Placeholder 2"/>
          <p:cNvSpPr>
            <a:spLocks noGrp="1"/>
          </p:cNvSpPr>
          <p:nvPr>
            <p:ph idx="1"/>
          </p:nvPr>
        </p:nvSpPr>
        <p:spPr>
          <a:xfrm>
            <a:off x="1519880" y="1173893"/>
            <a:ext cx="9786551" cy="5424616"/>
          </a:xfrm>
        </p:spPr>
        <p:txBody>
          <a:bodyPr>
            <a:noAutofit/>
          </a:bodyPr>
          <a:lstStyle/>
          <a:p>
            <a:pPr marL="0" indent="0">
              <a:lnSpc>
                <a:spcPct val="200000"/>
              </a:lnSpc>
              <a:buNone/>
            </a:pPr>
            <a:r>
              <a:rPr lang="en-US" b="1" dirty="0">
                <a:latin typeface="Calibri" panose="020F0502020204030204" pitchFamily="34" charset="0"/>
                <a:cs typeface="Calibri" panose="020F0502020204030204" pitchFamily="34" charset="0"/>
              </a:rPr>
              <a:t> 4. Procedures</a:t>
            </a:r>
          </a:p>
          <a:p>
            <a:pPr marL="0" indent="0">
              <a:lnSpc>
                <a:spcPct val="200000"/>
              </a:lnSpc>
              <a:buNone/>
            </a:pPr>
            <a:r>
              <a:rPr lang="en-US" dirty="0">
                <a:latin typeface="Calibri" panose="020F0502020204030204" pitchFamily="34" charset="0"/>
                <a:cs typeface="Calibri" panose="020F0502020204030204" pitchFamily="34" charset="0"/>
              </a:rPr>
              <a:t>Procedures refer to the instructions used in a database management system and encompass everything from instructions to setup and install, login and logout, manage the day-to-day operations, take backups of data, and generate reports.</a:t>
            </a:r>
          </a:p>
          <a:p>
            <a:pPr marL="0" indent="0">
              <a:lnSpc>
                <a:spcPct val="200000"/>
              </a:lnSpc>
              <a:buNone/>
            </a:pPr>
            <a:r>
              <a:rPr lang="en-US" b="1" dirty="0">
                <a:latin typeface="Calibri" panose="020F0502020204030204" pitchFamily="34" charset="0"/>
                <a:cs typeface="Calibri" panose="020F0502020204030204" pitchFamily="34" charset="0"/>
              </a:rPr>
              <a:t> 5. Database Access Language</a:t>
            </a:r>
          </a:p>
          <a:p>
            <a:pPr marL="0" indent="0">
              <a:lnSpc>
                <a:spcPct val="200000"/>
              </a:lnSpc>
              <a:buNone/>
            </a:pPr>
            <a:r>
              <a:rPr lang="en-US" dirty="0">
                <a:latin typeface="Calibri" panose="020F0502020204030204" pitchFamily="34" charset="0"/>
                <a:cs typeface="Calibri" panose="020F0502020204030204" pitchFamily="34" charset="0"/>
              </a:rPr>
              <a:t>Database Access Language is a language used to write commands to access, update, and delete data stored in a database. Users can write commands using Database Access Language before submitting them to the database for execution. Through utilizing the language, users can create new databases, tables, insert data, and delete data.</a:t>
            </a:r>
          </a:p>
        </p:txBody>
      </p:sp>
    </p:spTree>
    <p:extLst>
      <p:ext uri="{BB962C8B-B14F-4D97-AF65-F5344CB8AC3E}">
        <p14:creationId xmlns:p14="http://schemas.microsoft.com/office/powerpoint/2010/main" val="2536834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5224" y="613356"/>
            <a:ext cx="9404723" cy="770601"/>
          </a:xfrm>
        </p:spPr>
        <p:txBody>
          <a:bodyPr>
            <a:normAutofit/>
          </a:bodyPr>
          <a:lstStyle/>
          <a:p>
            <a:pPr algn="ctr"/>
            <a:r>
              <a:rPr lang="en-US" b="1" dirty="0">
                <a:latin typeface="Calibri" panose="020F0502020204030204" pitchFamily="34" charset="0"/>
                <a:cs typeface="Calibri" panose="020F0502020204030204" pitchFamily="34" charset="0"/>
              </a:rPr>
              <a:t>Database System Concepts and Architecture</a:t>
            </a:r>
          </a:p>
        </p:txBody>
      </p:sp>
      <p:sp>
        <p:nvSpPr>
          <p:cNvPr id="3" name="Content Placeholder 2"/>
          <p:cNvSpPr>
            <a:spLocks noGrp="1"/>
          </p:cNvSpPr>
          <p:nvPr>
            <p:ph idx="1"/>
          </p:nvPr>
        </p:nvSpPr>
        <p:spPr>
          <a:xfrm>
            <a:off x="1136821" y="1680520"/>
            <a:ext cx="10107827" cy="4246604"/>
          </a:xfrm>
        </p:spPr>
        <p:txBody>
          <a:bodyPr>
            <a:normAutofit/>
          </a:bodyPr>
          <a:lstStyle/>
          <a:p>
            <a:pPr>
              <a:lnSpc>
                <a:spcPct val="200000"/>
              </a:lnSpc>
            </a:pPr>
            <a:r>
              <a:rPr lang="en-US" dirty="0">
                <a:latin typeface="Calibri" panose="020F0502020204030204" pitchFamily="34" charset="0"/>
                <a:cs typeface="Calibri" panose="020F0502020204030204" pitchFamily="34" charset="0"/>
              </a:rPr>
              <a:t>The architecture of DBMS packages has evolved from the early monolithic systems, where the whole DBMS software package was one tightly integrated system, to the modern DBMS packages that are modular in design, with a client/server system architecture. </a:t>
            </a:r>
            <a:endParaRPr lang="en-US" dirty="0" smtClean="0">
              <a:latin typeface="Calibri" panose="020F0502020204030204" pitchFamily="34" charset="0"/>
              <a:cs typeface="Calibri" panose="020F0502020204030204" pitchFamily="34" charset="0"/>
            </a:endParaRPr>
          </a:p>
          <a:p>
            <a:pPr>
              <a:lnSpc>
                <a:spcPct val="200000"/>
              </a:lnSpc>
            </a:pPr>
            <a:r>
              <a:rPr lang="en-US" dirty="0" smtClean="0">
                <a:latin typeface="Calibri" panose="020F0502020204030204" pitchFamily="34" charset="0"/>
                <a:cs typeface="Calibri" panose="020F0502020204030204" pitchFamily="34" charset="0"/>
              </a:rPr>
              <a:t>This evolution </a:t>
            </a:r>
            <a:r>
              <a:rPr lang="en-US" dirty="0">
                <a:latin typeface="Calibri" panose="020F0502020204030204" pitchFamily="34" charset="0"/>
                <a:cs typeface="Calibri" panose="020F0502020204030204" pitchFamily="34" charset="0"/>
              </a:rPr>
              <a:t>mirrors the trends in computing, where large centralized mainframe computers are being replaced by hundreds of distributed workstations and personal computers </a:t>
            </a:r>
            <a:r>
              <a:rPr lang="en-US" dirty="0" smtClean="0">
                <a:latin typeface="Calibri" panose="020F0502020204030204" pitchFamily="34" charset="0"/>
                <a:cs typeface="Calibri" panose="020F0502020204030204" pitchFamily="34" charset="0"/>
              </a:rPr>
              <a:t>connected </a:t>
            </a:r>
            <a:r>
              <a:rPr lang="en-US" dirty="0">
                <a:latin typeface="Calibri" panose="020F0502020204030204" pitchFamily="34" charset="0"/>
                <a:cs typeface="Calibri" panose="020F0502020204030204" pitchFamily="34" charset="0"/>
              </a:rPr>
              <a:t>via communications networks to various types of server machines-s-Web servers, database servers, file servers, application servers, and so </a:t>
            </a:r>
            <a:r>
              <a:rPr lang="en-US" dirty="0" smtClean="0">
                <a:latin typeface="Calibri" panose="020F0502020204030204" pitchFamily="34" charset="0"/>
                <a:cs typeface="Calibri" panose="020F0502020204030204" pitchFamily="34" charset="0"/>
              </a:rPr>
              <a:t>on.</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0832666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5224" y="613356"/>
            <a:ext cx="9404723" cy="770601"/>
          </a:xfrm>
        </p:spPr>
        <p:txBody>
          <a:bodyPr>
            <a:normAutofit/>
          </a:bodyPr>
          <a:lstStyle/>
          <a:p>
            <a:pPr algn="ctr"/>
            <a:r>
              <a:rPr lang="en-US" b="1" dirty="0">
                <a:latin typeface="Calibri" panose="020F0502020204030204" pitchFamily="34" charset="0"/>
                <a:cs typeface="Calibri" panose="020F0502020204030204" pitchFamily="34" charset="0"/>
              </a:rPr>
              <a:t>Database System Concepts and Architecture</a:t>
            </a:r>
          </a:p>
        </p:txBody>
      </p:sp>
      <p:sp>
        <p:nvSpPr>
          <p:cNvPr id="3" name="Content Placeholder 2"/>
          <p:cNvSpPr>
            <a:spLocks noGrp="1"/>
          </p:cNvSpPr>
          <p:nvPr>
            <p:ph idx="1"/>
          </p:nvPr>
        </p:nvSpPr>
        <p:spPr>
          <a:xfrm>
            <a:off x="1977081" y="1680520"/>
            <a:ext cx="9354064" cy="4246604"/>
          </a:xfrm>
        </p:spPr>
        <p:txBody>
          <a:bodyPr>
            <a:normAutofit/>
          </a:bodyPr>
          <a:lstStyle/>
          <a:p>
            <a:pPr>
              <a:lnSpc>
                <a:spcPct val="150000"/>
              </a:lnSpc>
            </a:pPr>
            <a:r>
              <a:rPr lang="en-US" dirty="0" smtClean="0">
                <a:latin typeface="Calibri" panose="020F0502020204030204" pitchFamily="34" charset="0"/>
                <a:cs typeface="Calibri" panose="020F0502020204030204" pitchFamily="34" charset="0"/>
              </a:rPr>
              <a:t>Database server </a:t>
            </a:r>
            <a:r>
              <a:rPr lang="en-US" dirty="0">
                <a:latin typeface="Calibri" panose="020F0502020204030204" pitchFamily="34" charset="0"/>
                <a:cs typeface="Calibri" panose="020F0502020204030204" pitchFamily="34" charset="0"/>
              </a:rPr>
              <a:t>is based on a Client-Server Architecture and is intended for </a:t>
            </a:r>
            <a:r>
              <a:rPr lang="en-US" b="1" dirty="0">
                <a:latin typeface="Calibri" panose="020F0502020204030204" pitchFamily="34" charset="0"/>
                <a:cs typeface="Calibri" panose="020F0502020204030204" pitchFamily="34" charset="0"/>
              </a:rPr>
              <a:t>end-users</a:t>
            </a:r>
            <a:r>
              <a:rPr lang="en-US" dirty="0">
                <a:latin typeface="Calibri" panose="020F0502020204030204" pitchFamily="34" charset="0"/>
                <a:cs typeface="Calibri" panose="020F0502020204030204" pitchFamily="34" charset="0"/>
              </a:rPr>
              <a:t> known as clients who send requests to </a:t>
            </a:r>
            <a:r>
              <a:rPr lang="en-US" dirty="0" smtClean="0">
                <a:latin typeface="Calibri" panose="020F0502020204030204" pitchFamily="34" charset="0"/>
                <a:cs typeface="Calibri" panose="020F0502020204030204" pitchFamily="34" charset="0"/>
              </a:rPr>
              <a:t>the</a:t>
            </a:r>
            <a:r>
              <a:rPr lang="en-US" dirty="0">
                <a:latin typeface="Calibri" panose="020F0502020204030204" pitchFamily="34" charset="0"/>
                <a:cs typeface="Calibri" panose="020F0502020204030204" pitchFamily="34" charset="0"/>
              </a:rPr>
              <a:t> </a:t>
            </a:r>
            <a:r>
              <a:rPr lang="en-US" b="1" dirty="0">
                <a:latin typeface="Calibri" panose="020F0502020204030204" pitchFamily="34" charset="0"/>
                <a:cs typeface="Calibri" panose="020F0502020204030204" pitchFamily="34" charset="0"/>
              </a:rPr>
              <a:t>Server</a:t>
            </a:r>
            <a:r>
              <a:rPr lang="en-US" dirty="0">
                <a:latin typeface="Calibri" panose="020F0502020204030204" pitchFamily="34" charset="0"/>
                <a:cs typeface="Calibri" panose="020F0502020204030204" pitchFamily="34" charset="0"/>
              </a:rPr>
              <a:t> installed on a particular computer.</a:t>
            </a:r>
          </a:p>
          <a:p>
            <a:pPr>
              <a:lnSpc>
                <a:spcPct val="150000"/>
              </a:lnSpc>
            </a:pPr>
            <a:r>
              <a:rPr lang="en-US" dirty="0">
                <a:latin typeface="Calibri" panose="020F0502020204030204" pitchFamily="34" charset="0"/>
                <a:cs typeface="Calibri" panose="020F0502020204030204" pitchFamily="34" charset="0"/>
              </a:rPr>
              <a:t>The client can be any computer that requests something from the serve on the other hand, the Server is the computer that is designed to serve the requests to the client.</a:t>
            </a:r>
          </a:p>
          <a:p>
            <a:pPr>
              <a:lnSpc>
                <a:spcPct val="150000"/>
              </a:lnSpc>
            </a:pPr>
            <a:r>
              <a:rPr lang="en-US" dirty="0">
                <a:latin typeface="Calibri" panose="020F0502020204030204" pitchFamily="34" charset="0"/>
                <a:cs typeface="Calibri" panose="020F0502020204030204" pitchFamily="34" charset="0"/>
              </a:rPr>
              <a:t>Client-server architecture is a computing model in which the server hosts, delivers and manages most of the resources and services to be consumed by the client. This type of architecture has one or more client computers connected to a central server over a network or internet connection. </a:t>
            </a:r>
          </a:p>
        </p:txBody>
      </p:sp>
    </p:spTree>
    <p:extLst>
      <p:ext uri="{BB962C8B-B14F-4D97-AF65-F5344CB8AC3E}">
        <p14:creationId xmlns:p14="http://schemas.microsoft.com/office/powerpoint/2010/main" val="46271090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5224" y="613356"/>
            <a:ext cx="9404723" cy="770601"/>
          </a:xfrm>
        </p:spPr>
        <p:txBody>
          <a:bodyPr>
            <a:normAutofit/>
          </a:bodyPr>
          <a:lstStyle/>
          <a:p>
            <a:pPr algn="ctr"/>
            <a:r>
              <a:rPr lang="en-US" b="1" dirty="0">
                <a:latin typeface="Calibri" panose="020F0502020204030204" pitchFamily="34" charset="0"/>
                <a:cs typeface="Calibri" panose="020F0502020204030204" pitchFamily="34" charset="0"/>
              </a:rPr>
              <a:t>Database System Concepts and Architecture</a:t>
            </a:r>
          </a:p>
        </p:txBody>
      </p:sp>
      <p:sp>
        <p:nvSpPr>
          <p:cNvPr id="3" name="Content Placeholder 2"/>
          <p:cNvSpPr>
            <a:spLocks noGrp="1"/>
          </p:cNvSpPr>
          <p:nvPr>
            <p:ph idx="1"/>
          </p:nvPr>
        </p:nvSpPr>
        <p:spPr>
          <a:xfrm>
            <a:off x="3212757" y="1828800"/>
            <a:ext cx="5647037" cy="3731740"/>
          </a:xfrm>
        </p:spPr>
        <p:txBody>
          <a:bodyPr>
            <a:normAutofit/>
          </a:bodyPr>
          <a:lstStyle/>
          <a:p>
            <a:pPr>
              <a:lnSpc>
                <a:spcPct val="200000"/>
              </a:lnSpc>
            </a:pPr>
            <a:r>
              <a:rPr lang="en-US" dirty="0" smtClean="0">
                <a:latin typeface="Calibri" panose="020F0502020204030204" pitchFamily="34" charset="0"/>
                <a:cs typeface="Calibri" panose="020F0502020204030204" pitchFamily="34" charset="0"/>
              </a:rPr>
              <a:t>There are THREE DBMS architectures namely</a:t>
            </a:r>
          </a:p>
          <a:p>
            <a:pPr lvl="1">
              <a:lnSpc>
                <a:spcPct val="200000"/>
              </a:lnSpc>
              <a:buFont typeface="Wingdings" panose="05000000000000000000" pitchFamily="2" charset="2"/>
              <a:buChar char="Ø"/>
            </a:pPr>
            <a:r>
              <a:rPr lang="en-US" sz="1800" dirty="0" smtClean="0">
                <a:latin typeface="Calibri" panose="020F0502020204030204" pitchFamily="34" charset="0"/>
                <a:cs typeface="Calibri" panose="020F0502020204030204" pitchFamily="34" charset="0"/>
              </a:rPr>
              <a:t>Single tier architecture</a:t>
            </a:r>
          </a:p>
          <a:p>
            <a:pPr lvl="1">
              <a:lnSpc>
                <a:spcPct val="200000"/>
              </a:lnSpc>
              <a:buFont typeface="Wingdings" panose="05000000000000000000" pitchFamily="2" charset="2"/>
              <a:buChar char="Ø"/>
            </a:pPr>
            <a:r>
              <a:rPr lang="en-US" sz="1800" dirty="0" smtClean="0">
                <a:latin typeface="Calibri" panose="020F0502020204030204" pitchFamily="34" charset="0"/>
                <a:cs typeface="Calibri" panose="020F0502020204030204" pitchFamily="34" charset="0"/>
              </a:rPr>
              <a:t>Two-tier architecture</a:t>
            </a:r>
          </a:p>
          <a:p>
            <a:pPr lvl="1">
              <a:lnSpc>
                <a:spcPct val="200000"/>
              </a:lnSpc>
              <a:buFont typeface="Wingdings" panose="05000000000000000000" pitchFamily="2" charset="2"/>
              <a:buChar char="Ø"/>
            </a:pPr>
            <a:r>
              <a:rPr lang="en-US" sz="1800" dirty="0" smtClean="0">
                <a:latin typeface="Calibri" panose="020F0502020204030204" pitchFamily="34" charset="0"/>
                <a:cs typeface="Calibri" panose="020F0502020204030204" pitchFamily="34" charset="0"/>
              </a:rPr>
              <a:t>Three-tier architecture</a:t>
            </a:r>
            <a:endParaRPr lang="en-US"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6314364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5224" y="613356"/>
            <a:ext cx="9404723" cy="770601"/>
          </a:xfrm>
        </p:spPr>
        <p:txBody>
          <a:bodyPr>
            <a:normAutofit/>
          </a:bodyPr>
          <a:lstStyle/>
          <a:p>
            <a:pPr algn="ctr"/>
            <a:r>
              <a:rPr lang="en-US" b="1" dirty="0" smtClean="0">
                <a:latin typeface="Calibri" panose="020F0502020204030204" pitchFamily="34" charset="0"/>
                <a:cs typeface="Calibri" panose="020F0502020204030204" pitchFamily="34" charset="0"/>
              </a:rPr>
              <a:t>Client - server Architecture types</a:t>
            </a:r>
            <a:endParaRPr lang="en-US" b="1"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2557849" y="1680519"/>
            <a:ext cx="8180173" cy="4015946"/>
          </a:xfrm>
        </p:spPr>
        <p:txBody>
          <a:bodyPr>
            <a:normAutofit/>
          </a:bodyPr>
          <a:lstStyle/>
          <a:p>
            <a:pPr>
              <a:lnSpc>
                <a:spcPct val="200000"/>
              </a:lnSpc>
            </a:pPr>
            <a:r>
              <a:rPr lang="en-US" dirty="0" smtClean="0">
                <a:latin typeface="Calibri" panose="020F0502020204030204" pitchFamily="34" charset="0"/>
                <a:cs typeface="Calibri" panose="020F0502020204030204" pitchFamily="34" charset="0"/>
              </a:rPr>
              <a:t>There are THREE DBMS architectures based on the client server model namely</a:t>
            </a:r>
          </a:p>
          <a:p>
            <a:pPr lvl="1">
              <a:lnSpc>
                <a:spcPct val="200000"/>
              </a:lnSpc>
              <a:buFont typeface="Wingdings" panose="05000000000000000000" pitchFamily="2" charset="2"/>
              <a:buChar char="Ø"/>
            </a:pPr>
            <a:r>
              <a:rPr lang="en-US" sz="1800" dirty="0" smtClean="0">
                <a:latin typeface="Calibri" panose="020F0502020204030204" pitchFamily="34" charset="0"/>
                <a:cs typeface="Calibri" panose="020F0502020204030204" pitchFamily="34" charset="0"/>
              </a:rPr>
              <a:t>Single tier architecture</a:t>
            </a:r>
          </a:p>
          <a:p>
            <a:pPr lvl="1">
              <a:lnSpc>
                <a:spcPct val="200000"/>
              </a:lnSpc>
              <a:buFont typeface="Wingdings" panose="05000000000000000000" pitchFamily="2" charset="2"/>
              <a:buChar char="Ø"/>
            </a:pPr>
            <a:r>
              <a:rPr lang="en-US" sz="1800" dirty="0" smtClean="0">
                <a:latin typeface="Calibri" panose="020F0502020204030204" pitchFamily="34" charset="0"/>
                <a:cs typeface="Calibri" panose="020F0502020204030204" pitchFamily="34" charset="0"/>
              </a:rPr>
              <a:t>Two-tier architecture</a:t>
            </a:r>
          </a:p>
          <a:p>
            <a:pPr lvl="1">
              <a:lnSpc>
                <a:spcPct val="200000"/>
              </a:lnSpc>
              <a:buFont typeface="Wingdings" panose="05000000000000000000" pitchFamily="2" charset="2"/>
              <a:buChar char="Ø"/>
            </a:pPr>
            <a:r>
              <a:rPr lang="en-US" sz="1800" dirty="0" smtClean="0">
                <a:latin typeface="Calibri" panose="020F0502020204030204" pitchFamily="34" charset="0"/>
                <a:cs typeface="Calibri" panose="020F0502020204030204" pitchFamily="34" charset="0"/>
              </a:rPr>
              <a:t>Three-tier architecture</a:t>
            </a:r>
            <a:endParaRPr lang="en-US"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1003546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8793" y="613356"/>
            <a:ext cx="6940937" cy="647033"/>
          </a:xfrm>
        </p:spPr>
        <p:txBody>
          <a:bodyPr>
            <a:normAutofit/>
          </a:bodyPr>
          <a:lstStyle/>
          <a:p>
            <a:pPr algn="ctr"/>
            <a:r>
              <a:rPr lang="en-US" sz="3000" b="1" dirty="0" smtClean="0"/>
              <a:t>1. Single </a:t>
            </a:r>
            <a:r>
              <a:rPr lang="en-US" sz="3000" b="1" dirty="0"/>
              <a:t>tier architecture</a:t>
            </a:r>
            <a:endParaRPr lang="en-US" sz="3000" dirty="0"/>
          </a:p>
        </p:txBody>
      </p:sp>
      <p:sp>
        <p:nvSpPr>
          <p:cNvPr id="3" name="Content Placeholder 2"/>
          <p:cNvSpPr>
            <a:spLocks noGrp="1"/>
          </p:cNvSpPr>
          <p:nvPr>
            <p:ph idx="1"/>
          </p:nvPr>
        </p:nvSpPr>
        <p:spPr>
          <a:xfrm>
            <a:off x="1272747" y="1804086"/>
            <a:ext cx="9724766" cy="2866767"/>
          </a:xfrm>
        </p:spPr>
        <p:txBody>
          <a:bodyPr>
            <a:noAutofit/>
          </a:bodyPr>
          <a:lstStyle/>
          <a:p>
            <a:pPr>
              <a:lnSpc>
                <a:spcPct val="250000"/>
              </a:lnSpc>
            </a:pPr>
            <a:r>
              <a:rPr lang="en-US" dirty="0">
                <a:latin typeface="Calibri" panose="020F0502020204030204" pitchFamily="34" charset="0"/>
                <a:cs typeface="Calibri" panose="020F0502020204030204" pitchFamily="34" charset="0"/>
              </a:rPr>
              <a:t>This is </a:t>
            </a:r>
            <a:r>
              <a:rPr lang="en-US" dirty="0" smtClean="0">
                <a:latin typeface="Calibri" panose="020F0502020204030204" pitchFamily="34" charset="0"/>
                <a:cs typeface="Calibri" panose="020F0502020204030204" pitchFamily="34" charset="0"/>
              </a:rPr>
              <a:t>a monolithic system architecture where </a:t>
            </a:r>
            <a:r>
              <a:rPr lang="en-US" dirty="0">
                <a:latin typeface="Calibri" panose="020F0502020204030204" pitchFamily="34" charset="0"/>
                <a:cs typeface="Calibri" panose="020F0502020204030204" pitchFamily="34" charset="0"/>
              </a:rPr>
              <a:t>the database is readily available on the client </a:t>
            </a:r>
            <a:r>
              <a:rPr lang="en-US" dirty="0" smtClean="0">
                <a:latin typeface="Calibri" panose="020F0502020204030204" pitchFamily="34" charset="0"/>
                <a:cs typeface="Calibri" panose="020F0502020204030204" pitchFamily="34" charset="0"/>
              </a:rPr>
              <a:t>machine and therefore any </a:t>
            </a:r>
            <a:r>
              <a:rPr lang="en-US" dirty="0">
                <a:latin typeface="Calibri" panose="020F0502020204030204" pitchFamily="34" charset="0"/>
                <a:cs typeface="Calibri" panose="020F0502020204030204" pitchFamily="34" charset="0"/>
              </a:rPr>
              <a:t>request made by client doesn’t require a network connection to perform the action on the database</a:t>
            </a:r>
            <a:r>
              <a:rPr lang="en-US" dirty="0" smtClean="0">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4307773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8857" y="699853"/>
            <a:ext cx="4383089" cy="523466"/>
          </a:xfrm>
        </p:spPr>
        <p:txBody>
          <a:bodyPr>
            <a:normAutofit/>
          </a:bodyPr>
          <a:lstStyle/>
          <a:p>
            <a:pPr algn="ctr"/>
            <a:r>
              <a:rPr lang="en-US" sz="2000" b="1" dirty="0" smtClean="0"/>
              <a:t>2. Two tier architecture</a:t>
            </a:r>
            <a:endParaRPr lang="en-US" sz="2000" b="1" dirty="0"/>
          </a:p>
        </p:txBody>
      </p:sp>
      <p:sp>
        <p:nvSpPr>
          <p:cNvPr id="3" name="Content Placeholder 2"/>
          <p:cNvSpPr>
            <a:spLocks noGrp="1"/>
          </p:cNvSpPr>
          <p:nvPr>
            <p:ph idx="1"/>
          </p:nvPr>
        </p:nvSpPr>
        <p:spPr>
          <a:xfrm>
            <a:off x="642553" y="1705234"/>
            <a:ext cx="7092777" cy="4782064"/>
          </a:xfrm>
        </p:spPr>
        <p:txBody>
          <a:bodyPr>
            <a:noAutofit/>
          </a:bodyPr>
          <a:lstStyle/>
          <a:p>
            <a:pPr>
              <a:lnSpc>
                <a:spcPct val="150000"/>
              </a:lnSpc>
            </a:pPr>
            <a:r>
              <a:rPr lang="en-US" dirty="0" smtClean="0">
                <a:latin typeface="Calibri" panose="020F0502020204030204" pitchFamily="34" charset="0"/>
                <a:cs typeface="Calibri" panose="020F0502020204030204" pitchFamily="34" charset="0"/>
              </a:rPr>
              <a:t>In </a:t>
            </a:r>
            <a:r>
              <a:rPr lang="en-US" dirty="0">
                <a:latin typeface="Calibri" panose="020F0502020204030204" pitchFamily="34" charset="0"/>
                <a:cs typeface="Calibri" panose="020F0502020204030204" pitchFamily="34" charset="0"/>
              </a:rPr>
              <a:t>two-tier architecture, the Database system is present at the server machine and the DBMS application is present at the client machine, these two machines are connected with each other through a reliable network as shown in the above diagram.</a:t>
            </a:r>
          </a:p>
          <a:p>
            <a:pPr>
              <a:lnSpc>
                <a:spcPct val="150000"/>
              </a:lnSpc>
            </a:pPr>
            <a:r>
              <a:rPr lang="en-US" dirty="0">
                <a:latin typeface="Calibri" panose="020F0502020204030204" pitchFamily="34" charset="0"/>
                <a:cs typeface="Calibri" panose="020F0502020204030204" pitchFamily="34" charset="0"/>
              </a:rPr>
              <a:t>Whenever client machine makes a request to access the database present at server using a query language like SQL, the server perform the request on the database and returns the result back to the client. The application connection interface such as JDBC, ODBC are used for the interaction between server and client</a:t>
            </a:r>
            <a:r>
              <a:rPr lang="en-US" dirty="0" smtClean="0">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p:txBody>
      </p:sp>
      <p:pic>
        <p:nvPicPr>
          <p:cNvPr id="4" name="Picture 3" descr="DBMS Architecture - 2-tier"/>
          <p:cNvPicPr/>
          <p:nvPr/>
        </p:nvPicPr>
        <p:blipFill>
          <a:blip r:embed="rId2">
            <a:extLst>
              <a:ext uri="{28A0092B-C50C-407E-A947-70E740481C1C}">
                <a14:useLocalDpi xmlns:a14="http://schemas.microsoft.com/office/drawing/2010/main" val="0"/>
              </a:ext>
            </a:extLst>
          </a:blip>
          <a:srcRect/>
          <a:stretch>
            <a:fillRect/>
          </a:stretch>
        </p:blipFill>
        <p:spPr bwMode="auto">
          <a:xfrm>
            <a:off x="7885670" y="1643448"/>
            <a:ext cx="4108622" cy="4411363"/>
          </a:xfrm>
          <a:prstGeom prst="rect">
            <a:avLst/>
          </a:prstGeom>
          <a:noFill/>
          <a:ln>
            <a:noFill/>
          </a:ln>
        </p:spPr>
      </p:pic>
    </p:spTree>
    <p:extLst>
      <p:ext uri="{BB962C8B-B14F-4D97-AF65-F5344CB8AC3E}">
        <p14:creationId xmlns:p14="http://schemas.microsoft.com/office/powerpoint/2010/main" val="292036732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292" y="675140"/>
            <a:ext cx="5087424" cy="511109"/>
          </a:xfrm>
        </p:spPr>
        <p:txBody>
          <a:bodyPr>
            <a:normAutofit/>
          </a:bodyPr>
          <a:lstStyle/>
          <a:p>
            <a:pPr algn="ctr"/>
            <a:r>
              <a:rPr lang="en-US" sz="2000" b="1" dirty="0" smtClean="0">
                <a:latin typeface="Calibri" panose="020F0502020204030204" pitchFamily="34" charset="0"/>
                <a:cs typeface="Calibri" panose="020F0502020204030204" pitchFamily="34" charset="0"/>
              </a:rPr>
              <a:t>3. Three </a:t>
            </a:r>
            <a:r>
              <a:rPr lang="en-US" sz="2000" b="1" dirty="0">
                <a:latin typeface="Calibri" panose="020F0502020204030204" pitchFamily="34" charset="0"/>
                <a:cs typeface="Calibri" panose="020F0502020204030204" pitchFamily="34" charset="0"/>
              </a:rPr>
              <a:t>tier architecture</a:t>
            </a:r>
          </a:p>
        </p:txBody>
      </p:sp>
      <p:sp>
        <p:nvSpPr>
          <p:cNvPr id="3" name="Content Placeholder 2"/>
          <p:cNvSpPr>
            <a:spLocks noGrp="1"/>
          </p:cNvSpPr>
          <p:nvPr>
            <p:ph idx="1"/>
          </p:nvPr>
        </p:nvSpPr>
        <p:spPr>
          <a:xfrm>
            <a:off x="654909" y="1235676"/>
            <a:ext cx="7512907" cy="5173361"/>
          </a:xfrm>
        </p:spPr>
        <p:txBody>
          <a:bodyPr>
            <a:normAutofit/>
          </a:bodyPr>
          <a:lstStyle/>
          <a:p>
            <a:pPr>
              <a:lnSpc>
                <a:spcPct val="200000"/>
              </a:lnSpc>
            </a:pPr>
            <a:r>
              <a:rPr lang="en-US" dirty="0">
                <a:latin typeface="Calibri" panose="020F0502020204030204" pitchFamily="34" charset="0"/>
                <a:cs typeface="Calibri" panose="020F0502020204030204" pitchFamily="34" charset="0"/>
              </a:rPr>
              <a:t>in a three-tier architecture, the client machine acts as merely a front end and does not contain any direct database calls. Instead, the client end communicates with an application server, usually through </a:t>
            </a:r>
            <a:r>
              <a:rPr lang="en-US" dirty="0" smtClean="0">
                <a:latin typeface="Calibri" panose="020F0502020204030204" pitchFamily="34" charset="0"/>
                <a:cs typeface="Calibri" panose="020F0502020204030204" pitchFamily="34" charset="0"/>
              </a:rPr>
              <a:t>an interface.</a:t>
            </a:r>
          </a:p>
          <a:p>
            <a:pPr>
              <a:lnSpc>
                <a:spcPct val="200000"/>
              </a:lnSpc>
            </a:pPr>
            <a:r>
              <a:rPr lang="en-US" dirty="0" smtClean="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The application server in turn communicates with a database system to access data. The business logic of the application, which says what actions to carry out under what conditions, is embedded in the application server, instead of being distributed across multiple clients. Three-tier applications are more appropriate for large applications, and for applications that run on the </a:t>
            </a:r>
            <a:r>
              <a:rPr lang="en-US" dirty="0" err="1">
                <a:latin typeface="Calibri" panose="020F0502020204030204" pitchFamily="34" charset="0"/>
                <a:cs typeface="Calibri" panose="020F0502020204030204" pitchFamily="34" charset="0"/>
              </a:rPr>
              <a:t>WorldWideWeb</a:t>
            </a:r>
            <a:r>
              <a:rPr lang="en-US" dirty="0">
                <a:latin typeface="Calibri" panose="020F0502020204030204" pitchFamily="34" charset="0"/>
                <a:cs typeface="Calibri" panose="020F0502020204030204" pitchFamily="34" charset="0"/>
              </a:rPr>
              <a:t>.</a:t>
            </a:r>
          </a:p>
        </p:txBody>
      </p:sp>
      <p:pic>
        <p:nvPicPr>
          <p:cNvPr id="5" name="Picture 4"/>
          <p:cNvPicPr>
            <a:picLocks noChangeAspect="1"/>
          </p:cNvPicPr>
          <p:nvPr/>
        </p:nvPicPr>
        <p:blipFill>
          <a:blip r:embed="rId2"/>
          <a:stretch>
            <a:fillRect/>
          </a:stretch>
        </p:blipFill>
        <p:spPr>
          <a:xfrm>
            <a:off x="8316098" y="1686367"/>
            <a:ext cx="3581760" cy="4012803"/>
          </a:xfrm>
          <a:prstGeom prst="rect">
            <a:avLst/>
          </a:prstGeom>
        </p:spPr>
      </p:pic>
    </p:spTree>
    <p:extLst>
      <p:ext uri="{BB962C8B-B14F-4D97-AF65-F5344CB8AC3E}">
        <p14:creationId xmlns:p14="http://schemas.microsoft.com/office/powerpoint/2010/main" val="2205508645"/>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docProps/app.xml><?xml version="1.0" encoding="utf-8"?>
<Properties xmlns="http://schemas.openxmlformats.org/officeDocument/2006/extended-properties" xmlns:vt="http://schemas.openxmlformats.org/officeDocument/2006/docPropsVTypes">
  <Template>Wisp</Template>
  <TotalTime>522</TotalTime>
  <Words>2310</Words>
  <Application>Microsoft Office PowerPoint</Application>
  <PresentationFormat>Widescreen</PresentationFormat>
  <Paragraphs>156</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Century Gothic</vt:lpstr>
      <vt:lpstr>Wingdings</vt:lpstr>
      <vt:lpstr>Wingdings 3</vt:lpstr>
      <vt:lpstr>Wisp</vt:lpstr>
      <vt:lpstr>COSC 0150: DATABASE SYSTEMS 1</vt:lpstr>
      <vt:lpstr>Definition of terms</vt:lpstr>
      <vt:lpstr>PowerPoint Presentation</vt:lpstr>
      <vt:lpstr>Traditional File Processing System</vt:lpstr>
      <vt:lpstr>Characteristics OF Traditional File Processing System</vt:lpstr>
      <vt:lpstr>PowerPoint Presentation</vt:lpstr>
      <vt:lpstr>Database Management System (DBMS)</vt:lpstr>
      <vt:lpstr>Database Management System (DBMS)</vt:lpstr>
      <vt:lpstr>Database Management System (DBMS)</vt:lpstr>
      <vt:lpstr>Database Management System (DBMS)</vt:lpstr>
      <vt:lpstr>CHARACTERISTICS OF THE DATABASE APROACH</vt:lpstr>
      <vt:lpstr>1.  Self-describing nature of a database system</vt:lpstr>
      <vt:lpstr>2. Insulation between programs and data, and data abstraction</vt:lpstr>
      <vt:lpstr>2. Insulation between programs and data, and data abstraction</vt:lpstr>
      <vt:lpstr>3. Support of multiple views of the data </vt:lpstr>
      <vt:lpstr>4. Sharing of data and multiuser transaction processing</vt:lpstr>
      <vt:lpstr>ADVANTAGES OF USING THE DBMS APROACH</vt:lpstr>
      <vt:lpstr>ADVANTAGES OF USING THE DBMS APROACH</vt:lpstr>
      <vt:lpstr>ADVANTAGES OF USING THE DBMS APROACH</vt:lpstr>
      <vt:lpstr>ADVANTAGES OF USING THE DBMS APROACH</vt:lpstr>
      <vt:lpstr>DBMS Overheads</vt:lpstr>
      <vt:lpstr>Database users</vt:lpstr>
      <vt:lpstr>Database users</vt:lpstr>
      <vt:lpstr>Database users</vt:lpstr>
      <vt:lpstr>Database users</vt:lpstr>
      <vt:lpstr>Database users</vt:lpstr>
      <vt:lpstr>Components of a database system</vt:lpstr>
      <vt:lpstr>Components of a database system</vt:lpstr>
      <vt:lpstr>Components of a database system</vt:lpstr>
      <vt:lpstr>Database System Concepts and Architecture</vt:lpstr>
      <vt:lpstr>Database System Concepts and Architecture</vt:lpstr>
      <vt:lpstr>Database System Concepts and Architecture</vt:lpstr>
      <vt:lpstr>Client - server Architecture types</vt:lpstr>
      <vt:lpstr>1. Single tier architecture</vt:lpstr>
      <vt:lpstr>2. Two tier architecture</vt:lpstr>
      <vt:lpstr>3. Three tier architecture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 1</dc:title>
  <dc:creator>polin mwkx</dc:creator>
  <cp:lastModifiedBy>polin mwkx</cp:lastModifiedBy>
  <cp:revision>117</cp:revision>
  <dcterms:created xsi:type="dcterms:W3CDTF">2022-01-26T07:42:41Z</dcterms:created>
  <dcterms:modified xsi:type="dcterms:W3CDTF">2022-10-04T10:21:10Z</dcterms:modified>
</cp:coreProperties>
</file>