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9" r:id="rId3"/>
    <p:sldId id="303" r:id="rId4"/>
    <p:sldId id="302" r:id="rId5"/>
    <p:sldId id="261" r:id="rId6"/>
    <p:sldId id="262" r:id="rId7"/>
    <p:sldId id="304" r:id="rId8"/>
    <p:sldId id="306" r:id="rId9"/>
    <p:sldId id="307" r:id="rId10"/>
    <p:sldId id="308" r:id="rId11"/>
    <p:sldId id="309" r:id="rId12"/>
    <p:sldId id="310" r:id="rId13"/>
    <p:sldId id="311" r:id="rId14"/>
    <p:sldId id="319" r:id="rId15"/>
    <p:sldId id="312" r:id="rId16"/>
    <p:sldId id="321" r:id="rId17"/>
    <p:sldId id="320" r:id="rId18"/>
    <p:sldId id="314" r:id="rId19"/>
    <p:sldId id="323" r:id="rId20"/>
    <p:sldId id="316" r:id="rId21"/>
    <p:sldId id="29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4660"/>
  </p:normalViewPr>
  <p:slideViewPr>
    <p:cSldViewPr snapToGrid="0">
      <p:cViewPr varScale="1">
        <p:scale>
          <a:sx n="78" d="100"/>
          <a:sy n="78" d="100"/>
        </p:scale>
        <p:origin x="2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10/25/2022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guru99.com/sql.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8238" y="2273643"/>
            <a:ext cx="5053914" cy="674938"/>
          </a:xfrm>
        </p:spPr>
        <p:txBody>
          <a:bodyPr>
            <a:normAutofit fontScale="90000"/>
          </a:bodyPr>
          <a:lstStyle/>
          <a:p>
            <a:r>
              <a:rPr lang="en-US" dirty="0" smtClean="0">
                <a:latin typeface="Calibri" panose="020F0502020204030204" pitchFamily="34" charset="0"/>
                <a:cs typeface="Calibri" panose="020F0502020204030204" pitchFamily="34" charset="0"/>
              </a:rPr>
              <a:t>Database systems </a:t>
            </a:r>
            <a:r>
              <a:rPr lang="en-US" dirty="0">
                <a:latin typeface="Calibri" panose="020F0502020204030204" pitchFamily="34" charset="0"/>
                <a:cs typeface="Calibri" panose="020F0502020204030204" pitchFamily="34" charset="0"/>
              </a:rPr>
              <a:t>I</a:t>
            </a:r>
          </a:p>
        </p:txBody>
      </p:sp>
      <p:sp>
        <p:nvSpPr>
          <p:cNvPr id="3" name="Subtitle 2"/>
          <p:cNvSpPr>
            <a:spLocks noGrp="1"/>
          </p:cNvSpPr>
          <p:nvPr>
            <p:ph type="subTitle" idx="1"/>
          </p:nvPr>
        </p:nvSpPr>
        <p:spPr>
          <a:xfrm>
            <a:off x="1970501" y="3356354"/>
            <a:ext cx="8825658" cy="861420"/>
          </a:xfrm>
        </p:spPr>
        <p:txBody>
          <a:bodyPr>
            <a:normAutofit/>
          </a:bodyPr>
          <a:lstStyle/>
          <a:p>
            <a:pPr algn="ctr"/>
            <a:r>
              <a:rPr lang="en-US" sz="3600" dirty="0" smtClean="0">
                <a:latin typeface="Calibri" panose="020F0502020204030204" pitchFamily="34" charset="0"/>
                <a:cs typeface="Calibri" panose="020F0502020204030204" pitchFamily="34" charset="0"/>
              </a:rPr>
              <a:t>Lecture Three</a:t>
            </a:r>
            <a:endParaRPr lang="en-US" sz="3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25570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8727" y="477432"/>
            <a:ext cx="9404723" cy="708817"/>
          </a:xfrm>
        </p:spPr>
        <p:txBody>
          <a:bodyPr/>
          <a:lstStyle/>
          <a:p>
            <a:pPr lvl="0" algn="ctr"/>
            <a:r>
              <a:rPr lang="en-GB" b="1" u="sng" dirty="0">
                <a:latin typeface="Calibri" panose="020F0502020204030204" pitchFamily="34" charset="0"/>
                <a:cs typeface="Calibri" panose="020F0502020204030204" pitchFamily="34" charset="0"/>
              </a:rPr>
              <a:t>Relational Model</a:t>
            </a:r>
            <a:endParaRPr lang="en-US"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864974" y="1495167"/>
            <a:ext cx="10762734" cy="4819135"/>
          </a:xfrm>
        </p:spPr>
        <p:txBody>
          <a:bodyPr>
            <a:noAutofit/>
          </a:bodyPr>
          <a:lstStyle/>
          <a:p>
            <a:pPr>
              <a:lnSpc>
                <a:spcPct val="200000"/>
              </a:lnSpc>
            </a:pPr>
            <a:r>
              <a:rPr lang="en-US" dirty="0">
                <a:latin typeface="Calibri" panose="020F0502020204030204" pitchFamily="34" charset="0"/>
                <a:cs typeface="Calibri" panose="020F0502020204030204" pitchFamily="34" charset="0"/>
              </a:rPr>
              <a:t>The relational model </a:t>
            </a:r>
            <a:r>
              <a:rPr lang="en-US" dirty="0" smtClean="0">
                <a:latin typeface="Calibri" panose="020F0502020204030204" pitchFamily="34" charset="0"/>
                <a:cs typeface="Calibri" panose="020F0502020204030204" pitchFamily="34" charset="0"/>
              </a:rPr>
              <a:t>is </a:t>
            </a:r>
            <a:r>
              <a:rPr lang="en-US" dirty="0">
                <a:latin typeface="Calibri" panose="020F0502020204030204" pitchFamily="34" charset="0"/>
                <a:cs typeface="Calibri" panose="020F0502020204030204" pitchFamily="34" charset="0"/>
              </a:rPr>
              <a:t>an approach to logically represent and manage the data stored in a database. In this model, the data is organized into a </a:t>
            </a:r>
            <a:r>
              <a:rPr lang="en-US" b="1" dirty="0">
                <a:latin typeface="Calibri" panose="020F0502020204030204" pitchFamily="34" charset="0"/>
                <a:cs typeface="Calibri" panose="020F0502020204030204" pitchFamily="34" charset="0"/>
              </a:rPr>
              <a:t>collection of two-dimensional inter-related tables</a:t>
            </a:r>
            <a:r>
              <a:rPr lang="en-US" dirty="0">
                <a:latin typeface="Calibri" panose="020F0502020204030204" pitchFamily="34" charset="0"/>
                <a:cs typeface="Calibri" panose="020F0502020204030204" pitchFamily="34" charset="0"/>
              </a:rPr>
              <a:t>, also known as </a:t>
            </a:r>
            <a:r>
              <a:rPr lang="en-US" b="1" dirty="0">
                <a:latin typeface="Calibri" panose="020F0502020204030204" pitchFamily="34" charset="0"/>
                <a:cs typeface="Calibri" panose="020F0502020204030204" pitchFamily="34" charset="0"/>
              </a:rPr>
              <a:t>relations</a:t>
            </a: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Each </a:t>
            </a:r>
            <a:r>
              <a:rPr lang="en-US" dirty="0">
                <a:latin typeface="Calibri" panose="020F0502020204030204" pitchFamily="34" charset="0"/>
                <a:cs typeface="Calibri" panose="020F0502020204030204" pitchFamily="34" charset="0"/>
              </a:rPr>
              <a:t>relation is a collection of columns and rows, where the column represents the attributes of an entity and the rows (or tuples) represents the records.</a:t>
            </a:r>
          </a:p>
          <a:p>
            <a:pPr>
              <a:lnSpc>
                <a:spcPct val="200000"/>
              </a:lnSpc>
            </a:pPr>
            <a:r>
              <a:rPr lang="en-US" dirty="0">
                <a:latin typeface="Calibri" panose="020F0502020204030204" pitchFamily="34" charset="0"/>
                <a:cs typeface="Calibri" panose="020F0502020204030204" pitchFamily="34" charset="0"/>
              </a:rPr>
              <a:t>The use of tables to store the data provided a straightforward, efficient, and flexible way to store and access structured information. The relational model is today the primary data model for commercial data processing applications. It attained its primary position because of its simplicity, which eases the job of the programmer, compared to earlier data models such as the network model or the hierarchical model.</a:t>
            </a:r>
          </a:p>
        </p:txBody>
      </p:sp>
    </p:spTree>
    <p:extLst>
      <p:ext uri="{BB962C8B-B14F-4D97-AF65-F5344CB8AC3E}">
        <p14:creationId xmlns:p14="http://schemas.microsoft.com/office/powerpoint/2010/main" val="1706265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8727" y="477432"/>
            <a:ext cx="9404723" cy="708817"/>
          </a:xfrm>
        </p:spPr>
        <p:txBody>
          <a:bodyPr/>
          <a:lstStyle/>
          <a:p>
            <a:pPr lvl="0" algn="ctr"/>
            <a:r>
              <a:rPr lang="en-GB" b="1" u="sng" dirty="0">
                <a:latin typeface="Calibri" panose="020F0502020204030204" pitchFamily="34" charset="0"/>
                <a:cs typeface="Calibri" panose="020F0502020204030204" pitchFamily="34" charset="0"/>
              </a:rPr>
              <a:t>Relational Model</a:t>
            </a:r>
            <a:endParaRPr lang="en-US"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864974" y="1495167"/>
            <a:ext cx="10762734" cy="4819135"/>
          </a:xfrm>
        </p:spPr>
        <p:txBody>
          <a:bodyPr>
            <a:noAutofit/>
          </a:bodyPr>
          <a:lstStyle/>
          <a:p>
            <a:pPr>
              <a:lnSpc>
                <a:spcPct val="200000"/>
              </a:lnSpc>
            </a:pPr>
            <a:r>
              <a:rPr lang="en-US" b="1" dirty="0">
                <a:latin typeface="Calibri" panose="020F0502020204030204" pitchFamily="34" charset="0"/>
                <a:cs typeface="Calibri" panose="020F0502020204030204" pitchFamily="34" charset="0"/>
              </a:rPr>
              <a:t>Let's look at a scenario to understand the relational model:</a:t>
            </a:r>
            <a:endParaRPr lang="en-US"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2019481" y="2389605"/>
            <a:ext cx="6620799" cy="3858163"/>
          </a:xfrm>
          <a:prstGeom prst="rect">
            <a:avLst/>
          </a:prstGeom>
        </p:spPr>
      </p:pic>
    </p:spTree>
    <p:extLst>
      <p:ext uri="{BB962C8B-B14F-4D97-AF65-F5344CB8AC3E}">
        <p14:creationId xmlns:p14="http://schemas.microsoft.com/office/powerpoint/2010/main" val="25527764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8727" y="477432"/>
            <a:ext cx="9404723" cy="708817"/>
          </a:xfrm>
        </p:spPr>
        <p:txBody>
          <a:bodyPr/>
          <a:lstStyle/>
          <a:p>
            <a:pPr lvl="0" algn="ctr"/>
            <a:r>
              <a:rPr lang="en-GB" b="1" u="sng" dirty="0" smtClean="0">
                <a:latin typeface="Calibri" panose="020F0502020204030204" pitchFamily="34" charset="0"/>
                <a:cs typeface="Calibri" panose="020F0502020204030204" pitchFamily="34" charset="0"/>
              </a:rPr>
              <a:t>RDBMS</a:t>
            </a:r>
            <a:endParaRPr lang="en-US"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087394" y="1272746"/>
            <a:ext cx="10602097" cy="5029200"/>
          </a:xfrm>
        </p:spPr>
        <p:txBody>
          <a:bodyPr>
            <a:normAutofit/>
          </a:bodyPr>
          <a:lstStyle/>
          <a:p>
            <a:pPr>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The software used to store, manage, query, and retrieve data stored in a relational database is called a </a:t>
            </a:r>
            <a:r>
              <a:rPr lang="en-US" b="1" dirty="0">
                <a:latin typeface="Calibri" panose="020F0502020204030204" pitchFamily="34" charset="0"/>
                <a:cs typeface="Calibri" panose="020F0502020204030204" pitchFamily="34" charset="0"/>
              </a:rPr>
              <a:t>relational database management system </a:t>
            </a:r>
            <a:r>
              <a:rPr lang="en-US" dirty="0">
                <a:latin typeface="Calibri" panose="020F0502020204030204" pitchFamily="34" charset="0"/>
                <a:cs typeface="Calibri" panose="020F0502020204030204" pitchFamily="34" charset="0"/>
              </a:rPr>
              <a:t>(RDBMS). The RDBMS provides an interface between users and applications and the database, as well as administrative functions for managing data storage, access, and performance.</a:t>
            </a:r>
            <a:endParaRPr lang="en-US" b="1" dirty="0" smtClean="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v"/>
            </a:pPr>
            <a:r>
              <a:rPr lang="en-US" b="1" dirty="0" smtClean="0">
                <a:latin typeface="Calibri" panose="020F0502020204030204" pitchFamily="34" charset="0"/>
                <a:cs typeface="Calibri" panose="020F0502020204030204" pitchFamily="34" charset="0"/>
              </a:rPr>
              <a:t>Some </a:t>
            </a:r>
            <a:r>
              <a:rPr lang="en-US" b="1" dirty="0">
                <a:latin typeface="Calibri" panose="020F0502020204030204" pitchFamily="34" charset="0"/>
                <a:cs typeface="Calibri" panose="020F0502020204030204" pitchFamily="34" charset="0"/>
              </a:rPr>
              <a:t>popular Relational Database management systems are</a:t>
            </a:r>
            <a:r>
              <a:rPr lang="en-US" b="1" dirty="0" smtClean="0">
                <a:latin typeface="Calibri" panose="020F0502020204030204" pitchFamily="34" charset="0"/>
                <a:cs typeface="Calibri" panose="020F0502020204030204" pitchFamily="34" charset="0"/>
              </a:rPr>
              <a:t>:</a:t>
            </a:r>
          </a:p>
          <a:p>
            <a:pPr lvl="1">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MYSQL</a:t>
            </a:r>
          </a:p>
          <a:p>
            <a:pPr lvl="1">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Oracle</a:t>
            </a:r>
          </a:p>
          <a:p>
            <a:pPr lvl="1">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IBM </a:t>
            </a:r>
            <a:r>
              <a:rPr lang="en-US" dirty="0">
                <a:latin typeface="Calibri" panose="020F0502020204030204" pitchFamily="34" charset="0"/>
                <a:cs typeface="Calibri" panose="020F0502020204030204" pitchFamily="34" charset="0"/>
              </a:rPr>
              <a:t>DB2</a:t>
            </a:r>
            <a:r>
              <a:rPr lang="en-US" dirty="0" smtClean="0">
                <a:latin typeface="Calibri" panose="020F0502020204030204" pitchFamily="34" charset="0"/>
                <a:cs typeface="Calibri" panose="020F0502020204030204" pitchFamily="34" charset="0"/>
              </a:rPr>
              <a:t>,</a:t>
            </a:r>
          </a:p>
          <a:p>
            <a:pPr lvl="1">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Microsoft SQL </a:t>
            </a:r>
            <a:r>
              <a:rPr lang="en-US" dirty="0">
                <a:latin typeface="Calibri" panose="020F0502020204030204" pitchFamily="34" charset="0"/>
                <a:cs typeface="Calibri" panose="020F0502020204030204" pitchFamily="34" charset="0"/>
              </a:rPr>
              <a:t>Server database</a:t>
            </a:r>
          </a:p>
        </p:txBody>
      </p:sp>
    </p:spTree>
    <p:extLst>
      <p:ext uri="{BB962C8B-B14F-4D97-AF65-F5344CB8AC3E}">
        <p14:creationId xmlns:p14="http://schemas.microsoft.com/office/powerpoint/2010/main" val="2925708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1157" y="465076"/>
            <a:ext cx="7406488" cy="659390"/>
          </a:xfrm>
        </p:spPr>
        <p:txBody>
          <a:bodyPr/>
          <a:lstStyle/>
          <a:p>
            <a:pPr algn="ctr"/>
            <a:r>
              <a:rPr lang="en-US" b="1" dirty="0"/>
              <a:t>Relational Model Concepts</a:t>
            </a:r>
            <a:endParaRPr lang="en-US" dirty="0"/>
          </a:p>
        </p:txBody>
      </p:sp>
      <p:sp>
        <p:nvSpPr>
          <p:cNvPr id="3" name="Content Placeholder 2"/>
          <p:cNvSpPr>
            <a:spLocks noGrp="1"/>
          </p:cNvSpPr>
          <p:nvPr>
            <p:ph idx="1"/>
          </p:nvPr>
        </p:nvSpPr>
        <p:spPr>
          <a:xfrm>
            <a:off x="1112109" y="1421026"/>
            <a:ext cx="10404388" cy="4819135"/>
          </a:xfrm>
        </p:spPr>
        <p:txBody>
          <a:bodyPr>
            <a:normAutofit/>
          </a:bodyPr>
          <a:lstStyle/>
          <a:p>
            <a:pPr>
              <a:lnSpc>
                <a:spcPct val="200000"/>
              </a:lnSpc>
            </a:pPr>
            <a:r>
              <a:rPr lang="en-US" dirty="0">
                <a:latin typeface="Calibri" panose="020F0502020204030204" pitchFamily="34" charset="0"/>
                <a:cs typeface="Calibri" panose="020F0502020204030204" pitchFamily="34" charset="0"/>
              </a:rPr>
              <a:t>As discussed earlier, a relational database is based on the relational model. This database consists of various components based on the relational model. These include:</a:t>
            </a:r>
          </a:p>
          <a:p>
            <a:pPr>
              <a:lnSpc>
                <a:spcPct val="200000"/>
              </a:lnSpc>
              <a:buFont typeface="Wingdings" panose="05000000000000000000" pitchFamily="2" charset="2"/>
              <a:buChar char="Ø"/>
            </a:pPr>
            <a:r>
              <a:rPr lang="en-US" b="1" dirty="0">
                <a:latin typeface="Calibri" panose="020F0502020204030204" pitchFamily="34" charset="0"/>
                <a:cs typeface="Calibri" panose="020F0502020204030204" pitchFamily="34" charset="0"/>
              </a:rPr>
              <a:t>Relation :</a:t>
            </a:r>
            <a:r>
              <a:rPr lang="en-US" dirty="0">
                <a:latin typeface="Calibri" panose="020F0502020204030204" pitchFamily="34" charset="0"/>
                <a:cs typeface="Calibri" panose="020F0502020204030204" pitchFamily="34" charset="0"/>
              </a:rPr>
              <a:t> Two-dimensional table used to store a collection of data elements.</a:t>
            </a:r>
          </a:p>
          <a:p>
            <a:pPr>
              <a:lnSpc>
                <a:spcPct val="200000"/>
              </a:lnSpc>
              <a:buFont typeface="Wingdings" panose="05000000000000000000" pitchFamily="2" charset="2"/>
              <a:buChar char="Ø"/>
            </a:pPr>
            <a:r>
              <a:rPr lang="en-US" b="1" dirty="0">
                <a:latin typeface="Calibri" panose="020F0502020204030204" pitchFamily="34" charset="0"/>
                <a:cs typeface="Calibri" panose="020F0502020204030204" pitchFamily="34" charset="0"/>
              </a:rPr>
              <a:t>Tuple :</a:t>
            </a:r>
            <a:r>
              <a:rPr lang="en-US" dirty="0">
                <a:latin typeface="Calibri" panose="020F0502020204030204" pitchFamily="34" charset="0"/>
                <a:cs typeface="Calibri" panose="020F0502020204030204" pitchFamily="34" charset="0"/>
              </a:rPr>
              <a:t> Row of the relation, depicting a real-world entity.</a:t>
            </a:r>
          </a:p>
          <a:p>
            <a:pPr>
              <a:lnSpc>
                <a:spcPct val="200000"/>
              </a:lnSpc>
              <a:buFont typeface="Wingdings" panose="05000000000000000000" pitchFamily="2" charset="2"/>
              <a:buChar char="Ø"/>
            </a:pPr>
            <a:r>
              <a:rPr lang="en-US" b="1" dirty="0">
                <a:latin typeface="Calibri" panose="020F0502020204030204" pitchFamily="34" charset="0"/>
                <a:cs typeface="Calibri" panose="020F0502020204030204" pitchFamily="34" charset="0"/>
              </a:rPr>
              <a:t>Attribute/Field :</a:t>
            </a:r>
            <a:r>
              <a:rPr lang="en-US" dirty="0">
                <a:latin typeface="Calibri" panose="020F0502020204030204" pitchFamily="34" charset="0"/>
                <a:cs typeface="Calibri" panose="020F0502020204030204" pitchFamily="34" charset="0"/>
              </a:rPr>
              <a:t> Column of the relation, depicting properties that define the relation.</a:t>
            </a:r>
          </a:p>
          <a:p>
            <a:pPr>
              <a:lnSpc>
                <a:spcPct val="200000"/>
              </a:lnSpc>
              <a:buFont typeface="Wingdings" panose="05000000000000000000" pitchFamily="2" charset="2"/>
              <a:buChar char="Ø"/>
            </a:pPr>
            <a:r>
              <a:rPr lang="en-US" b="1" dirty="0">
                <a:latin typeface="Calibri" panose="020F0502020204030204" pitchFamily="34" charset="0"/>
                <a:cs typeface="Calibri" panose="020F0502020204030204" pitchFamily="34" charset="0"/>
              </a:rPr>
              <a:t>Attribute Domain :</a:t>
            </a:r>
            <a:r>
              <a:rPr lang="en-US" dirty="0">
                <a:latin typeface="Calibri" panose="020F0502020204030204" pitchFamily="34" charset="0"/>
                <a:cs typeface="Calibri" panose="020F0502020204030204" pitchFamily="34" charset="0"/>
              </a:rPr>
              <a:t> Set of pre-defined atomic values that an attribute can take i.e., it describes the legal values that an attribute can take.</a:t>
            </a:r>
          </a:p>
        </p:txBody>
      </p:sp>
    </p:spTree>
    <p:extLst>
      <p:ext uri="{BB962C8B-B14F-4D97-AF65-F5344CB8AC3E}">
        <p14:creationId xmlns:p14="http://schemas.microsoft.com/office/powerpoint/2010/main" val="34583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1149" y="390935"/>
            <a:ext cx="9404723" cy="906525"/>
          </a:xfrm>
        </p:spPr>
        <p:txBody>
          <a:bodyPr/>
          <a:lstStyle/>
          <a:p>
            <a:pPr algn="ctr"/>
            <a:r>
              <a:rPr lang="en-US" b="1" dirty="0"/>
              <a:t>Relational Model Concepts</a:t>
            </a:r>
            <a:endParaRPr lang="en-US" dirty="0"/>
          </a:p>
        </p:txBody>
      </p:sp>
      <p:sp>
        <p:nvSpPr>
          <p:cNvPr id="3" name="Content Placeholder 2"/>
          <p:cNvSpPr>
            <a:spLocks noGrp="1"/>
          </p:cNvSpPr>
          <p:nvPr>
            <p:ph idx="1"/>
          </p:nvPr>
        </p:nvSpPr>
        <p:spPr>
          <a:xfrm>
            <a:off x="1210964" y="1569309"/>
            <a:ext cx="10404388" cy="4670853"/>
          </a:xfrm>
        </p:spPr>
        <p:txBody>
          <a:bodyPr>
            <a:normAutofit/>
          </a:bodyPr>
          <a:lstStyle/>
          <a:p>
            <a:pPr>
              <a:lnSpc>
                <a:spcPct val="200000"/>
              </a:lnSpc>
              <a:buFont typeface="Wingdings" panose="05000000000000000000" pitchFamily="2" charset="2"/>
              <a:buChar char="Ø"/>
            </a:pPr>
            <a:r>
              <a:rPr lang="en-US" b="1" dirty="0">
                <a:solidFill>
                  <a:schemeClr val="tx1"/>
                </a:solidFill>
                <a:latin typeface="Calibri" panose="020F0502020204030204" pitchFamily="34" charset="0"/>
                <a:cs typeface="Calibri" panose="020F0502020204030204" pitchFamily="34" charset="0"/>
              </a:rPr>
              <a:t>Degree :</a:t>
            </a:r>
            <a:r>
              <a:rPr lang="en-US" dirty="0">
                <a:solidFill>
                  <a:schemeClr val="tx1"/>
                </a:solidFill>
                <a:latin typeface="Calibri" panose="020F0502020204030204" pitchFamily="34" charset="0"/>
                <a:cs typeface="Calibri" panose="020F0502020204030204" pitchFamily="34" charset="0"/>
              </a:rPr>
              <a:t> It is the total number of attributes present in the relation.</a:t>
            </a:r>
          </a:p>
          <a:p>
            <a:pPr>
              <a:lnSpc>
                <a:spcPct val="200000"/>
              </a:lnSpc>
              <a:buFont typeface="Wingdings" panose="05000000000000000000" pitchFamily="2" charset="2"/>
              <a:buChar char="Ø"/>
            </a:pPr>
            <a:r>
              <a:rPr lang="en-US" b="1" dirty="0">
                <a:solidFill>
                  <a:schemeClr val="tx1"/>
                </a:solidFill>
                <a:latin typeface="Calibri" panose="020F0502020204030204" pitchFamily="34" charset="0"/>
                <a:cs typeface="Calibri" panose="020F0502020204030204" pitchFamily="34" charset="0"/>
              </a:rPr>
              <a:t>Cardinality :</a:t>
            </a:r>
            <a:r>
              <a:rPr lang="en-US" dirty="0">
                <a:solidFill>
                  <a:schemeClr val="tx1"/>
                </a:solidFill>
                <a:latin typeface="Calibri" panose="020F0502020204030204" pitchFamily="34" charset="0"/>
                <a:cs typeface="Calibri" panose="020F0502020204030204" pitchFamily="34" charset="0"/>
              </a:rPr>
              <a:t> It specifies the number of entities involved in the relation i.e., it is the total number of rows present in the relation.</a:t>
            </a:r>
          </a:p>
          <a:p>
            <a:pPr>
              <a:lnSpc>
                <a:spcPct val="200000"/>
              </a:lnSpc>
              <a:buFont typeface="Wingdings" panose="05000000000000000000" pitchFamily="2" charset="2"/>
              <a:buChar char="Ø"/>
            </a:pPr>
            <a:r>
              <a:rPr lang="en-US" b="1" dirty="0">
                <a:solidFill>
                  <a:schemeClr val="tx1"/>
                </a:solidFill>
                <a:latin typeface="Calibri" panose="020F0502020204030204" pitchFamily="34" charset="0"/>
                <a:cs typeface="Calibri" panose="020F0502020204030204" pitchFamily="34" charset="0"/>
              </a:rPr>
              <a:t>Relational Schema :</a:t>
            </a:r>
            <a:r>
              <a:rPr lang="en-US" dirty="0">
                <a:solidFill>
                  <a:schemeClr val="tx1"/>
                </a:solidFill>
                <a:latin typeface="Calibri" panose="020F0502020204030204" pitchFamily="34" charset="0"/>
                <a:cs typeface="Calibri" panose="020F0502020204030204" pitchFamily="34" charset="0"/>
              </a:rPr>
              <a:t> It is the logical blueprint of the relation i.e., it describes the design and the structure of the relation. It contains the table name, its attributes, and their types</a:t>
            </a:r>
            <a:r>
              <a:rPr lang="en-US" dirty="0" smtClean="0">
                <a:solidFill>
                  <a:schemeClr val="tx1"/>
                </a:solidFill>
                <a:latin typeface="Calibri" panose="020F0502020204030204" pitchFamily="34" charset="0"/>
                <a:cs typeface="Calibri" panose="020F0502020204030204" pitchFamily="34" charset="0"/>
              </a:rPr>
              <a:t>:</a:t>
            </a:r>
          </a:p>
          <a:p>
            <a:pPr marL="0" lvl="0" indent="0" defTabSz="914400" eaLnBrk="0" fontAlgn="base" hangingPunct="0">
              <a:lnSpc>
                <a:spcPct val="200000"/>
              </a:lnSpc>
              <a:spcBef>
                <a:spcPct val="0"/>
              </a:spcBef>
              <a:spcAft>
                <a:spcPct val="0"/>
              </a:spcAft>
              <a:buClrTx/>
              <a:buNone/>
            </a:pPr>
            <a:r>
              <a:rPr lang="en-US" altLang="en-US" dirty="0">
                <a:solidFill>
                  <a:schemeClr val="tx1"/>
                </a:solidFill>
                <a:latin typeface="Calibri" panose="020F0502020204030204" pitchFamily="34" charset="0"/>
                <a:cs typeface="Calibri" panose="020F0502020204030204" pitchFamily="34" charset="0"/>
              </a:rPr>
              <a:t>	</a:t>
            </a:r>
            <a:r>
              <a:rPr lang="en-US" altLang="en-US" dirty="0" smtClean="0">
                <a:solidFill>
                  <a:schemeClr val="tx1"/>
                </a:solidFill>
                <a:latin typeface="Calibri" panose="020F0502020204030204" pitchFamily="34" charset="0"/>
                <a:cs typeface="Calibri" panose="020F0502020204030204" pitchFamily="34" charset="0"/>
              </a:rPr>
              <a:t>For the </a:t>
            </a:r>
            <a:r>
              <a:rPr lang="en-US" altLang="en-US" dirty="0">
                <a:solidFill>
                  <a:schemeClr val="tx1"/>
                </a:solidFill>
                <a:latin typeface="Calibri" panose="020F0502020204030204" pitchFamily="34" charset="0"/>
                <a:cs typeface="Calibri" panose="020F0502020204030204" pitchFamily="34" charset="0"/>
              </a:rPr>
              <a:t>Student relation example, the relational schema will be:</a:t>
            </a:r>
            <a:endParaRPr lang="en-US" altLang="en-US" sz="1200" dirty="0">
              <a:solidFill>
                <a:schemeClr val="tx1"/>
              </a:solidFill>
              <a:latin typeface="Calibri" panose="020F0502020204030204" pitchFamily="34" charset="0"/>
              <a:cs typeface="Calibri" panose="020F0502020204030204" pitchFamily="34" charset="0"/>
            </a:endParaRPr>
          </a:p>
          <a:p>
            <a:pPr marL="0" lvl="0" indent="0" defTabSz="914400" eaLnBrk="0" fontAlgn="base" hangingPunct="0">
              <a:lnSpc>
                <a:spcPct val="200000"/>
              </a:lnSpc>
              <a:spcBef>
                <a:spcPct val="0"/>
              </a:spcBef>
              <a:spcAft>
                <a:spcPct val="0"/>
              </a:spcAft>
              <a:buClrTx/>
              <a:buNone/>
            </a:pPr>
            <a:r>
              <a:rPr lang="en-US" altLang="en-US" dirty="0" smtClean="0">
                <a:solidFill>
                  <a:schemeClr val="tx1"/>
                </a:solidFill>
                <a:latin typeface="Calibri" panose="020F0502020204030204" pitchFamily="34" charset="0"/>
                <a:cs typeface="Calibri" panose="020F0502020204030204" pitchFamily="34" charset="0"/>
              </a:rPr>
              <a:t>	STUDENT(ROLL_NUMBER </a:t>
            </a:r>
            <a:r>
              <a:rPr lang="en-US" altLang="en-US" dirty="0">
                <a:solidFill>
                  <a:schemeClr val="tx1"/>
                </a:solidFill>
                <a:latin typeface="Calibri" panose="020F0502020204030204" pitchFamily="34" charset="0"/>
                <a:cs typeface="Calibri" panose="020F0502020204030204" pitchFamily="34" charset="0"/>
              </a:rPr>
              <a:t>INTEGER, NAME VARCHAR(20), CGPA FLOAT) </a:t>
            </a:r>
          </a:p>
        </p:txBody>
      </p:sp>
    </p:spTree>
    <p:extLst>
      <p:ext uri="{BB962C8B-B14F-4D97-AF65-F5344CB8AC3E}">
        <p14:creationId xmlns:p14="http://schemas.microsoft.com/office/powerpoint/2010/main" val="416826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1149" y="390935"/>
            <a:ext cx="9404723" cy="906525"/>
          </a:xfrm>
        </p:spPr>
        <p:txBody>
          <a:bodyPr/>
          <a:lstStyle/>
          <a:p>
            <a:pPr algn="ctr"/>
            <a:r>
              <a:rPr lang="en-US" b="1" dirty="0"/>
              <a:t>Relational Model Concepts</a:t>
            </a:r>
            <a:endParaRPr lang="en-US" dirty="0"/>
          </a:p>
        </p:txBody>
      </p:sp>
      <p:sp>
        <p:nvSpPr>
          <p:cNvPr id="3" name="Content Placeholder 2"/>
          <p:cNvSpPr>
            <a:spLocks noGrp="1"/>
          </p:cNvSpPr>
          <p:nvPr>
            <p:ph idx="1"/>
          </p:nvPr>
        </p:nvSpPr>
        <p:spPr>
          <a:xfrm>
            <a:off x="1210964" y="1186248"/>
            <a:ext cx="10404388" cy="5375189"/>
          </a:xfrm>
        </p:spPr>
        <p:txBody>
          <a:bodyPr>
            <a:normAutofit/>
          </a:bodyPr>
          <a:lstStyle/>
          <a:p>
            <a:pPr>
              <a:lnSpc>
                <a:spcPct val="200000"/>
              </a:lnSpc>
            </a:pPr>
            <a:r>
              <a:rPr lang="en-US" b="1" dirty="0">
                <a:latin typeface="Calibri" panose="020F0502020204030204" pitchFamily="34" charset="0"/>
                <a:cs typeface="Calibri" panose="020F0502020204030204" pitchFamily="34" charset="0"/>
              </a:rPr>
              <a:t>Relational Instance :</a:t>
            </a:r>
            <a:r>
              <a:rPr lang="en-US" dirty="0">
                <a:latin typeface="Calibri" panose="020F0502020204030204" pitchFamily="34" charset="0"/>
                <a:cs typeface="Calibri" panose="020F0502020204030204" pitchFamily="34" charset="0"/>
              </a:rPr>
              <a:t> It is the collection of records present in the relation at a given time.</a:t>
            </a:r>
          </a:p>
          <a:p>
            <a:pPr>
              <a:lnSpc>
                <a:spcPct val="200000"/>
              </a:lnSpc>
            </a:pPr>
            <a:r>
              <a:rPr lang="en-US" b="1" dirty="0">
                <a:latin typeface="Calibri" panose="020F0502020204030204" pitchFamily="34" charset="0"/>
                <a:cs typeface="Calibri" panose="020F0502020204030204" pitchFamily="34" charset="0"/>
              </a:rPr>
              <a:t>Relation Key :</a:t>
            </a:r>
            <a:r>
              <a:rPr lang="en-US" dirty="0">
                <a:latin typeface="Calibri" panose="020F0502020204030204" pitchFamily="34" charset="0"/>
                <a:cs typeface="Calibri" panose="020F0502020204030204" pitchFamily="34" charset="0"/>
              </a:rPr>
              <a:t> It is an attribute or a group of attributes that can be used to uniquely identify an entity in a table or to determine the relationship between two tables. Relation </a:t>
            </a:r>
            <a:r>
              <a:rPr lang="en-US" dirty="0" smtClean="0">
                <a:latin typeface="Calibri" panose="020F0502020204030204" pitchFamily="34" charset="0"/>
                <a:cs typeface="Calibri" panose="020F0502020204030204" pitchFamily="34" charset="0"/>
              </a:rPr>
              <a:t>keys include:</a:t>
            </a:r>
            <a:endParaRPr lang="en-US" dirty="0">
              <a:latin typeface="Calibri" panose="020F0502020204030204" pitchFamily="34" charset="0"/>
              <a:cs typeface="Calibri" panose="020F0502020204030204" pitchFamily="34" charset="0"/>
            </a:endParaRPr>
          </a:p>
          <a:p>
            <a:pPr lvl="1">
              <a:lnSpc>
                <a:spcPct val="16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Candidate Key</a:t>
            </a:r>
          </a:p>
          <a:p>
            <a:pPr lvl="1">
              <a:lnSpc>
                <a:spcPct val="16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Super Key</a:t>
            </a:r>
          </a:p>
          <a:p>
            <a:pPr lvl="1">
              <a:lnSpc>
                <a:spcPct val="16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Composite Key</a:t>
            </a:r>
          </a:p>
          <a:p>
            <a:pPr lvl="1">
              <a:lnSpc>
                <a:spcPct val="16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Primary </a:t>
            </a:r>
            <a:r>
              <a:rPr lang="en-US" sz="1800" dirty="0" smtClean="0">
                <a:latin typeface="Calibri" panose="020F0502020204030204" pitchFamily="34" charset="0"/>
                <a:cs typeface="Calibri" panose="020F0502020204030204" pitchFamily="34" charset="0"/>
              </a:rPr>
              <a:t>Key</a:t>
            </a: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93227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1665" y="452718"/>
            <a:ext cx="8469169" cy="609963"/>
          </a:xfrm>
        </p:spPr>
        <p:txBody>
          <a:bodyPr>
            <a:normAutofit fontScale="90000"/>
          </a:bodyPr>
          <a:lstStyle/>
          <a:p>
            <a:pPr algn="ctr"/>
            <a:r>
              <a:rPr lang="en-US" b="1" u="sng" dirty="0">
                <a:latin typeface="Calibri" panose="020F0502020204030204" pitchFamily="34" charset="0"/>
                <a:cs typeface="Calibri" panose="020F0502020204030204" pitchFamily="34" charset="0"/>
              </a:rPr>
              <a:t>Data Integrity</a:t>
            </a:r>
            <a:endParaRPr lang="en-US"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075038" y="1433384"/>
            <a:ext cx="10429102" cy="5140411"/>
          </a:xfrm>
        </p:spPr>
        <p:txBody>
          <a:bodyPr>
            <a:noAutofit/>
          </a:bodyPr>
          <a:lstStyle/>
          <a:p>
            <a:pPr>
              <a:lnSpc>
                <a:spcPct val="200000"/>
              </a:lnSpc>
            </a:pPr>
            <a:r>
              <a:rPr lang="en-US" dirty="0">
                <a:latin typeface="Calibri" panose="020F0502020204030204" pitchFamily="34" charset="0"/>
                <a:cs typeface="Calibri" panose="020F0502020204030204" pitchFamily="34" charset="0"/>
              </a:rPr>
              <a:t>Data integrity refers to </a:t>
            </a:r>
            <a:r>
              <a:rPr lang="en-US" b="1" dirty="0">
                <a:latin typeface="Calibri" panose="020F0502020204030204" pitchFamily="34" charset="0"/>
                <a:cs typeface="Calibri" panose="020F0502020204030204" pitchFamily="34" charset="0"/>
              </a:rPr>
              <a:t>the overall accuracy, completeness, and reliability of data</a:t>
            </a:r>
            <a:r>
              <a:rPr lang="en-US" dirty="0">
                <a:latin typeface="Calibri" panose="020F0502020204030204" pitchFamily="34" charset="0"/>
                <a:cs typeface="Calibri" panose="020F0502020204030204" pitchFamily="34" charset="0"/>
              </a:rPr>
              <a:t>. </a:t>
            </a:r>
            <a:endParaRPr lang="en-US" dirty="0" smtClean="0">
              <a:latin typeface="Calibri" panose="020F0502020204030204" pitchFamily="34" charset="0"/>
              <a:cs typeface="Calibri" panose="020F0502020204030204" pitchFamily="34" charset="0"/>
            </a:endParaRPr>
          </a:p>
          <a:p>
            <a:pPr>
              <a:lnSpc>
                <a:spcPct val="200000"/>
              </a:lnSpc>
            </a:pPr>
            <a:r>
              <a:rPr lang="en-US" dirty="0">
                <a:latin typeface="Calibri" panose="020F0502020204030204" pitchFamily="34" charset="0"/>
                <a:cs typeface="Calibri" panose="020F0502020204030204" pitchFamily="34" charset="0"/>
              </a:rPr>
              <a:t>Integrity constraints in Database Management Systems (DBMS) are a set of rules that are applied on the table columns or relationships to ensure that the overall validity, integrity, and consistency (i.e. the quality) of the data present in the database table is maintained. </a:t>
            </a:r>
            <a:endParaRPr lang="en-US" dirty="0" smtClean="0">
              <a:latin typeface="Calibri" panose="020F0502020204030204" pitchFamily="34" charset="0"/>
              <a:cs typeface="Calibri" panose="020F0502020204030204" pitchFamily="34" charset="0"/>
            </a:endParaRPr>
          </a:p>
          <a:p>
            <a:pPr>
              <a:lnSpc>
                <a:spcPct val="200000"/>
              </a:lnSpc>
            </a:pPr>
            <a:r>
              <a:rPr lang="en-US" dirty="0">
                <a:latin typeface="Calibri" panose="020F0502020204030204" pitchFamily="34" charset="0"/>
                <a:cs typeface="Calibri" panose="020F0502020204030204" pitchFamily="34" charset="0"/>
              </a:rPr>
              <a:t>E</a:t>
            </a:r>
            <a:r>
              <a:rPr lang="en-US" dirty="0" smtClean="0">
                <a:latin typeface="Calibri" panose="020F0502020204030204" pitchFamily="34" charset="0"/>
                <a:cs typeface="Calibri" panose="020F0502020204030204" pitchFamily="34" charset="0"/>
              </a:rPr>
              <a:t>very </a:t>
            </a:r>
            <a:r>
              <a:rPr lang="en-US" dirty="0">
                <a:latin typeface="Calibri" panose="020F0502020204030204" pitchFamily="34" charset="0"/>
                <a:cs typeface="Calibri" panose="020F0502020204030204" pitchFamily="34" charset="0"/>
              </a:rPr>
              <a:t>time a table insert, update, delete, or alter operation is performed, it is evaluated against the terms or rules mentioned in the integrity constraint. The data is inserted, updated, deleted, or altered only if the result of the constraint comes out to be True.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Thus</a:t>
            </a:r>
            <a:r>
              <a:rPr lang="en-US" dirty="0">
                <a:latin typeface="Calibri" panose="020F0502020204030204" pitchFamily="34" charset="0"/>
                <a:cs typeface="Calibri" panose="020F0502020204030204" pitchFamily="34" charset="0"/>
              </a:rPr>
              <a:t>, integrity constraint prevents accidental damage to the database by an authorized user</a:t>
            </a:r>
            <a:r>
              <a:rPr lang="en-US" dirty="0" smtClean="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296936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69455"/>
          </a:xfrm>
        </p:spPr>
        <p:txBody>
          <a:bodyPr/>
          <a:lstStyle/>
          <a:p>
            <a:pPr algn="ctr"/>
            <a:r>
              <a:rPr lang="en-US" b="1" u="sng" dirty="0" smtClean="0"/>
              <a:t>Types of Data </a:t>
            </a:r>
            <a:r>
              <a:rPr lang="en-US" b="1" u="sng" dirty="0"/>
              <a:t>Integrity</a:t>
            </a:r>
            <a:endParaRPr lang="en-US" b="1" dirty="0"/>
          </a:p>
        </p:txBody>
      </p:sp>
      <p:sp>
        <p:nvSpPr>
          <p:cNvPr id="3" name="Content Placeholder 2"/>
          <p:cNvSpPr>
            <a:spLocks noGrp="1"/>
          </p:cNvSpPr>
          <p:nvPr>
            <p:ph idx="1"/>
          </p:nvPr>
        </p:nvSpPr>
        <p:spPr>
          <a:xfrm>
            <a:off x="877330" y="1458098"/>
            <a:ext cx="10429102" cy="4609070"/>
          </a:xfrm>
        </p:spPr>
        <p:txBody>
          <a:bodyPr>
            <a:noAutofit/>
          </a:bodyPr>
          <a:lstStyle/>
          <a:p>
            <a:pPr>
              <a:lnSpc>
                <a:spcPct val="200000"/>
              </a:lnSpc>
            </a:pPr>
            <a:r>
              <a:rPr lang="en-US" dirty="0">
                <a:latin typeface="Calibri" panose="020F0502020204030204" pitchFamily="34" charset="0"/>
                <a:cs typeface="Calibri" panose="020F0502020204030204" pitchFamily="34" charset="0"/>
              </a:rPr>
              <a:t>The following categories of data integrity exist with each RDBMS −</a:t>
            </a:r>
          </a:p>
          <a:p>
            <a:pPr>
              <a:lnSpc>
                <a:spcPct val="200000"/>
              </a:lnSpc>
              <a:buFont typeface="Wingdings" panose="05000000000000000000" pitchFamily="2" charset="2"/>
              <a:buChar char="Ø"/>
            </a:pPr>
            <a:r>
              <a:rPr lang="en-US" b="1" dirty="0">
                <a:latin typeface="Calibri" panose="020F0502020204030204" pitchFamily="34" charset="0"/>
                <a:cs typeface="Calibri" panose="020F0502020204030204" pitchFamily="34" charset="0"/>
              </a:rPr>
              <a:t>Entity Integrity −</a:t>
            </a:r>
            <a:r>
              <a:rPr lang="en-US" dirty="0">
                <a:latin typeface="Calibri" panose="020F0502020204030204" pitchFamily="34" charset="0"/>
                <a:cs typeface="Calibri" panose="020F0502020204030204" pitchFamily="34" charset="0"/>
              </a:rPr>
              <a:t> Entity Integrity Constraint is used to ensure the uniqueness of each record or row in the data table. There are primarily two types of integrity constraints that help us in ensuring the uniqueness of each row, namely, UNIQUE constraint and PRIMARY KEY constraint.</a:t>
            </a:r>
          </a:p>
          <a:p>
            <a:pPr>
              <a:lnSpc>
                <a:spcPct val="200000"/>
              </a:lnSpc>
            </a:pPr>
            <a:r>
              <a:rPr lang="en-US" dirty="0">
                <a:latin typeface="Calibri" panose="020F0502020204030204" pitchFamily="34" charset="0"/>
                <a:cs typeface="Calibri" panose="020F0502020204030204" pitchFamily="34" charset="0"/>
              </a:rPr>
              <a:t>The unique key helps in uniquely identifying a record in the data table. It can be considered somewhat similar to the Primary key as both of them guarantee the uniqueness of a record. But unlike the primary key, a unique key can accept NULL values and it can be used on more than one column of the data table</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758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69455"/>
          </a:xfrm>
        </p:spPr>
        <p:txBody>
          <a:bodyPr/>
          <a:lstStyle/>
          <a:p>
            <a:pPr algn="ctr"/>
            <a:r>
              <a:rPr lang="en-US" b="1" u="sng" dirty="0" smtClean="0"/>
              <a:t>Types of Data </a:t>
            </a:r>
            <a:r>
              <a:rPr lang="en-US" b="1" u="sng" dirty="0"/>
              <a:t>Integrity</a:t>
            </a:r>
            <a:endParaRPr lang="en-US" b="1" dirty="0"/>
          </a:p>
        </p:txBody>
      </p:sp>
      <p:sp>
        <p:nvSpPr>
          <p:cNvPr id="3" name="Content Placeholder 2"/>
          <p:cNvSpPr>
            <a:spLocks noGrp="1"/>
          </p:cNvSpPr>
          <p:nvPr>
            <p:ph idx="1"/>
          </p:nvPr>
        </p:nvSpPr>
        <p:spPr>
          <a:xfrm>
            <a:off x="1075038" y="1433384"/>
            <a:ext cx="10429102" cy="5424616"/>
          </a:xfrm>
        </p:spPr>
        <p:txBody>
          <a:bodyPr>
            <a:noAutofit/>
          </a:bodyPr>
          <a:lstStyle/>
          <a:p>
            <a:pPr lvl="0">
              <a:lnSpc>
                <a:spcPct val="150000"/>
              </a:lnSpc>
              <a:buFont typeface="Wingdings" panose="05000000000000000000" pitchFamily="2" charset="2"/>
              <a:buChar char="Ø"/>
            </a:pPr>
            <a:r>
              <a:rPr lang="en-US" b="1" dirty="0">
                <a:latin typeface="Calibri" panose="020F0502020204030204" pitchFamily="34" charset="0"/>
                <a:cs typeface="Calibri" panose="020F0502020204030204" pitchFamily="34" charset="0"/>
              </a:rPr>
              <a:t>Domain Integrity − </a:t>
            </a:r>
            <a:r>
              <a:rPr lang="en-US" dirty="0">
                <a:latin typeface="Calibri" panose="020F0502020204030204" pitchFamily="34" charset="0"/>
                <a:cs typeface="Calibri" panose="020F0502020204030204" pitchFamily="34" charset="0"/>
              </a:rPr>
              <a:t>Domain integrity is the collection of processes that ensure the accuracy of each piece of data in a domain. </a:t>
            </a:r>
            <a:r>
              <a:rPr lang="en-US" dirty="0" smtClean="0">
                <a:latin typeface="Calibri" panose="020F0502020204030204" pitchFamily="34" charset="0"/>
                <a:cs typeface="Calibri" panose="020F0502020204030204" pitchFamily="34" charset="0"/>
              </a:rPr>
              <a:t>In </a:t>
            </a:r>
            <a:r>
              <a:rPr lang="en-US" dirty="0">
                <a:latin typeface="Calibri" panose="020F0502020204030204" pitchFamily="34" charset="0"/>
                <a:cs typeface="Calibri" panose="020F0502020204030204" pitchFamily="34" charset="0"/>
              </a:rPr>
              <a:t>this context, a domain is a set of acceptable values that a column is allowed to contain. </a:t>
            </a:r>
            <a:r>
              <a:rPr lang="en-US" dirty="0" smtClean="0">
                <a:latin typeface="Calibri" panose="020F0502020204030204" pitchFamily="34" charset="0"/>
                <a:cs typeface="Calibri" panose="020F0502020204030204" pitchFamily="34" charset="0"/>
              </a:rPr>
              <a:t> </a:t>
            </a:r>
          </a:p>
          <a:p>
            <a:pPr>
              <a:lnSpc>
                <a:spcPct val="150000"/>
              </a:lnSpc>
            </a:pPr>
            <a:r>
              <a:rPr lang="en-US" dirty="0" smtClean="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domain integrity constraint is a set of rules that restricts the kind of attributes or values a column or relation can hold in the database table. For example, we can specify if a particular column can hold null values or not, if the values have to be unique or not, the data type or size of values that can be entered in the column, the default values for the column, etc.</a:t>
            </a:r>
          </a:p>
          <a:p>
            <a:pPr>
              <a:lnSpc>
                <a:spcPct val="150000"/>
              </a:lnSpc>
            </a:pPr>
            <a:r>
              <a:rPr lang="en-US" dirty="0">
                <a:latin typeface="Calibri" panose="020F0502020204030204" pitchFamily="34" charset="0"/>
                <a:cs typeface="Calibri" panose="020F0502020204030204" pitchFamily="34" charset="0"/>
              </a:rPr>
              <a:t>For example, </a:t>
            </a:r>
            <a:r>
              <a:rPr lang="en-US" dirty="0" smtClean="0">
                <a:latin typeface="Calibri" panose="020F0502020204030204" pitchFamily="34" charset="0"/>
                <a:cs typeface="Calibri" panose="020F0502020204030204" pitchFamily="34" charset="0"/>
              </a:rPr>
              <a:t>when creating a </a:t>
            </a:r>
            <a:r>
              <a:rPr lang="en-US" dirty="0">
                <a:latin typeface="Calibri" panose="020F0502020204030204" pitchFamily="34" charset="0"/>
                <a:cs typeface="Calibri" panose="020F0502020204030204" pitchFamily="34" charset="0"/>
              </a:rPr>
              <a:t>“</a:t>
            </a:r>
            <a:r>
              <a:rPr lang="en-US" dirty="0" err="1">
                <a:latin typeface="Calibri" panose="020F0502020204030204" pitchFamily="34" charset="0"/>
                <a:cs typeface="Calibri" panose="020F0502020204030204" pitchFamily="34" charset="0"/>
              </a:rPr>
              <a:t>customer_details</a:t>
            </a:r>
            <a:r>
              <a:rPr lang="en-US" dirty="0">
                <a:latin typeface="Calibri" panose="020F0502020204030204" pitchFamily="34" charset="0"/>
                <a:cs typeface="Calibri" panose="020F0502020204030204" pitchFamily="34" charset="0"/>
              </a:rPr>
              <a:t>” table, with information such as customer id, customer name, the number of items purchased, date of purchase, etc. So, in order to ensure domain integrity, we can specify the </a:t>
            </a:r>
            <a:r>
              <a:rPr lang="en-US" dirty="0" err="1">
                <a:latin typeface="Calibri" panose="020F0502020204030204" pitchFamily="34" charset="0"/>
                <a:cs typeface="Calibri" panose="020F0502020204030204" pitchFamily="34" charset="0"/>
              </a:rPr>
              <a:t>customer_id</a:t>
            </a:r>
            <a:r>
              <a:rPr lang="en-US" dirty="0">
                <a:latin typeface="Calibri" panose="020F0502020204030204" pitchFamily="34" charset="0"/>
                <a:cs typeface="Calibri" panose="020F0502020204030204" pitchFamily="34" charset="0"/>
              </a:rPr>
              <a:t> has to be unique, the quantity of items purchased has to be an integer number only and the date of purchase has to be a date or timestamp, etc.</a:t>
            </a:r>
          </a:p>
        </p:txBody>
      </p:sp>
    </p:spTree>
    <p:extLst>
      <p:ext uri="{BB962C8B-B14F-4D97-AF65-F5344CB8AC3E}">
        <p14:creationId xmlns:p14="http://schemas.microsoft.com/office/powerpoint/2010/main" val="35107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69455"/>
          </a:xfrm>
        </p:spPr>
        <p:txBody>
          <a:bodyPr/>
          <a:lstStyle/>
          <a:p>
            <a:pPr algn="ctr"/>
            <a:r>
              <a:rPr lang="en-US" b="1" u="sng" dirty="0"/>
              <a:t>Data Integrity</a:t>
            </a:r>
            <a:endParaRPr lang="en-US" b="1" dirty="0"/>
          </a:p>
        </p:txBody>
      </p:sp>
      <p:sp>
        <p:nvSpPr>
          <p:cNvPr id="3" name="Content Placeholder 2"/>
          <p:cNvSpPr>
            <a:spLocks noGrp="1"/>
          </p:cNvSpPr>
          <p:nvPr>
            <p:ph idx="1"/>
          </p:nvPr>
        </p:nvSpPr>
        <p:spPr>
          <a:xfrm>
            <a:off x="1173892" y="1421027"/>
            <a:ext cx="9996616" cy="3954161"/>
          </a:xfrm>
        </p:spPr>
        <p:txBody>
          <a:bodyPr>
            <a:noAutofit/>
          </a:bodyPr>
          <a:lstStyle/>
          <a:p>
            <a:pPr>
              <a:lnSpc>
                <a:spcPct val="200000"/>
              </a:lnSpc>
              <a:buFont typeface="Wingdings" panose="05000000000000000000" pitchFamily="2" charset="2"/>
              <a:buChar char="Ø"/>
            </a:pPr>
            <a:r>
              <a:rPr lang="en-US" b="1" dirty="0">
                <a:latin typeface="Calibri" panose="020F0502020204030204" pitchFamily="34" charset="0"/>
                <a:cs typeface="Calibri" panose="020F0502020204030204" pitchFamily="34" charset="0"/>
              </a:rPr>
              <a:t>Referential integrity </a:t>
            </a:r>
            <a:r>
              <a:rPr lang="en-US" dirty="0">
                <a:latin typeface="Calibri" panose="020F0502020204030204" pitchFamily="34" charset="0"/>
                <a:cs typeface="Calibri" panose="020F0502020204030204" pitchFamily="34" charset="0"/>
              </a:rPr>
              <a:t>− Referential Integrity Constraint ensures that there always exists a valid relationship between two tables</a:t>
            </a:r>
            <a:r>
              <a:rPr lang="en-US" dirty="0" smtClean="0">
                <a:latin typeface="Calibri" panose="020F0502020204030204" pitchFamily="34" charset="0"/>
                <a:cs typeface="Calibri" panose="020F0502020204030204" pitchFamily="34" charset="0"/>
              </a:rPr>
              <a:t>. This </a:t>
            </a:r>
            <a:r>
              <a:rPr lang="en-US" dirty="0">
                <a:latin typeface="Calibri" panose="020F0502020204030204" pitchFamily="34" charset="0"/>
                <a:cs typeface="Calibri" panose="020F0502020204030204" pitchFamily="34" charset="0"/>
              </a:rPr>
              <a:t>makes sure that if a foreign key exists in a table relationship then it should always reference a corresponding value in the second table or it should be null.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Ø"/>
            </a:pPr>
            <a:r>
              <a:rPr lang="en-US" b="1" dirty="0" smtClean="0">
                <a:latin typeface="Calibri" panose="020F0502020204030204" pitchFamily="34" charset="0"/>
                <a:cs typeface="Calibri" panose="020F0502020204030204" pitchFamily="34" charset="0"/>
              </a:rPr>
              <a:t>User-Defined Integrity −</a:t>
            </a:r>
            <a:r>
              <a:rPr lang="en-US" dirty="0" smtClean="0">
                <a:latin typeface="Calibri" panose="020F0502020204030204" pitchFamily="34" charset="0"/>
                <a:cs typeface="Calibri" panose="020F0502020204030204" pitchFamily="34" charset="0"/>
              </a:rPr>
              <a:t> User-defined integrity involves the rules and constraints created by the user to fit their particular needs. Sometimes entity, referential, and domain integrity aren’t enough to safeguard data. Often, specific business rules must be taken into account and incorporated into data integrity measures.</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77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9625" y="514502"/>
            <a:ext cx="7175716" cy="560537"/>
          </a:xfrm>
        </p:spPr>
        <p:txBody>
          <a:bodyPr>
            <a:normAutofit/>
          </a:bodyPr>
          <a:lstStyle/>
          <a:p>
            <a:pPr algn="ctr"/>
            <a:r>
              <a:rPr lang="en-US" sz="3000" b="1" u="sng" dirty="0">
                <a:latin typeface="Calibri" panose="020F0502020204030204" pitchFamily="34" charset="0"/>
                <a:cs typeface="Calibri" panose="020F0502020204030204" pitchFamily="34" charset="0"/>
              </a:rPr>
              <a:t>KEYS IN DATABASE</a:t>
            </a:r>
            <a:endParaRPr lang="en-US" sz="3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976184" y="1272747"/>
            <a:ext cx="10602097" cy="4975653"/>
          </a:xfrm>
        </p:spPr>
        <p:txBody>
          <a:bodyPr>
            <a:normAutofit/>
          </a:bodyPr>
          <a:lstStyle/>
          <a:p>
            <a:pPr>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A key refers to an attribute/a set of attributes that help us identify a row (or tuple) uniquely in a table (or relation</a:t>
            </a:r>
            <a:r>
              <a:rPr lang="en-US" dirty="0" smtClean="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 individual values present in a key are commonly referred to as key </a:t>
            </a:r>
            <a:r>
              <a:rPr lang="en-US" dirty="0" smtClean="0">
                <a:latin typeface="Calibri" panose="020F0502020204030204" pitchFamily="34" charset="0"/>
                <a:cs typeface="Calibri" panose="020F0502020204030204" pitchFamily="34" charset="0"/>
              </a:rPr>
              <a:t>values.</a:t>
            </a:r>
          </a:p>
          <a:p>
            <a:pPr marL="0" indent="0">
              <a:lnSpc>
                <a:spcPct val="150000"/>
              </a:lnSpc>
              <a:buNone/>
            </a:pPr>
            <a:r>
              <a:rPr lang="en-US" b="1" dirty="0" smtClean="0">
                <a:latin typeface="Calibri" panose="020F0502020204030204" pitchFamily="34" charset="0"/>
                <a:cs typeface="Calibri" panose="020F0502020204030204" pitchFamily="34" charset="0"/>
              </a:rPr>
              <a:t>Why </a:t>
            </a:r>
            <a:r>
              <a:rPr lang="en-US" b="1" dirty="0">
                <a:latin typeface="Calibri" panose="020F0502020204030204" pitchFamily="34" charset="0"/>
                <a:cs typeface="Calibri" panose="020F0502020204030204" pitchFamily="34" charset="0"/>
              </a:rPr>
              <a:t>we need a Key</a:t>
            </a:r>
          </a:p>
          <a:p>
            <a:pPr>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Here are some reasons for using key in the DBMS system.</a:t>
            </a:r>
          </a:p>
          <a:p>
            <a:pPr lvl="1">
              <a:lnSpc>
                <a:spcPct val="150000"/>
              </a:lnSpc>
              <a:buFont typeface="Wingdings" panose="05000000000000000000" pitchFamily="2" charset="2"/>
              <a:buChar char="v"/>
            </a:pPr>
            <a:r>
              <a:rPr lang="en-US" sz="1800" dirty="0">
                <a:latin typeface="Calibri" panose="020F0502020204030204" pitchFamily="34" charset="0"/>
                <a:cs typeface="Calibri" panose="020F0502020204030204" pitchFamily="34" charset="0"/>
              </a:rPr>
              <a:t>Keys help you to identify any row of data in a table. In a real-world application, a table could contain thousands of records. Moreover, the records could be duplicated. Keys ensure that you can uniquely identify a table record despite these challenges.</a:t>
            </a:r>
          </a:p>
          <a:p>
            <a:pPr lvl="1">
              <a:lnSpc>
                <a:spcPct val="150000"/>
              </a:lnSpc>
              <a:buFont typeface="Wingdings" panose="05000000000000000000" pitchFamily="2" charset="2"/>
              <a:buChar char="v"/>
            </a:pPr>
            <a:r>
              <a:rPr lang="en-US" sz="1800" dirty="0">
                <a:latin typeface="Calibri" panose="020F0502020204030204" pitchFamily="34" charset="0"/>
                <a:cs typeface="Calibri" panose="020F0502020204030204" pitchFamily="34" charset="0"/>
              </a:rPr>
              <a:t>A key is also used when we want to establish relationships between the different columns and tables of a relational database </a:t>
            </a:r>
            <a:endParaRPr lang="en-US" sz="1800" dirty="0" smtClean="0">
              <a:latin typeface="Calibri" panose="020F0502020204030204" pitchFamily="34" charset="0"/>
              <a:cs typeface="Calibri" panose="020F0502020204030204" pitchFamily="34" charset="0"/>
            </a:endParaRPr>
          </a:p>
          <a:p>
            <a:pPr lvl="1">
              <a:lnSpc>
                <a:spcPct val="150000"/>
              </a:lnSpc>
              <a:buFont typeface="Wingdings" panose="05000000000000000000" pitchFamily="2" charset="2"/>
              <a:buChar char="v"/>
            </a:pPr>
            <a:r>
              <a:rPr lang="en-US" sz="1800" dirty="0" smtClean="0">
                <a:latin typeface="Calibri" panose="020F0502020204030204" pitchFamily="34" charset="0"/>
                <a:cs typeface="Calibri" panose="020F0502020204030204" pitchFamily="34" charset="0"/>
              </a:rPr>
              <a:t>Help in enforcing entity </a:t>
            </a:r>
            <a:r>
              <a:rPr lang="en-US" sz="1800" dirty="0">
                <a:latin typeface="Calibri" panose="020F0502020204030204" pitchFamily="34" charset="0"/>
                <a:cs typeface="Calibri" panose="020F0502020204030204" pitchFamily="34" charset="0"/>
              </a:rPr>
              <a:t>and </a:t>
            </a:r>
            <a:r>
              <a:rPr lang="en-US" sz="1800" dirty="0" smtClean="0">
                <a:latin typeface="Calibri" panose="020F0502020204030204" pitchFamily="34" charset="0"/>
                <a:cs typeface="Calibri" panose="020F0502020204030204" pitchFamily="34" charset="0"/>
              </a:rPr>
              <a:t>referential integrity </a:t>
            </a:r>
            <a:r>
              <a:rPr lang="en-US" sz="1800" dirty="0">
                <a:latin typeface="Calibri" panose="020F0502020204030204" pitchFamily="34" charset="0"/>
                <a:cs typeface="Calibri" panose="020F0502020204030204" pitchFamily="34" charset="0"/>
              </a:rPr>
              <a:t>in the relationship.</a:t>
            </a:r>
          </a:p>
        </p:txBody>
      </p:sp>
    </p:spTree>
    <p:extLst>
      <p:ext uri="{BB962C8B-B14F-4D97-AF65-F5344CB8AC3E}">
        <p14:creationId xmlns:p14="http://schemas.microsoft.com/office/powerpoint/2010/main" val="30994603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3128" y="662783"/>
            <a:ext cx="6792657" cy="461681"/>
          </a:xfrm>
        </p:spPr>
        <p:txBody>
          <a:bodyPr/>
          <a:lstStyle/>
          <a:p>
            <a:r>
              <a:rPr lang="en-US" sz="2200" b="1" dirty="0"/>
              <a:t>Types of Keys in Database Management System</a:t>
            </a:r>
          </a:p>
        </p:txBody>
      </p:sp>
      <p:sp>
        <p:nvSpPr>
          <p:cNvPr id="3" name="Content Placeholder 2"/>
          <p:cNvSpPr>
            <a:spLocks noGrp="1"/>
          </p:cNvSpPr>
          <p:nvPr>
            <p:ph idx="1"/>
          </p:nvPr>
        </p:nvSpPr>
        <p:spPr>
          <a:xfrm>
            <a:off x="1136822" y="1544595"/>
            <a:ext cx="9959546" cy="5041556"/>
          </a:xfrm>
        </p:spPr>
        <p:txBody>
          <a:bodyPr>
            <a:noAutofit/>
          </a:bodyPr>
          <a:lstStyle/>
          <a:p>
            <a:pPr>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There are mainly </a:t>
            </a:r>
            <a:r>
              <a:rPr lang="en-US" dirty="0" smtClean="0">
                <a:latin typeface="Calibri" panose="020F0502020204030204" pitchFamily="34" charset="0"/>
                <a:cs typeface="Calibri" panose="020F0502020204030204" pitchFamily="34" charset="0"/>
              </a:rPr>
              <a:t>six different </a:t>
            </a:r>
            <a:r>
              <a:rPr lang="en-US" dirty="0">
                <a:latin typeface="Calibri" panose="020F0502020204030204" pitchFamily="34" charset="0"/>
                <a:cs typeface="Calibri" panose="020F0502020204030204" pitchFamily="34" charset="0"/>
              </a:rPr>
              <a:t>types of Keys in DBMS and each key has </a:t>
            </a:r>
            <a:r>
              <a:rPr lang="en-US" dirty="0" smtClean="0">
                <a:latin typeface="Calibri" panose="020F0502020204030204" pitchFamily="34" charset="0"/>
                <a:cs typeface="Calibri" panose="020F0502020204030204" pitchFamily="34" charset="0"/>
              </a:rPr>
              <a:t>a different </a:t>
            </a:r>
            <a:r>
              <a:rPr lang="en-US" dirty="0">
                <a:latin typeface="Calibri" panose="020F0502020204030204" pitchFamily="34" charset="0"/>
                <a:cs typeface="Calibri" panose="020F0502020204030204" pitchFamily="34" charset="0"/>
              </a:rPr>
              <a:t>functionality</a:t>
            </a:r>
            <a:r>
              <a:rPr lang="en-US" dirty="0" smtClean="0">
                <a:latin typeface="Calibri" panose="020F0502020204030204" pitchFamily="34" charset="0"/>
                <a:cs typeface="Calibri" panose="020F0502020204030204" pitchFamily="34" charset="0"/>
              </a:rPr>
              <a:t>:</a:t>
            </a:r>
          </a:p>
          <a:p>
            <a:pPr lvl="1">
              <a:lnSpc>
                <a:spcPct val="15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Primary Key</a:t>
            </a:r>
          </a:p>
          <a:p>
            <a:pPr lvl="1">
              <a:lnSpc>
                <a:spcPct val="15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Super Key</a:t>
            </a:r>
          </a:p>
          <a:p>
            <a:pPr lvl="1">
              <a:lnSpc>
                <a:spcPct val="15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Candidate Key</a:t>
            </a:r>
          </a:p>
          <a:p>
            <a:pPr lvl="1">
              <a:lnSpc>
                <a:spcPct val="15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Alternate Key</a:t>
            </a:r>
          </a:p>
          <a:p>
            <a:pPr lvl="1">
              <a:lnSpc>
                <a:spcPct val="15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Foreign Key</a:t>
            </a:r>
          </a:p>
          <a:p>
            <a:pPr lvl="1">
              <a:lnSpc>
                <a:spcPct val="150000"/>
              </a:lnSpc>
              <a:buFont typeface="Wingdings" panose="05000000000000000000" pitchFamily="2" charset="2"/>
              <a:buChar char="Ø"/>
            </a:pPr>
            <a:r>
              <a:rPr lang="en-US" sz="1800" dirty="0" smtClean="0">
                <a:latin typeface="Calibri" panose="020F0502020204030204" pitchFamily="34" charset="0"/>
                <a:cs typeface="Calibri" panose="020F0502020204030204" pitchFamily="34" charset="0"/>
              </a:rPr>
              <a:t>Compound key</a:t>
            </a: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238566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4209" y="736924"/>
            <a:ext cx="6792657" cy="461681"/>
          </a:xfrm>
        </p:spPr>
        <p:txBody>
          <a:bodyPr/>
          <a:lstStyle/>
          <a:p>
            <a:pPr algn="ctr"/>
            <a:r>
              <a:rPr lang="en-US" sz="2200" b="1" dirty="0" smtClean="0">
                <a:latin typeface="Calibri" panose="020F0502020204030204" pitchFamily="34" charset="0"/>
                <a:cs typeface="Calibri" panose="020F0502020204030204" pitchFamily="34" charset="0"/>
              </a:rPr>
              <a:t>1. Super key</a:t>
            </a:r>
            <a:endParaRPr lang="en-US" sz="22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037968" y="1433384"/>
            <a:ext cx="10515600" cy="5004486"/>
          </a:xfrm>
        </p:spPr>
        <p:txBody>
          <a:bodyPr>
            <a:noAutofit/>
          </a:bodyPr>
          <a:lstStyle/>
          <a:p>
            <a:pPr lvl="0">
              <a:lnSpc>
                <a:spcPct val="200000"/>
              </a:lnSpc>
              <a:buFont typeface="Wingdings" panose="05000000000000000000" pitchFamily="2" charset="2"/>
              <a:buChar char="Ø"/>
            </a:pPr>
            <a:r>
              <a:rPr lang="en-US" dirty="0">
                <a:latin typeface="Calibri" panose="020F0502020204030204" pitchFamily="34" charset="0"/>
                <a:cs typeface="Calibri" panose="020F0502020204030204" pitchFamily="34" charset="0"/>
              </a:rPr>
              <a:t>A super key is a set of one or more attributes (columns), which can uniquely identify a row in a table</a:t>
            </a:r>
            <a:r>
              <a:rPr lang="en-US" dirty="0" smtClean="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It means that all of these columns present in a table that can identify the columns of that table uniquely act as the super keys.</a:t>
            </a:r>
          </a:p>
        </p:txBody>
      </p:sp>
      <p:pic>
        <p:nvPicPr>
          <p:cNvPr id="5" name="Picture 4"/>
          <p:cNvPicPr>
            <a:picLocks noChangeAspect="1"/>
          </p:cNvPicPr>
          <p:nvPr/>
        </p:nvPicPr>
        <p:blipFill>
          <a:blip r:embed="rId2"/>
          <a:stretch>
            <a:fillRect/>
          </a:stretch>
        </p:blipFill>
        <p:spPr>
          <a:xfrm>
            <a:off x="2517893" y="3502739"/>
            <a:ext cx="5920136" cy="1946591"/>
          </a:xfrm>
          <a:prstGeom prst="rect">
            <a:avLst/>
          </a:prstGeom>
        </p:spPr>
      </p:pic>
    </p:spTree>
    <p:extLst>
      <p:ext uri="{BB962C8B-B14F-4D97-AF65-F5344CB8AC3E}">
        <p14:creationId xmlns:p14="http://schemas.microsoft.com/office/powerpoint/2010/main" val="136419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368" y="724566"/>
            <a:ext cx="8086110" cy="671747"/>
          </a:xfrm>
        </p:spPr>
        <p:txBody>
          <a:bodyPr/>
          <a:lstStyle/>
          <a:p>
            <a:pPr algn="ctr"/>
            <a:r>
              <a:rPr lang="en-US" sz="2600" b="1" dirty="0" smtClean="0">
                <a:latin typeface="Calibri" panose="020F0502020204030204" pitchFamily="34" charset="0"/>
                <a:cs typeface="Calibri" panose="020F0502020204030204" pitchFamily="34" charset="0"/>
              </a:rPr>
              <a:t>2. Primary Key</a:t>
            </a:r>
            <a:endParaRPr lang="en-US" sz="26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248033" y="1519881"/>
            <a:ext cx="9811265" cy="3571103"/>
          </a:xfrm>
        </p:spPr>
        <p:txBody>
          <a:bodyPr>
            <a:normAutofit/>
          </a:bodyPr>
          <a:lstStyle/>
          <a:p>
            <a:pPr marL="285750" lvl="1">
              <a:lnSpc>
                <a:spcPct val="20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The primary key refers to a column or a set of columns of a table that helps us identify all the records uniquely present in that table. </a:t>
            </a:r>
            <a:endParaRPr lang="en-US" sz="1800" dirty="0" smtClean="0">
              <a:latin typeface="Calibri" panose="020F0502020204030204" pitchFamily="34" charset="0"/>
              <a:cs typeface="Calibri" panose="020F0502020204030204" pitchFamily="34" charset="0"/>
            </a:endParaRPr>
          </a:p>
          <a:p>
            <a:pPr marL="285750" lvl="1">
              <a:lnSpc>
                <a:spcPct val="200000"/>
              </a:lnSpc>
              <a:buFont typeface="Wingdings" panose="05000000000000000000" pitchFamily="2" charset="2"/>
              <a:buChar char="Ø"/>
            </a:pPr>
            <a:r>
              <a:rPr lang="en-US" sz="1800" dirty="0" smtClean="0">
                <a:latin typeface="Calibri" panose="020F0502020204030204" pitchFamily="34" charset="0"/>
                <a:cs typeface="Calibri" panose="020F0502020204030204" pitchFamily="34" charset="0"/>
              </a:rPr>
              <a:t>A </a:t>
            </a:r>
            <a:r>
              <a:rPr lang="en-US" sz="1800" dirty="0">
                <a:latin typeface="Calibri" panose="020F0502020204030204" pitchFamily="34" charset="0"/>
                <a:cs typeface="Calibri" panose="020F0502020204030204" pitchFamily="34" charset="0"/>
              </a:rPr>
              <a:t>table can consist of just one primary key. </a:t>
            </a:r>
            <a:r>
              <a:rPr lang="en-US" sz="1800" dirty="0" smtClean="0">
                <a:latin typeface="Calibri" panose="020F0502020204030204" pitchFamily="34" charset="0"/>
                <a:cs typeface="Calibri" panose="020F0502020204030204" pitchFamily="34" charset="0"/>
              </a:rPr>
              <a:t> </a:t>
            </a:r>
          </a:p>
          <a:p>
            <a:pPr marL="285750" lvl="1">
              <a:lnSpc>
                <a:spcPct val="200000"/>
              </a:lnSpc>
              <a:buFont typeface="Wingdings" panose="05000000000000000000" pitchFamily="2" charset="2"/>
              <a:buChar char="Ø"/>
            </a:pPr>
            <a:r>
              <a:rPr lang="en-US" sz="1800" dirty="0" smtClean="0">
                <a:latin typeface="Calibri" panose="020F0502020204030204" pitchFamily="34" charset="0"/>
                <a:cs typeface="Calibri" panose="020F0502020204030204" pitchFamily="34" charset="0"/>
              </a:rPr>
              <a:t>All </a:t>
            </a:r>
            <a:r>
              <a:rPr lang="en-US" sz="1800" dirty="0">
                <a:latin typeface="Calibri" panose="020F0502020204030204" pitchFamily="34" charset="0"/>
                <a:cs typeface="Calibri" panose="020F0502020204030204" pitchFamily="34" charset="0"/>
              </a:rPr>
              <a:t>the values of a primary key have </a:t>
            </a:r>
            <a:r>
              <a:rPr lang="en-US" sz="1800" dirty="0" smtClean="0">
                <a:latin typeface="Calibri" panose="020F0502020204030204" pitchFamily="34" charset="0"/>
                <a:cs typeface="Calibri" panose="020F0502020204030204" pitchFamily="34" charset="0"/>
              </a:rPr>
              <a:t>to be unique, </a:t>
            </a:r>
            <a:r>
              <a:rPr lang="en-US" sz="1800" dirty="0">
                <a:latin typeface="Calibri" panose="020F0502020204030204" pitchFamily="34" charset="0"/>
                <a:cs typeface="Calibri" panose="020F0502020204030204" pitchFamily="34" charset="0"/>
              </a:rPr>
              <a:t>and there should be no repetitions</a:t>
            </a:r>
            <a:r>
              <a:rPr lang="en-US" sz="1800" dirty="0" smtClean="0">
                <a:latin typeface="Calibri" panose="020F0502020204030204" pitchFamily="34" charset="0"/>
                <a:cs typeface="Calibri" panose="020F0502020204030204" pitchFamily="34" charset="0"/>
              </a:rPr>
              <a:t>.</a:t>
            </a:r>
          </a:p>
          <a:p>
            <a:pPr marL="285750" lvl="1">
              <a:lnSpc>
                <a:spcPct val="20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Also, </a:t>
            </a:r>
            <a:r>
              <a:rPr lang="en-US" sz="1800" dirty="0" smtClean="0">
                <a:latin typeface="Calibri" panose="020F0502020204030204" pitchFamily="34" charset="0"/>
                <a:cs typeface="Calibri" panose="020F0502020204030204" pitchFamily="34" charset="0"/>
              </a:rPr>
              <a:t>Primary Key cannot contain </a:t>
            </a:r>
            <a:r>
              <a:rPr lang="en-US" sz="1800" smtClean="0">
                <a:latin typeface="Calibri" panose="020F0502020204030204" pitchFamily="34" charset="0"/>
                <a:cs typeface="Calibri" panose="020F0502020204030204" pitchFamily="34" charset="0"/>
              </a:rPr>
              <a:t>null values </a:t>
            </a: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65914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3005" y="650426"/>
            <a:ext cx="8086110" cy="671747"/>
          </a:xfrm>
        </p:spPr>
        <p:txBody>
          <a:bodyPr/>
          <a:lstStyle/>
          <a:p>
            <a:pPr algn="ctr"/>
            <a:r>
              <a:rPr lang="en-US" sz="2600" b="1" dirty="0">
                <a:latin typeface="Calibri" panose="020F0502020204030204" pitchFamily="34" charset="0"/>
                <a:cs typeface="Calibri" panose="020F0502020204030204" pitchFamily="34" charset="0"/>
              </a:rPr>
              <a:t>3</a:t>
            </a:r>
            <a:r>
              <a:rPr lang="en-US" sz="2600" b="1" dirty="0" smtClean="0">
                <a:latin typeface="Calibri" panose="020F0502020204030204" pitchFamily="34" charset="0"/>
                <a:cs typeface="Calibri" panose="020F0502020204030204" pitchFamily="34" charset="0"/>
              </a:rPr>
              <a:t>. Candidate Key</a:t>
            </a:r>
            <a:endParaRPr lang="en-US" sz="26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248033" y="1519881"/>
            <a:ext cx="9811265" cy="3571103"/>
          </a:xfrm>
        </p:spPr>
        <p:txBody>
          <a:bodyPr>
            <a:normAutofit/>
          </a:bodyPr>
          <a:lstStyle/>
          <a:p>
            <a:pPr marL="285750" lvl="1">
              <a:lnSpc>
                <a:spcPct val="20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The candidate keys refer to those attributes that identify rows uniquely in a table. In a table, we select the primary key from a candidate key. </a:t>
            </a:r>
            <a:endParaRPr lang="en-US" sz="1800" dirty="0" smtClean="0">
              <a:latin typeface="Calibri" panose="020F0502020204030204" pitchFamily="34" charset="0"/>
              <a:cs typeface="Calibri" panose="020F0502020204030204" pitchFamily="34" charset="0"/>
            </a:endParaRPr>
          </a:p>
          <a:p>
            <a:pPr marL="285750" lvl="1">
              <a:lnSpc>
                <a:spcPct val="200000"/>
              </a:lnSpc>
              <a:buFont typeface="Wingdings" panose="05000000000000000000" pitchFamily="2" charset="2"/>
              <a:buChar char="Ø"/>
            </a:pPr>
            <a:r>
              <a:rPr lang="en-US" sz="1800" dirty="0" smtClean="0">
                <a:latin typeface="Calibri" panose="020F0502020204030204" pitchFamily="34" charset="0"/>
                <a:cs typeface="Calibri" panose="020F0502020204030204" pitchFamily="34" charset="0"/>
              </a:rPr>
              <a:t>Thus</a:t>
            </a:r>
            <a:r>
              <a:rPr lang="en-US" sz="1800" dirty="0">
                <a:latin typeface="Calibri" panose="020F0502020204030204" pitchFamily="34" charset="0"/>
                <a:cs typeface="Calibri" panose="020F0502020204030204" pitchFamily="34" charset="0"/>
              </a:rPr>
              <a:t>, a candidate key has similar properties as that of the primary keys that we have explained above. In a table, there can be multiple candidate keys</a:t>
            </a:r>
            <a:r>
              <a:rPr lang="en-US" sz="1800" dirty="0" smtClean="0">
                <a:latin typeface="Calibri" panose="020F0502020204030204" pitchFamily="34" charset="0"/>
                <a:cs typeface="Calibri" panose="020F0502020204030204" pitchFamily="34" charset="0"/>
              </a:rPr>
              <a:t>.</a:t>
            </a:r>
          </a:p>
          <a:p>
            <a:pPr marL="285750" lvl="1">
              <a:lnSpc>
                <a:spcPct val="20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A super key is a candidate key’s superset </a:t>
            </a:r>
          </a:p>
        </p:txBody>
      </p:sp>
    </p:spTree>
    <p:extLst>
      <p:ext uri="{BB962C8B-B14F-4D97-AF65-F5344CB8AC3E}">
        <p14:creationId xmlns:p14="http://schemas.microsoft.com/office/powerpoint/2010/main" val="34424215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4724" y="452718"/>
            <a:ext cx="8086110" cy="671747"/>
          </a:xfrm>
        </p:spPr>
        <p:txBody>
          <a:bodyPr/>
          <a:lstStyle/>
          <a:p>
            <a:pPr algn="ctr"/>
            <a:r>
              <a:rPr lang="en-US" sz="2600" b="1" dirty="0" smtClean="0">
                <a:latin typeface="Calibri" panose="020F0502020204030204" pitchFamily="34" charset="0"/>
                <a:cs typeface="Calibri" panose="020F0502020204030204" pitchFamily="34" charset="0"/>
              </a:rPr>
              <a:t>4. Alternate Keys</a:t>
            </a:r>
            <a:endParaRPr lang="en-US" sz="26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248033" y="1519881"/>
            <a:ext cx="9811265" cy="3571103"/>
          </a:xfrm>
        </p:spPr>
        <p:txBody>
          <a:bodyPr>
            <a:normAutofit/>
          </a:bodyPr>
          <a:lstStyle/>
          <a:p>
            <a:pPr marL="285750" lvl="1">
              <a:lnSpc>
                <a:spcPct val="20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As we have stated above, any table can consist of multiple choices for the primary </a:t>
            </a:r>
            <a:r>
              <a:rPr lang="en-US" sz="1800" dirty="0" smtClean="0">
                <a:latin typeface="Calibri" panose="020F0502020204030204" pitchFamily="34" charset="0"/>
                <a:cs typeface="Calibri" panose="020F0502020204030204" pitchFamily="34" charset="0"/>
              </a:rPr>
              <a:t>key (candidate keys). </a:t>
            </a:r>
            <a:r>
              <a:rPr lang="en-US" sz="1800" dirty="0">
                <a:latin typeface="Calibri" panose="020F0502020204030204" pitchFamily="34" charset="0"/>
                <a:cs typeface="Calibri" panose="020F0502020204030204" pitchFamily="34" charset="0"/>
              </a:rPr>
              <a:t>But, it can only choose one. Thus, all those keys that did not become a primary key are known as alternate keys.</a:t>
            </a:r>
          </a:p>
        </p:txBody>
      </p:sp>
      <p:pic>
        <p:nvPicPr>
          <p:cNvPr id="5" name="Picture 4"/>
          <p:cNvPicPr>
            <a:picLocks noChangeAspect="1"/>
          </p:cNvPicPr>
          <p:nvPr/>
        </p:nvPicPr>
        <p:blipFill>
          <a:blip r:embed="rId2"/>
          <a:stretch>
            <a:fillRect/>
          </a:stretch>
        </p:blipFill>
        <p:spPr>
          <a:xfrm>
            <a:off x="2480822" y="3453312"/>
            <a:ext cx="7009965" cy="2304936"/>
          </a:xfrm>
          <a:prstGeom prst="rect">
            <a:avLst/>
          </a:prstGeom>
        </p:spPr>
      </p:pic>
    </p:spTree>
    <p:extLst>
      <p:ext uri="{BB962C8B-B14F-4D97-AF65-F5344CB8AC3E}">
        <p14:creationId xmlns:p14="http://schemas.microsoft.com/office/powerpoint/2010/main" val="128860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2433" y="452718"/>
            <a:ext cx="6232596" cy="548179"/>
          </a:xfrm>
        </p:spPr>
        <p:txBody>
          <a:bodyPr/>
          <a:lstStyle/>
          <a:p>
            <a:pPr algn="ctr"/>
            <a:r>
              <a:rPr lang="en-US" sz="2400" b="1" dirty="0" smtClean="0"/>
              <a:t>5. Foreign key</a:t>
            </a:r>
            <a:endParaRPr lang="en-US" sz="2200" dirty="0"/>
          </a:p>
        </p:txBody>
      </p:sp>
      <p:sp>
        <p:nvSpPr>
          <p:cNvPr id="3" name="Content Placeholder 2"/>
          <p:cNvSpPr>
            <a:spLocks noGrp="1"/>
          </p:cNvSpPr>
          <p:nvPr>
            <p:ph idx="1"/>
          </p:nvPr>
        </p:nvSpPr>
        <p:spPr>
          <a:xfrm>
            <a:off x="976185" y="1198605"/>
            <a:ext cx="10404388" cy="2903838"/>
          </a:xfrm>
        </p:spPr>
        <p:txBody>
          <a:bodyPr>
            <a:normAutofit/>
          </a:bodyPr>
          <a:lstStyle/>
          <a:p>
            <a:pPr>
              <a:lnSpc>
                <a:spcPct val="150000"/>
              </a:lnSpc>
            </a:pPr>
            <a:r>
              <a:rPr lang="en-US" b="1" dirty="0" smtClean="0">
                <a:latin typeface="Calibri" panose="020F0502020204030204" pitchFamily="34" charset="0"/>
                <a:cs typeface="Calibri" panose="020F0502020204030204" pitchFamily="34" charset="0"/>
              </a:rPr>
              <a:t>It</a:t>
            </a:r>
            <a:r>
              <a:rPr lang="en-US" dirty="0">
                <a:latin typeface="Calibri" panose="020F0502020204030204" pitchFamily="34" charset="0"/>
                <a:cs typeface="Calibri" panose="020F0502020204030204" pitchFamily="34" charset="0"/>
              </a:rPr>
              <a:t> is a column that creates a relationship between two tables. </a:t>
            </a:r>
            <a:endParaRPr lang="en-US" dirty="0" smtClean="0">
              <a:latin typeface="Calibri" panose="020F0502020204030204" pitchFamily="34" charset="0"/>
              <a:cs typeface="Calibri" panose="020F0502020204030204" pitchFamily="34" charset="0"/>
            </a:endParaRPr>
          </a:p>
          <a:p>
            <a:pPr>
              <a:lnSpc>
                <a:spcPct val="150000"/>
              </a:lnSpc>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purpose of Foreign keys is to maintain data integrity and allow navigation between two different instances of an entity. </a:t>
            </a:r>
            <a:endParaRPr lang="en-US" dirty="0" smtClean="0">
              <a:latin typeface="Calibri" panose="020F0502020204030204" pitchFamily="34" charset="0"/>
              <a:cs typeface="Calibri" panose="020F0502020204030204" pitchFamily="34" charset="0"/>
            </a:endParaRPr>
          </a:p>
          <a:p>
            <a:pPr>
              <a:lnSpc>
                <a:spcPct val="150000"/>
              </a:lnSpc>
            </a:pPr>
            <a:r>
              <a:rPr lang="en-US" dirty="0" smtClean="0">
                <a:latin typeface="Calibri" panose="020F0502020204030204" pitchFamily="34" charset="0"/>
                <a:cs typeface="Calibri" panose="020F0502020204030204" pitchFamily="34" charset="0"/>
              </a:rPr>
              <a:t>It </a:t>
            </a:r>
            <a:r>
              <a:rPr lang="en-US" dirty="0">
                <a:latin typeface="Calibri" panose="020F0502020204030204" pitchFamily="34" charset="0"/>
                <a:cs typeface="Calibri" panose="020F0502020204030204" pitchFamily="34" charset="0"/>
              </a:rPr>
              <a:t>acts as a cross-reference between two tables as it references the primary key of another table.</a:t>
            </a:r>
            <a:endParaRPr lang="en-US" sz="1800" dirty="0">
              <a:latin typeface="Calibri" panose="020F0502020204030204" pitchFamily="34" charset="0"/>
              <a:cs typeface="Calibri" panose="020F0502020204030204" pitchFamily="34" charset="0"/>
            </a:endParaRPr>
          </a:p>
          <a:p>
            <a:pPr>
              <a:lnSpc>
                <a:spcPct val="150000"/>
              </a:lnSpc>
            </a:pPr>
            <a:r>
              <a:rPr lang="en-US" b="1" dirty="0">
                <a:latin typeface="Calibri" panose="020F0502020204030204" pitchFamily="34" charset="0"/>
                <a:cs typeface="Calibri" panose="020F0502020204030204" pitchFamily="34" charset="0"/>
              </a:rPr>
              <a:t>Example</a:t>
            </a:r>
            <a:r>
              <a:rPr lang="en-US" b="1" dirty="0" smtClean="0">
                <a:latin typeface="Calibri" panose="020F0502020204030204" pitchFamily="34" charset="0"/>
                <a:cs typeface="Calibri" panose="020F0502020204030204" pitchFamily="34" charset="0"/>
              </a:rPr>
              <a:t>:</a:t>
            </a:r>
          </a:p>
          <a:p>
            <a:pPr>
              <a:lnSpc>
                <a:spcPct val="150000"/>
              </a:lnSpc>
            </a:pPr>
            <a:endParaRPr lang="en-US" sz="1800" dirty="0">
              <a:latin typeface="Calibri" panose="020F0502020204030204" pitchFamily="34" charset="0"/>
              <a:cs typeface="Calibri" panose="020F0502020204030204" pitchFamily="34" charset="0"/>
            </a:endParaRPr>
          </a:p>
        </p:txBody>
      </p:sp>
      <p:pic>
        <p:nvPicPr>
          <p:cNvPr id="2050" name="Picture 2" descr="Foreign Key in DBMS - javat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8644" y="3466070"/>
            <a:ext cx="8447888" cy="2650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950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wipe(down)">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wipe(down)">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wipe(down)">
                                      <p:cBhvr>
                                        <p:cTn id="29" dur="500"/>
                                        <p:tgtEl>
                                          <p:spTgt spid="3">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2050"/>
                                        </p:tgtEl>
                                        <p:attrNameLst>
                                          <p:attrName>style.visibility</p:attrName>
                                        </p:attrNameLst>
                                      </p:cBhvr>
                                      <p:to>
                                        <p:strVal val="visible"/>
                                      </p:to>
                                    </p:set>
                                    <p:animEffect transition="in" filter="circle(in)">
                                      <p:cBhvr>
                                        <p:cTn id="34"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4216" y="773994"/>
            <a:ext cx="6771503" cy="585250"/>
          </a:xfrm>
        </p:spPr>
        <p:txBody>
          <a:bodyPr/>
          <a:lstStyle/>
          <a:p>
            <a:pPr algn="ctr"/>
            <a:r>
              <a:rPr lang="en-US" sz="2200" b="1" dirty="0" smtClean="0">
                <a:latin typeface="Calibri" panose="020F0502020204030204" pitchFamily="34" charset="0"/>
                <a:cs typeface="Calibri" panose="020F0502020204030204" pitchFamily="34" charset="0"/>
              </a:rPr>
              <a:t>6. Compound Key</a:t>
            </a:r>
            <a:endParaRPr lang="en-US" sz="2200" dirty="0">
              <a:latin typeface="Calibri" panose="020F0502020204030204" pitchFamily="34" charset="0"/>
              <a:cs typeface="Calibri" panose="020F0502020204030204" pitchFamily="34" charset="0"/>
            </a:endParaRPr>
          </a:p>
        </p:txBody>
      </p:sp>
      <p:sp>
        <p:nvSpPr>
          <p:cNvPr id="3" name="TextBox 2"/>
          <p:cNvSpPr txBox="1"/>
          <p:nvPr/>
        </p:nvSpPr>
        <p:spPr>
          <a:xfrm>
            <a:off x="1050326" y="1556953"/>
            <a:ext cx="9897759" cy="2349618"/>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sz="1900" b="1" dirty="0" smtClean="0">
                <a:latin typeface="Calibri" panose="020F0502020204030204" pitchFamily="34" charset="0"/>
                <a:cs typeface="Calibri" panose="020F0502020204030204" pitchFamily="34" charset="0"/>
              </a:rPr>
              <a:t>It</a:t>
            </a:r>
            <a:r>
              <a:rPr lang="en-US" sz="1900" dirty="0">
                <a:latin typeface="Calibri" panose="020F0502020204030204" pitchFamily="34" charset="0"/>
                <a:cs typeface="Calibri" panose="020F0502020204030204" pitchFamily="34" charset="0"/>
              </a:rPr>
              <a:t> has two or more attributes that allow you to uniquely recognize a specific record. It is possible that each column may not be unique by itself within the database. </a:t>
            </a:r>
            <a:r>
              <a:rPr lang="en-US" sz="1900" dirty="0" smtClean="0">
                <a:latin typeface="Calibri" panose="020F0502020204030204" pitchFamily="34" charset="0"/>
                <a:cs typeface="Calibri" panose="020F0502020204030204" pitchFamily="34" charset="0"/>
              </a:rPr>
              <a:t>However</a:t>
            </a:r>
            <a:r>
              <a:rPr lang="en-US" sz="1900" dirty="0">
                <a:latin typeface="Calibri" panose="020F0502020204030204" pitchFamily="34" charset="0"/>
                <a:cs typeface="Calibri" panose="020F0502020204030204" pitchFamily="34" charset="0"/>
              </a:rPr>
              <a:t>, when combined with the other column or columns the combination of composite keys become unique. </a:t>
            </a:r>
            <a:endParaRPr lang="en-US" sz="1900" dirty="0" smtClean="0">
              <a:latin typeface="Calibri" panose="020F0502020204030204" pitchFamily="34" charset="0"/>
              <a:cs typeface="Calibri" panose="020F0502020204030204" pitchFamily="34" charset="0"/>
            </a:endParaRPr>
          </a:p>
          <a:p>
            <a:pPr marL="285750" indent="-285750">
              <a:lnSpc>
                <a:spcPct val="200000"/>
              </a:lnSpc>
              <a:buFont typeface="Wingdings" panose="05000000000000000000" pitchFamily="2" charset="2"/>
              <a:buChar char="Ø"/>
            </a:pPr>
            <a:r>
              <a:rPr lang="en-US" sz="1900" dirty="0" smtClean="0">
                <a:latin typeface="Calibri" panose="020F0502020204030204" pitchFamily="34" charset="0"/>
                <a:cs typeface="Calibri" panose="020F0502020204030204" pitchFamily="34" charset="0"/>
              </a:rPr>
              <a:t>The </a:t>
            </a:r>
            <a:r>
              <a:rPr lang="en-US" sz="1900" dirty="0">
                <a:latin typeface="Calibri" panose="020F0502020204030204" pitchFamily="34" charset="0"/>
                <a:cs typeface="Calibri" panose="020F0502020204030204" pitchFamily="34" charset="0"/>
              </a:rPr>
              <a:t>purpose of the compound key in database is to uniquely identify each record in the table</a:t>
            </a:r>
            <a:r>
              <a:rPr lang="en-US" sz="1900" dirty="0" smtClean="0">
                <a:latin typeface="Calibri" panose="020F0502020204030204" pitchFamily="34" charset="0"/>
                <a:cs typeface="Calibri" panose="020F0502020204030204" pitchFamily="34" charset="0"/>
              </a:rPr>
              <a:t>.</a:t>
            </a:r>
            <a:endParaRPr lang="en-US" sz="19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375187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9502" y="650427"/>
            <a:ext cx="6771503" cy="449324"/>
          </a:xfrm>
        </p:spPr>
        <p:txBody>
          <a:bodyPr/>
          <a:lstStyle/>
          <a:p>
            <a:pPr algn="ctr"/>
            <a:r>
              <a:rPr lang="en-US" sz="2200" b="1" dirty="0" smtClean="0">
                <a:latin typeface="Calibri" panose="020F0502020204030204" pitchFamily="34" charset="0"/>
                <a:cs typeface="Calibri" panose="020F0502020204030204" pitchFamily="34" charset="0"/>
              </a:rPr>
              <a:t>6. Compound Key continuation</a:t>
            </a:r>
            <a:endParaRPr lang="en-US" sz="22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2162433" y="1936957"/>
            <a:ext cx="6627356" cy="2783324"/>
          </a:xfrm>
          <a:prstGeom prst="rect">
            <a:avLst/>
          </a:prstGeom>
        </p:spPr>
      </p:pic>
      <p:sp>
        <p:nvSpPr>
          <p:cNvPr id="6" name="TextBox 5"/>
          <p:cNvSpPr txBox="1"/>
          <p:nvPr/>
        </p:nvSpPr>
        <p:spPr>
          <a:xfrm>
            <a:off x="1952368" y="1359242"/>
            <a:ext cx="7414054" cy="369332"/>
          </a:xfrm>
          <a:prstGeom prst="rect">
            <a:avLst/>
          </a:prstGeom>
          <a:noFill/>
        </p:spPr>
        <p:txBody>
          <a:bodyPr wrap="square" rtlCol="0">
            <a:spAutoFit/>
          </a:bodyPr>
          <a:lstStyle/>
          <a:p>
            <a:r>
              <a:rPr lang="en-US" dirty="0" smtClean="0">
                <a:latin typeface="Calibri" panose="020F0502020204030204" pitchFamily="34" charset="0"/>
                <a:cs typeface="Calibri" panose="020F0502020204030204" pitchFamily="34" charset="0"/>
              </a:rPr>
              <a:t>Example: Consider the table below</a:t>
            </a:r>
            <a:endParaRPr lang="en-US" dirty="0">
              <a:latin typeface="Calibri" panose="020F0502020204030204" pitchFamily="34" charset="0"/>
              <a:cs typeface="Calibri" panose="020F0502020204030204" pitchFamily="34" charset="0"/>
            </a:endParaRPr>
          </a:p>
        </p:txBody>
      </p:sp>
      <p:sp>
        <p:nvSpPr>
          <p:cNvPr id="7" name="TextBox 6"/>
          <p:cNvSpPr txBox="1"/>
          <p:nvPr/>
        </p:nvSpPr>
        <p:spPr>
          <a:xfrm>
            <a:off x="1136821" y="4979773"/>
            <a:ext cx="10144898" cy="1200329"/>
          </a:xfrm>
          <a:prstGeom prst="rect">
            <a:avLst/>
          </a:prstGeom>
          <a:noFill/>
        </p:spPr>
        <p:txBody>
          <a:bodyPr wrap="square" rtlCol="0">
            <a:spAutoFit/>
          </a:bodyPr>
          <a:lstStyle/>
          <a:p>
            <a:pPr>
              <a:lnSpc>
                <a:spcPct val="200000"/>
              </a:lnSpc>
            </a:pPr>
            <a:r>
              <a:rPr lang="en-US" dirty="0">
                <a:latin typeface="Calibri" panose="020F0502020204030204" pitchFamily="34" charset="0"/>
                <a:cs typeface="Calibri" panose="020F0502020204030204" pitchFamily="34" charset="0"/>
              </a:rPr>
              <a:t>In this example, </a:t>
            </a:r>
            <a:r>
              <a:rPr lang="en-US" dirty="0" err="1">
                <a:latin typeface="Calibri" panose="020F0502020204030204" pitchFamily="34" charset="0"/>
                <a:cs typeface="Calibri" panose="020F0502020204030204" pitchFamily="34" charset="0"/>
              </a:rPr>
              <a:t>OrderNo</a:t>
            </a:r>
            <a:r>
              <a:rPr lang="en-US" dirty="0">
                <a:latin typeface="Calibri" panose="020F0502020204030204" pitchFamily="34" charset="0"/>
                <a:cs typeface="Calibri" panose="020F0502020204030204" pitchFamily="34" charset="0"/>
              </a:rPr>
              <a:t> and </a:t>
            </a:r>
            <a:r>
              <a:rPr lang="en-US" dirty="0" err="1">
                <a:latin typeface="Calibri" panose="020F0502020204030204" pitchFamily="34" charset="0"/>
                <a:cs typeface="Calibri" panose="020F0502020204030204" pitchFamily="34" charset="0"/>
              </a:rPr>
              <a:t>ProductID</a:t>
            </a:r>
            <a:r>
              <a:rPr lang="en-US" dirty="0">
                <a:latin typeface="Calibri" panose="020F0502020204030204" pitchFamily="34" charset="0"/>
                <a:cs typeface="Calibri" panose="020F0502020204030204" pitchFamily="34" charset="0"/>
              </a:rPr>
              <a:t> can't be a primary key as it does not uniquely identify a record. However, a compound key of Order ID and Product ID could be used as it uniquely identified each record.</a:t>
            </a:r>
          </a:p>
        </p:txBody>
      </p:sp>
    </p:spTree>
    <p:extLst>
      <p:ext uri="{BB962C8B-B14F-4D97-AF65-F5344CB8AC3E}">
        <p14:creationId xmlns:p14="http://schemas.microsoft.com/office/powerpoint/2010/main" val="22062924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5152" y="451115"/>
            <a:ext cx="8911687" cy="710420"/>
          </a:xfrm>
        </p:spPr>
        <p:txBody>
          <a:bodyPr/>
          <a:lstStyle/>
          <a:p>
            <a:pPr algn="ctr"/>
            <a:r>
              <a:rPr lang="en-US" b="1" dirty="0">
                <a:latin typeface="Calibri" panose="020F0502020204030204" pitchFamily="34" charset="0"/>
                <a:cs typeface="Calibri" panose="020F0502020204030204" pitchFamily="34" charset="0"/>
              </a:rPr>
              <a:t>Advantages of using Relational </a:t>
            </a:r>
            <a:r>
              <a:rPr lang="en-US" b="1" dirty="0" smtClean="0">
                <a:latin typeface="Calibri" panose="020F0502020204030204" pitchFamily="34" charset="0"/>
                <a:cs typeface="Calibri" panose="020F0502020204030204" pitchFamily="34" charset="0"/>
              </a:rPr>
              <a:t>Model</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408670" y="1099751"/>
            <a:ext cx="9971904" cy="5572898"/>
          </a:xfrm>
        </p:spPr>
        <p:txBody>
          <a:bodyPr>
            <a:noAutofit/>
          </a:bodyPr>
          <a:lstStyle/>
          <a:p>
            <a:pPr>
              <a:lnSpc>
                <a:spcPct val="200000"/>
              </a:lnSpc>
              <a:buFont typeface="Wingdings" panose="05000000000000000000" pitchFamily="2" charset="2"/>
              <a:buChar char="v"/>
            </a:pPr>
            <a:r>
              <a:rPr lang="en-US" b="1" dirty="0">
                <a:latin typeface="Calibri" panose="020F0502020204030204" pitchFamily="34" charset="0"/>
                <a:cs typeface="Calibri" panose="020F0502020204030204" pitchFamily="34" charset="0"/>
              </a:rPr>
              <a:t>Simplicity</a:t>
            </a:r>
            <a:r>
              <a:rPr lang="en-US" dirty="0">
                <a:latin typeface="Calibri" panose="020F0502020204030204" pitchFamily="34" charset="0"/>
                <a:cs typeface="Calibri" panose="020F0502020204030204" pitchFamily="34" charset="0"/>
              </a:rPr>
              <a:t>: A Relational data model in DBMS is simpler than the hierarchical and network model.</a:t>
            </a:r>
          </a:p>
          <a:p>
            <a:pPr>
              <a:lnSpc>
                <a:spcPct val="200000"/>
              </a:lnSpc>
              <a:buFont typeface="Wingdings" panose="05000000000000000000" pitchFamily="2" charset="2"/>
              <a:buChar char="v"/>
            </a:pPr>
            <a:r>
              <a:rPr lang="en-US" b="1" dirty="0">
                <a:latin typeface="Calibri" panose="020F0502020204030204" pitchFamily="34" charset="0"/>
                <a:cs typeface="Calibri" panose="020F0502020204030204" pitchFamily="34" charset="0"/>
              </a:rPr>
              <a:t>Structural Independence</a:t>
            </a:r>
            <a:r>
              <a:rPr lang="en-US" dirty="0">
                <a:latin typeface="Calibri" panose="020F0502020204030204" pitchFamily="34" charset="0"/>
                <a:cs typeface="Calibri" panose="020F0502020204030204" pitchFamily="34" charset="0"/>
              </a:rPr>
              <a:t>: The relational database is only concerned with data and not with a structure. This can improve the performance of the model.</a:t>
            </a:r>
          </a:p>
          <a:p>
            <a:pPr>
              <a:lnSpc>
                <a:spcPct val="200000"/>
              </a:lnSpc>
              <a:buFont typeface="Wingdings" panose="05000000000000000000" pitchFamily="2" charset="2"/>
              <a:buChar char="v"/>
            </a:pPr>
            <a:r>
              <a:rPr lang="en-US" b="1" dirty="0">
                <a:latin typeface="Calibri" panose="020F0502020204030204" pitchFamily="34" charset="0"/>
                <a:cs typeface="Calibri" panose="020F0502020204030204" pitchFamily="34" charset="0"/>
              </a:rPr>
              <a:t>Easy to use</a:t>
            </a:r>
            <a:r>
              <a:rPr lang="en-US" dirty="0">
                <a:latin typeface="Calibri" panose="020F0502020204030204" pitchFamily="34" charset="0"/>
                <a:cs typeface="Calibri" panose="020F0502020204030204" pitchFamily="34" charset="0"/>
              </a:rPr>
              <a:t>: The Relational model in DBMS is easy as tables consisting of rows and columns are quite natural and simple to understand</a:t>
            </a:r>
          </a:p>
          <a:p>
            <a:pPr>
              <a:lnSpc>
                <a:spcPct val="200000"/>
              </a:lnSpc>
              <a:buFont typeface="Wingdings" panose="05000000000000000000" pitchFamily="2" charset="2"/>
              <a:buChar char="v"/>
            </a:pPr>
            <a:r>
              <a:rPr lang="en-US" b="1" dirty="0">
                <a:latin typeface="Calibri" panose="020F0502020204030204" pitchFamily="34" charset="0"/>
                <a:cs typeface="Calibri" panose="020F0502020204030204" pitchFamily="34" charset="0"/>
              </a:rPr>
              <a:t>Query capability</a:t>
            </a:r>
            <a:r>
              <a:rPr lang="en-US" dirty="0">
                <a:latin typeface="Calibri" panose="020F0502020204030204" pitchFamily="34" charset="0"/>
                <a:cs typeface="Calibri" panose="020F0502020204030204" pitchFamily="34" charset="0"/>
              </a:rPr>
              <a:t>: It makes possible for a high-level query language like </a:t>
            </a:r>
            <a:r>
              <a:rPr lang="en-US" dirty="0">
                <a:latin typeface="Calibri" panose="020F0502020204030204" pitchFamily="34" charset="0"/>
                <a:cs typeface="Calibri" panose="020F0502020204030204" pitchFamily="34" charset="0"/>
                <a:hlinkClick r:id="rId2"/>
              </a:rPr>
              <a:t>SQL</a:t>
            </a:r>
            <a:r>
              <a:rPr lang="en-US" dirty="0">
                <a:latin typeface="Calibri" panose="020F0502020204030204" pitchFamily="34" charset="0"/>
                <a:cs typeface="Calibri" panose="020F0502020204030204" pitchFamily="34" charset="0"/>
              </a:rPr>
              <a:t> to avoid complex database navigation.</a:t>
            </a:r>
          </a:p>
          <a:p>
            <a:pPr>
              <a:lnSpc>
                <a:spcPct val="200000"/>
              </a:lnSpc>
              <a:buFont typeface="Wingdings" panose="05000000000000000000" pitchFamily="2" charset="2"/>
              <a:buChar char="v"/>
            </a:pPr>
            <a:r>
              <a:rPr lang="en-US" b="1" dirty="0" smtClean="0">
                <a:latin typeface="Calibri" panose="020F0502020204030204" pitchFamily="34" charset="0"/>
                <a:cs typeface="Calibri" panose="020F0502020204030204" pitchFamily="34" charset="0"/>
              </a:rPr>
              <a:t>Scalable</a:t>
            </a:r>
            <a:r>
              <a:rPr lang="en-US" dirty="0">
                <a:latin typeface="Calibri" panose="020F0502020204030204" pitchFamily="34" charset="0"/>
                <a:cs typeface="Calibri" panose="020F0502020204030204" pitchFamily="34" charset="0"/>
              </a:rPr>
              <a:t>: Regarding a number of records, or rows, and the number of fields, a database should be enlarged to enhance its usability</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67729008"/>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1135</TotalTime>
  <Words>1820</Words>
  <Application>Microsoft Office PowerPoint</Application>
  <PresentationFormat>Widescreen</PresentationFormat>
  <Paragraphs>94</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Century Gothic</vt:lpstr>
      <vt:lpstr>Wingdings</vt:lpstr>
      <vt:lpstr>Wingdings 3</vt:lpstr>
      <vt:lpstr>Wisp</vt:lpstr>
      <vt:lpstr>Database systems I</vt:lpstr>
      <vt:lpstr>Relational Model</vt:lpstr>
      <vt:lpstr>Relational Model</vt:lpstr>
      <vt:lpstr>RDBMS</vt:lpstr>
      <vt:lpstr>Relational Model Concepts</vt:lpstr>
      <vt:lpstr>Relational Model Concepts</vt:lpstr>
      <vt:lpstr>Relational Model Concepts</vt:lpstr>
      <vt:lpstr>Data Integrity</vt:lpstr>
      <vt:lpstr>Types of Data Integrity</vt:lpstr>
      <vt:lpstr>Types of Data Integrity</vt:lpstr>
      <vt:lpstr>Data Integrity</vt:lpstr>
      <vt:lpstr>KEYS IN DATABASE</vt:lpstr>
      <vt:lpstr>Types of Keys in Database Management System</vt:lpstr>
      <vt:lpstr>1. Super key</vt:lpstr>
      <vt:lpstr>2. Primary Key</vt:lpstr>
      <vt:lpstr>3. Candidate Key</vt:lpstr>
      <vt:lpstr>4. Alternate Keys</vt:lpstr>
      <vt:lpstr>5. Foreign key</vt:lpstr>
      <vt:lpstr>6. Compound Key</vt:lpstr>
      <vt:lpstr>6. Compound Key continuation</vt:lpstr>
      <vt:lpstr>Advantages of using Relational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polin mwkx</dc:creator>
  <cp:lastModifiedBy>polin mwkx</cp:lastModifiedBy>
  <cp:revision>80</cp:revision>
  <dcterms:created xsi:type="dcterms:W3CDTF">2022-02-01T12:03:15Z</dcterms:created>
  <dcterms:modified xsi:type="dcterms:W3CDTF">2022-10-25T10:17:29Z</dcterms:modified>
</cp:coreProperties>
</file>