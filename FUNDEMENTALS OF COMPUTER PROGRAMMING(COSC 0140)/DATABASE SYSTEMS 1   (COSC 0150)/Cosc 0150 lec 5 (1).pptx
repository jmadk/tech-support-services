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75" r:id="rId3"/>
    <p:sldId id="276" r:id="rId4"/>
    <p:sldId id="277" r:id="rId5"/>
    <p:sldId id="290" r:id="rId6"/>
    <p:sldId id="291" r:id="rId7"/>
    <p:sldId id="318" r:id="rId8"/>
    <p:sldId id="319" r:id="rId9"/>
    <p:sldId id="320" r:id="rId10"/>
    <p:sldId id="279" r:id="rId11"/>
    <p:sldId id="280" r:id="rId12"/>
    <p:sldId id="282" r:id="rId13"/>
    <p:sldId id="283" r:id="rId14"/>
    <p:sldId id="284" r:id="rId15"/>
    <p:sldId id="285" r:id="rId16"/>
    <p:sldId id="293" r:id="rId17"/>
    <p:sldId id="294" r:id="rId18"/>
    <p:sldId id="295" r:id="rId19"/>
    <p:sldId id="311" r:id="rId20"/>
    <p:sldId id="296" r:id="rId21"/>
    <p:sldId id="312" r:id="rId22"/>
    <p:sldId id="297" r:id="rId23"/>
    <p:sldId id="298" r:id="rId24"/>
    <p:sldId id="313" r:id="rId25"/>
    <p:sldId id="299" r:id="rId26"/>
    <p:sldId id="300" r:id="rId27"/>
    <p:sldId id="301" r:id="rId28"/>
    <p:sldId id="302" r:id="rId29"/>
    <p:sldId id="303" r:id="rId30"/>
    <p:sldId id="304" r:id="rId31"/>
    <p:sldId id="314" r:id="rId32"/>
    <p:sldId id="305" r:id="rId33"/>
    <p:sldId id="306" r:id="rId34"/>
    <p:sldId id="315" r:id="rId35"/>
    <p:sldId id="307" r:id="rId36"/>
    <p:sldId id="308" r:id="rId37"/>
    <p:sldId id="316" r:id="rId38"/>
    <p:sldId id="309" r:id="rId39"/>
    <p:sldId id="310" r:id="rId40"/>
    <p:sldId id="31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p:cViewPr varScale="1">
        <p:scale>
          <a:sx n="78" d="100"/>
          <a:sy n="78" d="100"/>
        </p:scale>
        <p:origin x="2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teachcomputerscience.com/character-set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beginner-sql-tutorial.com/sql-where-clause.htm"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8238" y="2273643"/>
            <a:ext cx="5053914" cy="674938"/>
          </a:xfrm>
        </p:spPr>
        <p:txBody>
          <a:bodyPr>
            <a:normAutofit fontScale="90000"/>
          </a:bodyPr>
          <a:lstStyle/>
          <a:p>
            <a:r>
              <a:rPr lang="en-US" dirty="0" smtClean="0">
                <a:latin typeface="Calibri" panose="020F0502020204030204" pitchFamily="34" charset="0"/>
                <a:cs typeface="Calibri" panose="020F0502020204030204" pitchFamily="34" charset="0"/>
              </a:rPr>
              <a:t>Database systems </a:t>
            </a:r>
            <a:r>
              <a:rPr lang="en-US" dirty="0">
                <a:latin typeface="Calibri" panose="020F0502020204030204" pitchFamily="34" charset="0"/>
                <a:cs typeface="Calibri" panose="020F0502020204030204" pitchFamily="34" charset="0"/>
              </a:rPr>
              <a:t>I</a:t>
            </a:r>
          </a:p>
        </p:txBody>
      </p:sp>
      <p:sp>
        <p:nvSpPr>
          <p:cNvPr id="3" name="Subtitle 2"/>
          <p:cNvSpPr>
            <a:spLocks noGrp="1"/>
          </p:cNvSpPr>
          <p:nvPr>
            <p:ph type="subTitle" idx="1"/>
          </p:nvPr>
        </p:nvSpPr>
        <p:spPr>
          <a:xfrm>
            <a:off x="1970501" y="3356354"/>
            <a:ext cx="8825658" cy="861420"/>
          </a:xfrm>
        </p:spPr>
        <p:txBody>
          <a:bodyPr>
            <a:normAutofit/>
          </a:bodyPr>
          <a:lstStyle/>
          <a:p>
            <a:pPr algn="ctr"/>
            <a:r>
              <a:rPr lang="en-US" sz="3600" dirty="0" smtClean="0">
                <a:latin typeface="Calibri" panose="020F0502020204030204" pitchFamily="34" charset="0"/>
                <a:cs typeface="Calibri" panose="020F0502020204030204" pitchFamily="34" charset="0"/>
              </a:rPr>
              <a:t>Lecture FIVE</a:t>
            </a:r>
            <a:endParaRPr lang="en-US"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5570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6443" y="574683"/>
            <a:ext cx="8724342" cy="710420"/>
          </a:xfrm>
        </p:spPr>
        <p:txBody>
          <a:bodyPr/>
          <a:lstStyle/>
          <a:p>
            <a:pPr algn="ctr"/>
            <a:r>
              <a:rPr lang="en-US" dirty="0" smtClean="0">
                <a:latin typeface="Calibri" panose="020F0502020204030204" pitchFamily="34" charset="0"/>
                <a:cs typeface="Calibri" panose="020F0502020204030204" pitchFamily="34" charset="0"/>
              </a:rPr>
              <a:t>STRUCTURED QUERY LANGUAGE (SQL)</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001796" y="1717588"/>
            <a:ext cx="8983362" cy="3744097"/>
          </a:xfrm>
        </p:spPr>
        <p:txBody>
          <a:bodyPr>
            <a:normAutofit lnSpcReduction="10000"/>
          </a:bodyPr>
          <a:lstStyle/>
          <a:p>
            <a:pPr>
              <a:lnSpc>
                <a:spcPct val="250000"/>
              </a:lnSpc>
            </a:pPr>
            <a:r>
              <a:rPr lang="en-US" dirty="0" smtClean="0">
                <a:latin typeface="Calibri" panose="020F0502020204030204" pitchFamily="34" charset="0"/>
                <a:cs typeface="Calibri" panose="020F0502020204030204" pitchFamily="34" charset="0"/>
              </a:rPr>
              <a:t>SQL is </a:t>
            </a:r>
            <a:r>
              <a:rPr lang="en-US" dirty="0">
                <a:latin typeface="Calibri" panose="020F0502020204030204" pitchFamily="34" charset="0"/>
                <a:cs typeface="Calibri" panose="020F0502020204030204" pitchFamily="34" charset="0"/>
              </a:rPr>
              <a:t>a computer language for storing, </a:t>
            </a:r>
            <a:r>
              <a:rPr lang="en-US" dirty="0" smtClean="0">
                <a:latin typeface="Calibri" panose="020F0502020204030204" pitchFamily="34" charset="0"/>
                <a:cs typeface="Calibri" panose="020F0502020204030204" pitchFamily="34" charset="0"/>
              </a:rPr>
              <a:t>manipulating </a:t>
            </a:r>
            <a:r>
              <a:rPr lang="en-US" dirty="0">
                <a:latin typeface="Calibri" panose="020F0502020204030204" pitchFamily="34" charset="0"/>
                <a:cs typeface="Calibri" panose="020F0502020204030204" pitchFamily="34" charset="0"/>
              </a:rPr>
              <a:t>and retrieving data stored in a relational </a:t>
            </a:r>
            <a:r>
              <a:rPr lang="en-US" dirty="0" smtClean="0">
                <a:latin typeface="Calibri" panose="020F0502020204030204" pitchFamily="34" charset="0"/>
                <a:cs typeface="Calibri" panose="020F0502020204030204" pitchFamily="34" charset="0"/>
              </a:rPr>
              <a:t>database</a:t>
            </a:r>
          </a:p>
          <a:p>
            <a:pPr>
              <a:lnSpc>
                <a:spcPct val="250000"/>
              </a:lnSpc>
            </a:pPr>
            <a:r>
              <a:rPr lang="en-US" dirty="0">
                <a:latin typeface="Calibri" panose="020F0502020204030204" pitchFamily="34" charset="0"/>
                <a:cs typeface="Calibri" panose="020F0502020204030204" pitchFamily="34" charset="0"/>
              </a:rPr>
              <a:t>SQL is the standard language for Relational Database System. </a:t>
            </a:r>
          </a:p>
          <a:p>
            <a:pPr>
              <a:lnSpc>
                <a:spcPct val="250000"/>
              </a:lnSpc>
            </a:pPr>
            <a:r>
              <a:rPr lang="en-US" dirty="0" smtClean="0">
                <a:latin typeface="Calibri" panose="020F0502020204030204" pitchFamily="34" charset="0"/>
                <a:cs typeface="Calibri" panose="020F0502020204030204" pitchFamily="34" charset="0"/>
              </a:rPr>
              <a:t>All </a:t>
            </a:r>
            <a:r>
              <a:rPr lang="en-US" dirty="0">
                <a:latin typeface="Calibri" panose="020F0502020204030204" pitchFamily="34" charset="0"/>
                <a:cs typeface="Calibri" panose="020F0502020204030204" pitchFamily="34" charset="0"/>
              </a:rPr>
              <a:t>the Relational Database Management Systems (RDMS) like MySQL, MS Access, Oracle, Sybase, Informix, </a:t>
            </a:r>
            <a:r>
              <a:rPr lang="en-US" dirty="0" err="1">
                <a:latin typeface="Calibri" panose="020F0502020204030204" pitchFamily="34" charset="0"/>
                <a:cs typeface="Calibri" panose="020F0502020204030204" pitchFamily="34" charset="0"/>
              </a:rPr>
              <a:t>Postgres</a:t>
            </a:r>
            <a:r>
              <a:rPr lang="en-US" dirty="0">
                <a:latin typeface="Calibri" panose="020F0502020204030204" pitchFamily="34" charset="0"/>
                <a:cs typeface="Calibri" panose="020F0502020204030204" pitchFamily="34" charset="0"/>
              </a:rPr>
              <a:t> and SQL Server use SQL as their standard database language.</a:t>
            </a:r>
          </a:p>
        </p:txBody>
      </p:sp>
    </p:spTree>
    <p:extLst>
      <p:ext uri="{BB962C8B-B14F-4D97-AF65-F5344CB8AC3E}">
        <p14:creationId xmlns:p14="http://schemas.microsoft.com/office/powerpoint/2010/main" val="13643319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4151" y="549970"/>
            <a:ext cx="6982039" cy="698063"/>
          </a:xfrm>
        </p:spPr>
        <p:txBody>
          <a:bodyPr/>
          <a:lstStyle/>
          <a:p>
            <a:pPr algn="ctr"/>
            <a:r>
              <a:rPr lang="en-US" dirty="0" smtClean="0">
                <a:latin typeface="Calibri" panose="020F0502020204030204" pitchFamily="34" charset="0"/>
                <a:cs typeface="Calibri" panose="020F0502020204030204" pitchFamily="34" charset="0"/>
              </a:rPr>
              <a:t>Advantages of SQL</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705231" y="1421027"/>
            <a:ext cx="8093677" cy="4856203"/>
          </a:xfrm>
        </p:spPr>
        <p:txBody>
          <a:bodyPr>
            <a:normAutofit/>
          </a:bodyPr>
          <a:lstStyle/>
          <a:p>
            <a:pPr marL="0" indent="0">
              <a:lnSpc>
                <a:spcPct val="200000"/>
              </a:lnSpc>
              <a:buNone/>
            </a:pPr>
            <a:r>
              <a:rPr lang="en-US" dirty="0">
                <a:latin typeface="Calibri" panose="020F0502020204030204" pitchFamily="34" charset="0"/>
                <a:cs typeface="Calibri" panose="020F0502020204030204" pitchFamily="34" charset="0"/>
              </a:rPr>
              <a:t>SQL is widely popular because it offers the following advantages: </a:t>
            </a:r>
          </a:p>
          <a:p>
            <a:pPr>
              <a:lnSpc>
                <a:spcPct val="200000"/>
              </a:lnSpc>
            </a:pPr>
            <a:r>
              <a:rPr lang="en-US" dirty="0" smtClean="0">
                <a:latin typeface="Calibri" panose="020F0502020204030204" pitchFamily="34" charset="0"/>
                <a:cs typeface="Calibri" panose="020F0502020204030204" pitchFamily="34" charset="0"/>
              </a:rPr>
              <a:t>Allows </a:t>
            </a:r>
            <a:r>
              <a:rPr lang="en-US" dirty="0">
                <a:latin typeface="Calibri" panose="020F0502020204030204" pitchFamily="34" charset="0"/>
                <a:cs typeface="Calibri" panose="020F0502020204030204" pitchFamily="34" charset="0"/>
              </a:rPr>
              <a:t>users to </a:t>
            </a:r>
            <a:r>
              <a:rPr lang="en-US" dirty="0" smtClean="0">
                <a:latin typeface="Calibri" panose="020F0502020204030204" pitchFamily="34" charset="0"/>
                <a:cs typeface="Calibri" panose="020F0502020204030204" pitchFamily="34" charset="0"/>
              </a:rPr>
              <a:t>access, describe, define and manipulate </a:t>
            </a:r>
            <a:r>
              <a:rPr lang="en-US" dirty="0">
                <a:latin typeface="Calibri" panose="020F0502020204030204" pitchFamily="34" charset="0"/>
                <a:cs typeface="Calibri" panose="020F0502020204030204" pitchFamily="34" charset="0"/>
              </a:rPr>
              <a:t>data in the relational database management </a:t>
            </a:r>
            <a:r>
              <a:rPr lang="en-US" dirty="0" smtClean="0">
                <a:latin typeface="Calibri" panose="020F0502020204030204" pitchFamily="34" charset="0"/>
                <a:cs typeface="Calibri" panose="020F0502020204030204" pitchFamily="34" charset="0"/>
              </a:rPr>
              <a:t>systems.</a:t>
            </a:r>
          </a:p>
          <a:p>
            <a:pPr>
              <a:lnSpc>
                <a:spcPct val="200000"/>
              </a:lnSpc>
            </a:pPr>
            <a:r>
              <a:rPr lang="en-US" dirty="0" smtClean="0">
                <a:latin typeface="Calibri" panose="020F0502020204030204" pitchFamily="34" charset="0"/>
                <a:cs typeface="Calibri" panose="020F0502020204030204" pitchFamily="34" charset="0"/>
              </a:rPr>
              <a:t>Allows </a:t>
            </a:r>
            <a:r>
              <a:rPr lang="en-US" dirty="0">
                <a:latin typeface="Calibri" panose="020F0502020204030204" pitchFamily="34" charset="0"/>
                <a:cs typeface="Calibri" panose="020F0502020204030204" pitchFamily="34" charset="0"/>
              </a:rPr>
              <a:t>to embed within other languages using SQL modules, libraries &amp; pre-compilers. </a:t>
            </a:r>
          </a:p>
          <a:p>
            <a:pPr>
              <a:lnSpc>
                <a:spcPct val="200000"/>
              </a:lnSpc>
            </a:pPr>
            <a:r>
              <a:rPr lang="en-US" dirty="0" smtClean="0">
                <a:latin typeface="Calibri" panose="020F0502020204030204" pitchFamily="34" charset="0"/>
                <a:cs typeface="Calibri" panose="020F0502020204030204" pitchFamily="34" charset="0"/>
              </a:rPr>
              <a:t>Allows </a:t>
            </a:r>
            <a:r>
              <a:rPr lang="en-US" dirty="0">
                <a:latin typeface="Calibri" panose="020F0502020204030204" pitchFamily="34" charset="0"/>
                <a:cs typeface="Calibri" panose="020F0502020204030204" pitchFamily="34" charset="0"/>
              </a:rPr>
              <a:t>users to create and drop </a:t>
            </a:r>
            <a:r>
              <a:rPr lang="en-US" dirty="0" smtClean="0">
                <a:latin typeface="Calibri" panose="020F0502020204030204" pitchFamily="34" charset="0"/>
                <a:cs typeface="Calibri" panose="020F0502020204030204" pitchFamily="34" charset="0"/>
              </a:rPr>
              <a:t>databases, tables, views, functions </a:t>
            </a:r>
            <a:r>
              <a:rPr lang="en-US" dirty="0" err="1" smtClean="0">
                <a:latin typeface="Calibri" panose="020F0502020204030204" pitchFamily="34" charset="0"/>
                <a:cs typeface="Calibri" panose="020F0502020204030204" pitchFamily="34" charset="0"/>
              </a:rPr>
              <a:t>e.t.c</a:t>
            </a:r>
            <a:r>
              <a:rPr lang="en-US" dirty="0" smtClean="0">
                <a:latin typeface="Calibri" panose="020F0502020204030204" pitchFamily="34" charset="0"/>
                <a:cs typeface="Calibri" panose="020F0502020204030204" pitchFamily="34" charset="0"/>
              </a:rPr>
              <a:t>. </a:t>
            </a:r>
          </a:p>
          <a:p>
            <a:pPr>
              <a:lnSpc>
                <a:spcPct val="200000"/>
              </a:lnSpc>
            </a:pP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Allows users to set permissions on tables, procedures and views. </a:t>
            </a:r>
          </a:p>
        </p:txBody>
      </p:sp>
    </p:spTree>
    <p:extLst>
      <p:ext uri="{BB962C8B-B14F-4D97-AF65-F5344CB8AC3E}">
        <p14:creationId xmlns:p14="http://schemas.microsoft.com/office/powerpoint/2010/main" val="14201011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4216" y="661180"/>
            <a:ext cx="6907898" cy="636279"/>
          </a:xfrm>
        </p:spPr>
        <p:txBody>
          <a:bodyPr>
            <a:normAutofit fontScale="90000"/>
          </a:bodyPr>
          <a:lstStyle/>
          <a:p>
            <a:pPr algn="ctr"/>
            <a:r>
              <a:rPr lang="en-US" dirty="0" smtClean="0">
                <a:latin typeface="Calibri" panose="020F0502020204030204" pitchFamily="34" charset="0"/>
                <a:cs typeface="Calibri" panose="020F0502020204030204" pitchFamily="34" charset="0"/>
              </a:rPr>
              <a:t>SQL COMMANDS and Categories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113005" y="1655806"/>
            <a:ext cx="9193427" cy="4250724"/>
          </a:xfrm>
        </p:spPr>
        <p:txBody>
          <a:bodyPr>
            <a:noAutofit/>
          </a:bodyPr>
          <a:lstStyle/>
          <a:p>
            <a:pPr>
              <a:lnSpc>
                <a:spcPct val="200000"/>
              </a:lnSpc>
            </a:pPr>
            <a:r>
              <a:rPr lang="en-US" sz="1900" dirty="0" smtClean="0">
                <a:latin typeface="Calibri" panose="020F0502020204030204" pitchFamily="34" charset="0"/>
                <a:cs typeface="Calibri" panose="020F0502020204030204" pitchFamily="34" charset="0"/>
              </a:rPr>
              <a:t>SQL commands are instructions, coded into SQL statements, which are used to communicate with the database to perform specific tasks, work, functions and queries with data</a:t>
            </a:r>
          </a:p>
          <a:p>
            <a:pPr>
              <a:lnSpc>
                <a:spcPct val="200000"/>
              </a:lnSpc>
            </a:pPr>
            <a:r>
              <a:rPr lang="en-US" sz="1900" dirty="0" smtClean="0">
                <a:latin typeface="Calibri" panose="020F0502020204030204" pitchFamily="34" charset="0"/>
                <a:cs typeface="Calibri" panose="020F0502020204030204" pitchFamily="34" charset="0"/>
              </a:rPr>
              <a:t>SQL commands can be used not only for searching the database but also to perform various other functions like, for example, you can create tables, add data to tables or modify, drop the table, set permissions for users </a:t>
            </a:r>
            <a:r>
              <a:rPr lang="en-US" sz="1900" dirty="0" err="1" smtClean="0">
                <a:latin typeface="Calibri" panose="020F0502020204030204" pitchFamily="34" charset="0"/>
                <a:cs typeface="Calibri" panose="020F0502020204030204" pitchFamily="34" charset="0"/>
              </a:rPr>
              <a:t>e.t.c</a:t>
            </a:r>
            <a:endParaRPr lang="en-US" sz="1900"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16462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4216" y="661180"/>
            <a:ext cx="6907898" cy="636279"/>
          </a:xfrm>
        </p:spPr>
        <p:txBody>
          <a:bodyPr>
            <a:normAutofit fontScale="90000"/>
          </a:bodyPr>
          <a:lstStyle/>
          <a:p>
            <a:pPr algn="ctr"/>
            <a:r>
              <a:rPr lang="en-US" dirty="0" smtClean="0">
                <a:latin typeface="Calibri" panose="020F0502020204030204" pitchFamily="34" charset="0"/>
                <a:cs typeface="Calibri" panose="020F0502020204030204" pitchFamily="34" charset="0"/>
              </a:rPr>
              <a:t>SQL COMMANDS and Categories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50324" y="1655805"/>
            <a:ext cx="10256108" cy="4794421"/>
          </a:xfrm>
        </p:spPr>
        <p:txBody>
          <a:bodyPr>
            <a:noAutofit/>
          </a:bodyPr>
          <a:lstStyle/>
          <a:p>
            <a:pPr>
              <a:lnSpc>
                <a:spcPct val="200000"/>
              </a:lnSpc>
            </a:pPr>
            <a:r>
              <a:rPr lang="en-US" dirty="0">
                <a:latin typeface="Calibri" panose="020F0502020204030204" pitchFamily="34" charset="0"/>
                <a:cs typeface="Calibri" panose="020F0502020204030204" pitchFamily="34" charset="0"/>
              </a:rPr>
              <a:t>SQL commands are grouped into four major categories depending on their </a:t>
            </a:r>
            <a:r>
              <a:rPr lang="en-US" dirty="0" smtClean="0">
                <a:latin typeface="Calibri" panose="020F0502020204030204" pitchFamily="34" charset="0"/>
                <a:cs typeface="Calibri" panose="020F0502020204030204" pitchFamily="34" charset="0"/>
              </a:rPr>
              <a:t>functionality</a:t>
            </a:r>
          </a:p>
          <a:p>
            <a:pPr marL="0" indent="0">
              <a:lnSpc>
                <a:spcPct val="200000"/>
              </a:lnSpc>
              <a:buNone/>
            </a:pPr>
            <a:r>
              <a:rPr lang="en-US" b="1" dirty="0" smtClean="0">
                <a:latin typeface="Calibri" panose="020F0502020204030204" pitchFamily="34" charset="0"/>
                <a:cs typeface="Calibri" panose="020F0502020204030204" pitchFamily="34" charset="0"/>
              </a:rPr>
              <a:t>1. Data </a:t>
            </a:r>
            <a:r>
              <a:rPr lang="en-US" b="1" dirty="0">
                <a:latin typeface="Calibri" panose="020F0502020204030204" pitchFamily="34" charset="0"/>
                <a:cs typeface="Calibri" panose="020F0502020204030204" pitchFamily="34" charset="0"/>
              </a:rPr>
              <a:t>Definition Language (DDL</a:t>
            </a:r>
            <a:r>
              <a:rPr lang="en-US" dirty="0">
                <a:latin typeface="Calibri" panose="020F0502020204030204" pitchFamily="34" charset="0"/>
                <a:cs typeface="Calibri" panose="020F0502020204030204" pitchFamily="34" charset="0"/>
              </a:rPr>
              <a:t>)-These SQL commands are used for creating, </a:t>
            </a:r>
            <a:r>
              <a:rPr lang="en-US" dirty="0" smtClean="0">
                <a:latin typeface="Calibri" panose="020F0502020204030204" pitchFamily="34" charset="0"/>
                <a:cs typeface="Calibri" panose="020F0502020204030204" pitchFamily="34" charset="0"/>
              </a:rPr>
              <a:t>modifying ,</a:t>
            </a:r>
            <a:r>
              <a:rPr lang="en-US" dirty="0">
                <a:latin typeface="Calibri" panose="020F0502020204030204" pitchFamily="34" charset="0"/>
                <a:cs typeface="Calibri" panose="020F0502020204030204" pitchFamily="34" charset="0"/>
              </a:rPr>
              <a:t>and dropping the structure of database objects.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commands are CREATE, ALTER, DROP, RENAME, and </a:t>
            </a:r>
            <a:r>
              <a:rPr lang="en-US" dirty="0" smtClean="0">
                <a:latin typeface="Calibri" panose="020F0502020204030204" pitchFamily="34" charset="0"/>
                <a:cs typeface="Calibri" panose="020F0502020204030204" pitchFamily="34" charset="0"/>
              </a:rPr>
              <a:t>TRUNCATE</a:t>
            </a:r>
          </a:p>
          <a:p>
            <a:pPr marL="0" indent="0">
              <a:lnSpc>
                <a:spcPct val="200000"/>
              </a:lnSpc>
              <a:buNone/>
            </a:pPr>
            <a:r>
              <a:rPr lang="en-US" b="1" dirty="0" smtClean="0">
                <a:latin typeface="Calibri" panose="020F0502020204030204" pitchFamily="34" charset="0"/>
                <a:cs typeface="Calibri" panose="020F0502020204030204" pitchFamily="34" charset="0"/>
              </a:rPr>
              <a:t>2. Data </a:t>
            </a:r>
            <a:r>
              <a:rPr lang="en-US" b="1" dirty="0">
                <a:latin typeface="Calibri" panose="020F0502020204030204" pitchFamily="34" charset="0"/>
                <a:cs typeface="Calibri" panose="020F0502020204030204" pitchFamily="34" charset="0"/>
              </a:rPr>
              <a:t>Manipulation Language (DML</a:t>
            </a:r>
            <a:r>
              <a:rPr lang="en-US" dirty="0">
                <a:latin typeface="Calibri" panose="020F0502020204030204" pitchFamily="34" charset="0"/>
                <a:cs typeface="Calibri" panose="020F0502020204030204" pitchFamily="34" charset="0"/>
              </a:rPr>
              <a:t>)-These SQL commands are used for storing, retrieving, modifying, and deleting data.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These </a:t>
            </a:r>
            <a:r>
              <a:rPr lang="en-US" dirty="0">
                <a:latin typeface="Calibri" panose="020F0502020204030204" pitchFamily="34" charset="0"/>
                <a:cs typeface="Calibri" panose="020F0502020204030204" pitchFamily="34" charset="0"/>
              </a:rPr>
              <a:t>Data Manipulation Language commands are: SELECTINSERT, UPDATE, and </a:t>
            </a:r>
            <a:r>
              <a:rPr lang="en-US" dirty="0" smtClean="0">
                <a:latin typeface="Calibri" panose="020F0502020204030204" pitchFamily="34" charset="0"/>
                <a:cs typeface="Calibri" panose="020F0502020204030204" pitchFamily="34" charset="0"/>
              </a:rPr>
              <a:t>DELETE. </a:t>
            </a:r>
            <a:endParaRPr lang="en-US" sz="1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58195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4216" y="661180"/>
            <a:ext cx="6907898" cy="636279"/>
          </a:xfrm>
        </p:spPr>
        <p:txBody>
          <a:bodyPr>
            <a:normAutofit fontScale="90000"/>
          </a:bodyPr>
          <a:lstStyle/>
          <a:p>
            <a:pPr algn="ctr"/>
            <a:r>
              <a:rPr lang="en-US" dirty="0" smtClean="0">
                <a:latin typeface="Calibri" panose="020F0502020204030204" pitchFamily="34" charset="0"/>
                <a:cs typeface="Calibri" panose="020F0502020204030204" pitchFamily="34" charset="0"/>
              </a:rPr>
              <a:t>SQL COMMANDS and Categories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50324" y="1655805"/>
            <a:ext cx="10256108" cy="4794421"/>
          </a:xfrm>
        </p:spPr>
        <p:txBody>
          <a:bodyPr>
            <a:noAutofit/>
          </a:bodyPr>
          <a:lstStyle/>
          <a:p>
            <a:pPr marL="0" indent="0">
              <a:lnSpc>
                <a:spcPct val="200000"/>
              </a:lnSpc>
              <a:buNone/>
            </a:pPr>
            <a:r>
              <a:rPr lang="en-US" b="1" dirty="0" smtClean="0">
                <a:solidFill>
                  <a:schemeClr val="tx1"/>
                </a:solidFill>
                <a:latin typeface="Calibri" panose="020F0502020204030204" pitchFamily="34" charset="0"/>
                <a:cs typeface="Calibri" panose="020F0502020204030204" pitchFamily="34" charset="0"/>
              </a:rPr>
              <a:t>3. Transaction </a:t>
            </a:r>
            <a:r>
              <a:rPr lang="en-US" b="1" dirty="0">
                <a:solidFill>
                  <a:schemeClr val="tx1"/>
                </a:solidFill>
                <a:latin typeface="Calibri" panose="020F0502020204030204" pitchFamily="34" charset="0"/>
                <a:cs typeface="Calibri" panose="020F0502020204030204" pitchFamily="34" charset="0"/>
              </a:rPr>
              <a:t>Control Language (TCL)-</a:t>
            </a:r>
            <a:r>
              <a:rPr lang="en-US" dirty="0">
                <a:solidFill>
                  <a:schemeClr val="tx1"/>
                </a:solidFill>
                <a:latin typeface="Calibri" panose="020F0502020204030204" pitchFamily="34" charset="0"/>
                <a:cs typeface="Calibri" panose="020F0502020204030204" pitchFamily="34" charset="0"/>
              </a:rPr>
              <a:t>These SQL commands are used for managing changes affecting the data. These commands are COMMIT, ROLLBACK, and </a:t>
            </a:r>
            <a:r>
              <a:rPr lang="en-US" dirty="0" smtClean="0">
                <a:solidFill>
                  <a:schemeClr val="tx1"/>
                </a:solidFill>
                <a:latin typeface="Calibri" panose="020F0502020204030204" pitchFamily="34" charset="0"/>
                <a:cs typeface="Calibri" panose="020F0502020204030204" pitchFamily="34" charset="0"/>
              </a:rPr>
              <a:t>SAVEPOINT.</a:t>
            </a:r>
          </a:p>
          <a:p>
            <a:pPr marL="0" indent="0">
              <a:lnSpc>
                <a:spcPct val="200000"/>
              </a:lnSpc>
              <a:buNone/>
            </a:pPr>
            <a:r>
              <a:rPr lang="en-US" b="1" dirty="0" smtClean="0">
                <a:solidFill>
                  <a:schemeClr val="tx1"/>
                </a:solidFill>
                <a:latin typeface="Calibri" panose="020F0502020204030204" pitchFamily="34" charset="0"/>
                <a:cs typeface="Calibri" panose="020F0502020204030204" pitchFamily="34" charset="0"/>
              </a:rPr>
              <a:t>4. Data </a:t>
            </a:r>
            <a:r>
              <a:rPr lang="en-US" b="1" dirty="0">
                <a:solidFill>
                  <a:schemeClr val="tx1"/>
                </a:solidFill>
                <a:latin typeface="Calibri" panose="020F0502020204030204" pitchFamily="34" charset="0"/>
                <a:cs typeface="Calibri" panose="020F0502020204030204" pitchFamily="34" charset="0"/>
              </a:rPr>
              <a:t>Control Language (DCL)-</a:t>
            </a:r>
            <a:r>
              <a:rPr lang="en-US" dirty="0">
                <a:solidFill>
                  <a:schemeClr val="tx1"/>
                </a:solidFill>
                <a:latin typeface="Calibri" panose="020F0502020204030204" pitchFamily="34" charset="0"/>
                <a:cs typeface="Calibri" panose="020F0502020204030204" pitchFamily="34" charset="0"/>
              </a:rPr>
              <a:t>These SQL commands are </a:t>
            </a:r>
            <a:r>
              <a:rPr lang="en-US" dirty="0" smtClean="0">
                <a:solidFill>
                  <a:schemeClr val="tx1"/>
                </a:solidFill>
                <a:latin typeface="Calibri" panose="020F0502020204030204" pitchFamily="34" charset="0"/>
                <a:cs typeface="Calibri" panose="020F0502020204030204" pitchFamily="34" charset="0"/>
              </a:rPr>
              <a:t>used for providing security to database objects. These commands are GRANT and REVOKE</a:t>
            </a:r>
            <a:endParaRPr lang="en-US" sz="19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11027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9632" y="452718"/>
            <a:ext cx="7431202" cy="535823"/>
          </a:xfrm>
        </p:spPr>
        <p:txBody>
          <a:bodyPr>
            <a:normAutofit fontScale="90000"/>
          </a:bodyPr>
          <a:lstStyle/>
          <a:p>
            <a:pPr algn="ctr"/>
            <a:r>
              <a:rPr lang="en-US" b="1" u="sng" dirty="0">
                <a:latin typeface="Calibri" panose="020F0502020204030204" pitchFamily="34" charset="0"/>
                <a:cs typeface="Calibri" panose="020F0502020204030204" pitchFamily="34" charset="0"/>
              </a:rPr>
              <a:t>Data types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235677" y="1210962"/>
            <a:ext cx="10429102" cy="5301049"/>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Data type is an attribute associated with a piece of data that tells a computer system how to interpret its value. Understanding data types ensures that data is collected in the preferred format and the value of each property is as expected</a:t>
            </a:r>
            <a:r>
              <a:rPr lang="en-US" dirty="0" smtClean="0">
                <a:latin typeface="Calibri" panose="020F0502020204030204" pitchFamily="34" charset="0"/>
                <a:cs typeface="Calibri" panose="020F0502020204030204" pitchFamily="34" charset="0"/>
              </a:rPr>
              <a:t>.</a:t>
            </a: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Some common data types are as follows: </a:t>
            </a:r>
          </a:p>
          <a:p>
            <a:pPr lvl="0">
              <a:lnSpc>
                <a:spcPct val="200000"/>
              </a:lnSpc>
              <a:buFont typeface="Wingdings" panose="05000000000000000000" pitchFamily="2" charset="2"/>
              <a:buChar char="ü"/>
            </a:pPr>
            <a:r>
              <a:rPr lang="en-US" b="1" dirty="0">
                <a:latin typeface="Calibri" panose="020F0502020204030204" pitchFamily="34" charset="0"/>
                <a:cs typeface="Calibri" panose="020F0502020204030204" pitchFamily="34" charset="0"/>
              </a:rPr>
              <a:t>Integer</a:t>
            </a:r>
            <a:r>
              <a:rPr lang="en-US" dirty="0">
                <a:latin typeface="Calibri" panose="020F0502020204030204" pitchFamily="34" charset="0"/>
                <a:cs typeface="Calibri" panose="020F0502020204030204" pitchFamily="34" charset="0"/>
              </a:rPr>
              <a:t> – is a whole number that can have a positive, negative or zero value. It cannot be a fraction nor can have decimal places.  It is commonly used in programming especially for increasing values.  Addition, subtraction and multiplication of two integers results to an integer.  But division of two integers may result to an integer or a decimal.  The resulting decimal can be rounded off or truncated to produce an integer</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59004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9632" y="452718"/>
            <a:ext cx="7431202" cy="535823"/>
          </a:xfrm>
        </p:spPr>
        <p:txBody>
          <a:bodyPr>
            <a:normAutofit fontScale="90000"/>
          </a:bodyPr>
          <a:lstStyle/>
          <a:p>
            <a:pPr algn="ctr"/>
            <a:r>
              <a:rPr lang="en-US" b="1" u="sng" dirty="0">
                <a:latin typeface="Calibri" panose="020F0502020204030204" pitchFamily="34" charset="0"/>
                <a:cs typeface="Calibri" panose="020F0502020204030204" pitchFamily="34" charset="0"/>
              </a:rPr>
              <a:t>Data types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519882" y="1334530"/>
            <a:ext cx="9465276" cy="5016843"/>
          </a:xfrm>
        </p:spPr>
        <p:txBody>
          <a:bodyPr>
            <a:noAutofit/>
          </a:bodyPr>
          <a:lstStyle/>
          <a:p>
            <a:pPr lvl="0">
              <a:lnSpc>
                <a:spcPct val="200000"/>
              </a:lnSpc>
              <a:buFont typeface="Wingdings" panose="05000000000000000000" pitchFamily="2" charset="2"/>
              <a:buChar char="ü"/>
            </a:pPr>
            <a:r>
              <a:rPr lang="en-US" b="1" dirty="0" smtClean="0">
                <a:latin typeface="Calibri" panose="020F0502020204030204" pitchFamily="34" charset="0"/>
                <a:cs typeface="Calibri" panose="020F0502020204030204" pitchFamily="34" charset="0"/>
              </a:rPr>
              <a:t>Character</a:t>
            </a: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refers to any number, letter, space or symbol that can be entered in a computer. Each character occupies one byte of space</a:t>
            </a:r>
            <a:r>
              <a:rPr lang="en-US" dirty="0" smtClean="0">
                <a:latin typeface="Calibri" panose="020F0502020204030204" pitchFamily="34" charset="0"/>
                <a:cs typeface="Calibri" panose="020F0502020204030204" pitchFamily="34" charset="0"/>
              </a:rPr>
              <a:t>.</a:t>
            </a:r>
          </a:p>
          <a:p>
            <a:pPr lvl="0">
              <a:lnSpc>
                <a:spcPct val="200000"/>
              </a:lnSpc>
              <a:buFont typeface="Wingdings" panose="05000000000000000000" pitchFamily="2" charset="2"/>
              <a:buChar char="ü"/>
            </a:pPr>
            <a:r>
              <a:rPr lang="en-US" b="1" dirty="0">
                <a:latin typeface="Calibri" panose="020F0502020204030204" pitchFamily="34" charset="0"/>
                <a:cs typeface="Calibri" panose="020F0502020204030204" pitchFamily="34" charset="0"/>
              </a:rPr>
              <a:t>String</a:t>
            </a:r>
            <a:r>
              <a:rPr lang="en-US" dirty="0">
                <a:latin typeface="Calibri" panose="020F0502020204030204" pitchFamily="34" charset="0"/>
                <a:cs typeface="Calibri" panose="020F0502020204030204" pitchFamily="34" charset="0"/>
              </a:rPr>
              <a:t> – is used to represent text. It is composed of a </a:t>
            </a:r>
            <a:r>
              <a:rPr lang="en-US" u="sng" dirty="0">
                <a:latin typeface="Calibri" panose="020F0502020204030204" pitchFamily="34" charset="0"/>
                <a:cs typeface="Calibri" panose="020F0502020204030204" pitchFamily="34" charset="0"/>
                <a:hlinkClick r:id="rId2"/>
              </a:rPr>
              <a:t>set of characters</a:t>
            </a:r>
            <a:r>
              <a:rPr lang="en-US" dirty="0">
                <a:latin typeface="Calibri" panose="020F0502020204030204" pitchFamily="34" charset="0"/>
                <a:cs typeface="Calibri" panose="020F0502020204030204" pitchFamily="34" charset="0"/>
              </a:rPr>
              <a:t> that can have spaces and numbers. </a:t>
            </a:r>
          </a:p>
          <a:p>
            <a:pPr lvl="0">
              <a:lnSpc>
                <a:spcPct val="200000"/>
              </a:lnSpc>
              <a:buFont typeface="Wingdings" panose="05000000000000000000" pitchFamily="2" charset="2"/>
              <a:buChar char="ü"/>
            </a:pPr>
            <a:r>
              <a:rPr lang="en-US" b="1" dirty="0">
                <a:latin typeface="Calibri" panose="020F0502020204030204" pitchFamily="34" charset="0"/>
                <a:cs typeface="Calibri" panose="020F0502020204030204" pitchFamily="34" charset="0"/>
              </a:rPr>
              <a:t>Varchar(size)</a:t>
            </a:r>
            <a:r>
              <a:rPr lang="en-US" dirty="0">
                <a:latin typeface="Calibri" panose="020F0502020204030204" pitchFamily="34" charset="0"/>
                <a:cs typeface="Calibri" panose="020F0502020204030204" pitchFamily="34" charset="0"/>
              </a:rPr>
              <a:t> – A variable length string (can contain letters, numbers, and special characters). The size parameter specifies the maximum column length in characters - can be from 0 to </a:t>
            </a:r>
            <a:r>
              <a:rPr lang="en-US" dirty="0" smtClean="0">
                <a:latin typeface="Calibri" panose="020F0502020204030204" pitchFamily="34" charset="0"/>
                <a:cs typeface="Calibri" panose="020F0502020204030204" pitchFamily="34" charset="0"/>
              </a:rPr>
              <a:t>65535</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20638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9632" y="452718"/>
            <a:ext cx="7431202" cy="535823"/>
          </a:xfrm>
        </p:spPr>
        <p:txBody>
          <a:bodyPr>
            <a:normAutofit fontScale="90000"/>
          </a:bodyPr>
          <a:lstStyle/>
          <a:p>
            <a:pPr algn="ctr"/>
            <a:r>
              <a:rPr lang="en-US" b="1" u="sng" dirty="0">
                <a:latin typeface="Calibri" panose="020F0502020204030204" pitchFamily="34" charset="0"/>
                <a:cs typeface="Calibri" panose="020F0502020204030204" pitchFamily="34" charset="0"/>
              </a:rPr>
              <a:t>Data types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594020" y="1334529"/>
            <a:ext cx="9440563" cy="5128054"/>
          </a:xfrm>
        </p:spPr>
        <p:txBody>
          <a:bodyPr>
            <a:noAutofit/>
          </a:bodyPr>
          <a:lstStyle/>
          <a:p>
            <a:pPr lvl="0">
              <a:lnSpc>
                <a:spcPct val="200000"/>
              </a:lnSpc>
              <a:buFont typeface="Wingdings" panose="05000000000000000000" pitchFamily="2" charset="2"/>
              <a:buChar char="ü"/>
            </a:pPr>
            <a:r>
              <a:rPr lang="en-US" b="1" dirty="0" smtClean="0">
                <a:latin typeface="Calibri" panose="020F0502020204030204" pitchFamily="34" charset="0"/>
                <a:cs typeface="Calibri" panose="020F0502020204030204" pitchFamily="34" charset="0"/>
              </a:rPr>
              <a:t>Boolean</a:t>
            </a: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is used for creating true or false statements.</a:t>
            </a:r>
          </a:p>
          <a:p>
            <a:pPr lvl="0">
              <a:lnSpc>
                <a:spcPct val="200000"/>
              </a:lnSpc>
              <a:buFont typeface="Wingdings" panose="05000000000000000000" pitchFamily="2" charset="2"/>
              <a:buChar char="ü"/>
            </a:pPr>
            <a:r>
              <a:rPr lang="en-US" b="1" dirty="0">
                <a:latin typeface="Calibri" panose="020F0502020204030204" pitchFamily="34" charset="0"/>
                <a:cs typeface="Calibri" panose="020F0502020204030204" pitchFamily="34" charset="0"/>
              </a:rPr>
              <a:t>Date, Time and Timestamp</a:t>
            </a:r>
            <a:r>
              <a:rPr lang="en-US" dirty="0">
                <a:latin typeface="Calibri" panose="020F0502020204030204" pitchFamily="34" charset="0"/>
                <a:cs typeface="Calibri" panose="020F0502020204030204" pitchFamily="34" charset="0"/>
              </a:rPr>
              <a:t> – these data types are used to work with data containing dates and times</a:t>
            </a:r>
            <a:r>
              <a:rPr lang="en-US" dirty="0" smtClean="0">
                <a:latin typeface="Calibri" panose="020F0502020204030204" pitchFamily="34" charset="0"/>
                <a:cs typeface="Calibri" panose="020F0502020204030204" pitchFamily="34" charset="0"/>
              </a:rPr>
              <a:t>.</a:t>
            </a:r>
          </a:p>
          <a:p>
            <a:pPr>
              <a:lnSpc>
                <a:spcPct val="200000"/>
              </a:lnSpc>
              <a:buFont typeface="Wingdings" panose="05000000000000000000" pitchFamily="2" charset="2"/>
              <a:buChar char="ü"/>
            </a:pPr>
            <a:r>
              <a:rPr lang="en-US" b="1" dirty="0">
                <a:latin typeface="Calibri" panose="020F0502020204030204" pitchFamily="34" charset="0"/>
                <a:cs typeface="Calibri" panose="020F0502020204030204" pitchFamily="34" charset="0"/>
              </a:rPr>
              <a:t>Floating Point Number</a:t>
            </a:r>
            <a:r>
              <a:rPr lang="en-US" dirty="0">
                <a:latin typeface="Calibri" panose="020F0502020204030204" pitchFamily="34" charset="0"/>
                <a:cs typeface="Calibri" panose="020F0502020204030204" pitchFamily="34" charset="0"/>
              </a:rPr>
              <a:t> – is a number that contains decimals. Numbers that contain fractions are also considered as floating point numbers.</a:t>
            </a:r>
            <a:endParaRPr lang="en-US" b="1" dirty="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ü"/>
            </a:pPr>
            <a:r>
              <a:rPr lang="en-US" b="1" dirty="0">
                <a:latin typeface="Calibri" panose="020F0502020204030204" pitchFamily="34" charset="0"/>
                <a:cs typeface="Calibri" panose="020F0502020204030204" pitchFamily="34" charset="0"/>
              </a:rPr>
              <a:t>Array</a:t>
            </a:r>
            <a:r>
              <a:rPr lang="en-US" dirty="0">
                <a:latin typeface="Calibri" panose="020F0502020204030204" pitchFamily="34" charset="0"/>
                <a:cs typeface="Calibri" panose="020F0502020204030204" pitchFamily="34" charset="0"/>
              </a:rPr>
              <a:t> – contains a group of elements which can be of the same data type like an integer or string. It is used to organize data for easier sorting and searching of related set of values</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06022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532238" y="383060"/>
            <a:ext cx="9527059" cy="6116595"/>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nSpc>
                <a:spcPct val="150000"/>
              </a:lnSpc>
              <a:buNone/>
            </a:pPr>
            <a:r>
              <a:rPr lang="en-US" sz="1900" b="1" dirty="0" smtClean="0">
                <a:solidFill>
                  <a:schemeClr val="tx1"/>
                </a:solidFill>
                <a:latin typeface="Calibri" panose="020F0502020204030204" pitchFamily="34" charset="0"/>
                <a:cs typeface="Calibri" panose="020F0502020204030204" pitchFamily="34" charset="0"/>
              </a:rPr>
              <a:t>SQL </a:t>
            </a:r>
            <a:r>
              <a:rPr lang="en-US" sz="1900" b="1" dirty="0">
                <a:solidFill>
                  <a:schemeClr val="tx1"/>
                </a:solidFill>
                <a:latin typeface="Calibri" panose="020F0502020204030204" pitchFamily="34" charset="0"/>
                <a:cs typeface="Calibri" panose="020F0502020204030204" pitchFamily="34" charset="0"/>
              </a:rPr>
              <a:t>Create Database</a:t>
            </a:r>
          </a:p>
          <a:p>
            <a:pPr>
              <a:lnSpc>
                <a:spcPct val="150000"/>
              </a:lnSpc>
            </a:pPr>
            <a:r>
              <a:rPr lang="en-US" sz="1700" dirty="0">
                <a:solidFill>
                  <a:schemeClr val="tx1"/>
                </a:solidFill>
                <a:latin typeface="Calibri" panose="020F0502020204030204" pitchFamily="34" charset="0"/>
                <a:cs typeface="Calibri" panose="020F0502020204030204" pitchFamily="34" charset="0"/>
              </a:rPr>
              <a:t>The CREATE DATABASE Statement is used to create a database. </a:t>
            </a:r>
          </a:p>
          <a:p>
            <a:pPr>
              <a:lnSpc>
                <a:spcPct val="150000"/>
              </a:lnSpc>
            </a:pPr>
            <a:r>
              <a:rPr lang="en-US" sz="1700" b="1" dirty="0">
                <a:solidFill>
                  <a:schemeClr val="tx1"/>
                </a:solidFill>
                <a:latin typeface="Calibri" panose="020F0502020204030204" pitchFamily="34" charset="0"/>
                <a:cs typeface="Calibri" panose="020F0502020204030204" pitchFamily="34" charset="0"/>
              </a:rPr>
              <a:t>SQL CREATE DATABASE Statement: </a:t>
            </a:r>
            <a:r>
              <a:rPr lang="en-US" sz="1700" dirty="0">
                <a:solidFill>
                  <a:schemeClr val="tx1"/>
                </a:solidFill>
                <a:latin typeface="Calibri" panose="020F0502020204030204" pitchFamily="34" charset="0"/>
                <a:cs typeface="Calibri" panose="020F0502020204030204" pitchFamily="34" charset="0"/>
              </a:rPr>
              <a:t>CREATE DATABASE </a:t>
            </a:r>
            <a:r>
              <a:rPr lang="en-US" sz="1700" dirty="0" err="1">
                <a:solidFill>
                  <a:schemeClr val="tx1"/>
                </a:solidFill>
                <a:latin typeface="Calibri" panose="020F0502020204030204" pitchFamily="34" charset="0"/>
                <a:cs typeface="Calibri" panose="020F0502020204030204" pitchFamily="34" charset="0"/>
              </a:rPr>
              <a:t>database_name</a:t>
            </a:r>
            <a:endParaRPr lang="en-US" sz="1700" b="1" dirty="0">
              <a:solidFill>
                <a:schemeClr val="tx1"/>
              </a:solidFill>
              <a:latin typeface="Calibri" panose="020F0502020204030204" pitchFamily="34" charset="0"/>
              <a:cs typeface="Calibri" panose="020F0502020204030204" pitchFamily="34" charset="0"/>
            </a:endParaRPr>
          </a:p>
          <a:p>
            <a:pPr marL="0" indent="0">
              <a:lnSpc>
                <a:spcPct val="150000"/>
              </a:lnSpc>
              <a:buNone/>
            </a:pPr>
            <a:r>
              <a:rPr lang="en-US" sz="1700" b="1" dirty="0">
                <a:solidFill>
                  <a:schemeClr val="tx1"/>
                </a:solidFill>
                <a:latin typeface="Calibri" panose="020F0502020204030204" pitchFamily="34" charset="0"/>
                <a:cs typeface="Calibri" panose="020F0502020204030204" pitchFamily="34" charset="0"/>
              </a:rPr>
              <a:t>CREATE DATABASE Example:</a:t>
            </a:r>
          </a:p>
          <a:p>
            <a:pPr>
              <a:lnSpc>
                <a:spcPct val="150000"/>
              </a:lnSpc>
            </a:pPr>
            <a:r>
              <a:rPr lang="en-US" sz="1700" dirty="0">
                <a:solidFill>
                  <a:schemeClr val="tx1"/>
                </a:solidFill>
                <a:latin typeface="Calibri" panose="020F0502020204030204" pitchFamily="34" charset="0"/>
                <a:cs typeface="Calibri" panose="020F0502020204030204" pitchFamily="34" charset="0"/>
              </a:rPr>
              <a:t>If you want to create database </a:t>
            </a:r>
            <a:r>
              <a:rPr lang="en-US" sz="1700" dirty="0" err="1" smtClean="0">
                <a:solidFill>
                  <a:schemeClr val="tx1"/>
                </a:solidFill>
                <a:latin typeface="Calibri" panose="020F0502020204030204" pitchFamily="34" charset="0"/>
                <a:cs typeface="Calibri" panose="020F0502020204030204" pitchFamily="34" charset="0"/>
              </a:rPr>
              <a:t>cosc_prac</a:t>
            </a:r>
            <a:r>
              <a:rPr lang="en-US" sz="1700" dirty="0" smtClean="0">
                <a:solidFill>
                  <a:schemeClr val="tx1"/>
                </a:solidFill>
                <a:latin typeface="Calibri" panose="020F0502020204030204" pitchFamily="34" charset="0"/>
                <a:cs typeface="Calibri" panose="020F0502020204030204" pitchFamily="34" charset="0"/>
              </a:rPr>
              <a:t>, </a:t>
            </a:r>
            <a:r>
              <a:rPr lang="en-US" sz="1700" dirty="0">
                <a:solidFill>
                  <a:schemeClr val="tx1"/>
                </a:solidFill>
                <a:latin typeface="Calibri" panose="020F0502020204030204" pitchFamily="34" charset="0"/>
                <a:cs typeface="Calibri" panose="020F0502020204030204" pitchFamily="34" charset="0"/>
              </a:rPr>
              <a:t>the statement would be like</a:t>
            </a:r>
          </a:p>
          <a:p>
            <a:pPr lvl="2">
              <a:lnSpc>
                <a:spcPct val="150000"/>
              </a:lnSpc>
            </a:pPr>
            <a:r>
              <a:rPr lang="en-US" sz="1700" dirty="0">
                <a:solidFill>
                  <a:schemeClr val="tx1"/>
                </a:solidFill>
                <a:latin typeface="Calibri" panose="020F0502020204030204" pitchFamily="34" charset="0"/>
                <a:cs typeface="Calibri" panose="020F0502020204030204" pitchFamily="34" charset="0"/>
              </a:rPr>
              <a:t>CREATE DATABASE </a:t>
            </a:r>
            <a:r>
              <a:rPr lang="en-US" sz="1700" dirty="0" err="1" smtClean="0">
                <a:solidFill>
                  <a:schemeClr val="tx1"/>
                </a:solidFill>
                <a:latin typeface="Calibri" panose="020F0502020204030204" pitchFamily="34" charset="0"/>
                <a:cs typeface="Calibri" panose="020F0502020204030204" pitchFamily="34" charset="0"/>
              </a:rPr>
              <a:t>cosc_prac</a:t>
            </a:r>
            <a:r>
              <a:rPr lang="en-US" sz="1700" dirty="0" smtClean="0">
                <a:solidFill>
                  <a:schemeClr val="tx1"/>
                </a:solidFill>
                <a:latin typeface="Calibri" panose="020F0502020204030204" pitchFamily="34" charset="0"/>
                <a:cs typeface="Calibri" panose="020F0502020204030204" pitchFamily="34" charset="0"/>
              </a:rPr>
              <a:t>;</a:t>
            </a:r>
            <a:endParaRPr lang="en-US" sz="1700" dirty="0">
              <a:solidFill>
                <a:schemeClr val="tx1"/>
              </a:solidFill>
              <a:latin typeface="Calibri" panose="020F0502020204030204" pitchFamily="34" charset="0"/>
              <a:cs typeface="Calibri" panose="020F0502020204030204" pitchFamily="34" charset="0"/>
            </a:endParaRPr>
          </a:p>
          <a:p>
            <a:pPr marL="0" indent="0">
              <a:lnSpc>
                <a:spcPct val="150000"/>
              </a:lnSpc>
              <a:buNone/>
            </a:pPr>
            <a:r>
              <a:rPr lang="en-US" sz="1700" b="1" dirty="0">
                <a:solidFill>
                  <a:schemeClr val="tx1"/>
                </a:solidFill>
                <a:latin typeface="Calibri" panose="020F0502020204030204" pitchFamily="34" charset="0"/>
                <a:cs typeface="Calibri" panose="020F0502020204030204" pitchFamily="34" charset="0"/>
              </a:rPr>
              <a:t>SQL USE Statement</a:t>
            </a:r>
          </a:p>
          <a:p>
            <a:pPr>
              <a:lnSpc>
                <a:spcPct val="150000"/>
              </a:lnSpc>
            </a:pPr>
            <a:r>
              <a:rPr lang="en-US" sz="1700" dirty="0">
                <a:solidFill>
                  <a:schemeClr val="tx1"/>
                </a:solidFill>
                <a:latin typeface="Calibri" panose="020F0502020204030204" pitchFamily="34" charset="0"/>
                <a:cs typeface="Calibri" panose="020F0502020204030204" pitchFamily="34" charset="0"/>
              </a:rPr>
              <a:t>The USE Statement is used to select a database </a:t>
            </a:r>
            <a:r>
              <a:rPr lang="en-US" sz="1700" dirty="0" smtClean="0">
                <a:solidFill>
                  <a:schemeClr val="tx1"/>
                </a:solidFill>
                <a:latin typeface="Calibri" panose="020F0502020204030204" pitchFamily="34" charset="0"/>
                <a:cs typeface="Calibri" panose="020F0502020204030204" pitchFamily="34" charset="0"/>
              </a:rPr>
              <a:t>to </a:t>
            </a:r>
            <a:r>
              <a:rPr lang="en-US" sz="1700" dirty="0">
                <a:solidFill>
                  <a:schemeClr val="tx1"/>
                </a:solidFill>
                <a:latin typeface="Calibri" panose="020F0502020204030204" pitchFamily="34" charset="0"/>
                <a:cs typeface="Calibri" panose="020F0502020204030204" pitchFamily="34" charset="0"/>
              </a:rPr>
              <a:t>perform SQL operations into that database.</a:t>
            </a:r>
          </a:p>
          <a:p>
            <a:pPr>
              <a:lnSpc>
                <a:spcPct val="150000"/>
              </a:lnSpc>
            </a:pPr>
            <a:r>
              <a:rPr lang="en-US" sz="1700" dirty="0">
                <a:solidFill>
                  <a:schemeClr val="tx1"/>
                </a:solidFill>
                <a:latin typeface="Calibri" panose="020F0502020204030204" pitchFamily="34" charset="0"/>
                <a:cs typeface="Calibri" panose="020F0502020204030204" pitchFamily="34" charset="0"/>
              </a:rPr>
              <a:t>The database remains default until end of session or execution of another USE statement with some other database.</a:t>
            </a:r>
          </a:p>
          <a:p>
            <a:pPr>
              <a:lnSpc>
                <a:spcPct val="150000"/>
              </a:lnSpc>
            </a:pPr>
            <a:r>
              <a:rPr lang="en-US" sz="1700" dirty="0">
                <a:solidFill>
                  <a:schemeClr val="tx1"/>
                </a:solidFill>
                <a:latin typeface="Calibri" panose="020F0502020204030204" pitchFamily="34" charset="0"/>
                <a:cs typeface="Calibri" panose="020F0502020204030204" pitchFamily="34" charset="0"/>
              </a:rPr>
              <a:t>Syntax: USE </a:t>
            </a:r>
            <a:r>
              <a:rPr lang="en-US" sz="1700" dirty="0" err="1">
                <a:solidFill>
                  <a:schemeClr val="tx1"/>
                </a:solidFill>
                <a:latin typeface="Calibri" panose="020F0502020204030204" pitchFamily="34" charset="0"/>
                <a:cs typeface="Calibri" panose="020F0502020204030204" pitchFamily="34" charset="0"/>
              </a:rPr>
              <a:t>database_name</a:t>
            </a:r>
            <a:r>
              <a:rPr lang="en-US" sz="1700" dirty="0" smtClean="0">
                <a:solidFill>
                  <a:schemeClr val="tx1"/>
                </a:solidFill>
                <a:latin typeface="Calibri" panose="020F0502020204030204" pitchFamily="34" charset="0"/>
                <a:cs typeface="Calibri" panose="020F0502020204030204" pitchFamily="34" charset="0"/>
              </a:rPr>
              <a:t>; </a:t>
            </a:r>
          </a:p>
          <a:p>
            <a:pPr>
              <a:lnSpc>
                <a:spcPct val="150000"/>
              </a:lnSpc>
            </a:pPr>
            <a:r>
              <a:rPr lang="en-US" sz="1700" dirty="0" smtClean="0">
                <a:solidFill>
                  <a:schemeClr val="tx1"/>
                </a:solidFill>
                <a:latin typeface="Calibri" panose="020F0502020204030204" pitchFamily="34" charset="0"/>
                <a:cs typeface="Calibri" panose="020F0502020204030204" pitchFamily="34" charset="0"/>
              </a:rPr>
              <a:t>Example USE </a:t>
            </a:r>
            <a:r>
              <a:rPr lang="en-US" sz="1700" dirty="0" err="1" smtClean="0">
                <a:solidFill>
                  <a:schemeClr val="tx1"/>
                </a:solidFill>
                <a:latin typeface="Calibri" panose="020F0502020204030204" pitchFamily="34" charset="0"/>
                <a:cs typeface="Calibri" panose="020F0502020204030204" pitchFamily="34" charset="0"/>
              </a:rPr>
              <a:t>cosc_prac</a:t>
            </a:r>
            <a:r>
              <a:rPr lang="en-US" sz="1700" dirty="0" smtClean="0">
                <a:solidFill>
                  <a:schemeClr val="tx1"/>
                </a:solidFill>
                <a:latin typeface="Calibri" panose="020F0502020204030204" pitchFamily="34" charset="0"/>
                <a:cs typeface="Calibri" panose="020F0502020204030204" pitchFamily="34" charset="0"/>
              </a:rPr>
              <a:t>;</a:t>
            </a:r>
            <a:endParaRPr lang="en-US" sz="17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30901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198604" y="321276"/>
            <a:ext cx="10354963" cy="6314303"/>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nSpc>
                <a:spcPct val="150000"/>
              </a:lnSpc>
              <a:buFont typeface="Wingdings 3" charset="2"/>
              <a:buNone/>
            </a:pPr>
            <a:r>
              <a:rPr lang="en-US" sz="1700" b="1" dirty="0" smtClean="0">
                <a:solidFill>
                  <a:schemeClr val="tx1"/>
                </a:solidFill>
                <a:latin typeface="Calibri" panose="020F0502020204030204" pitchFamily="34" charset="0"/>
                <a:cs typeface="Calibri" panose="020F0502020204030204" pitchFamily="34" charset="0"/>
              </a:rPr>
              <a:t>SQL CREATE TABLE Statement</a:t>
            </a:r>
          </a:p>
          <a:p>
            <a:pPr>
              <a:lnSpc>
                <a:spcPct val="150000"/>
              </a:lnSpc>
            </a:pPr>
            <a:r>
              <a:rPr lang="en-US" sz="1700" dirty="0" smtClean="0">
                <a:solidFill>
                  <a:schemeClr val="tx1"/>
                </a:solidFill>
                <a:latin typeface="Calibri" panose="020F0502020204030204" pitchFamily="34" charset="0"/>
                <a:cs typeface="Calibri" panose="020F0502020204030204" pitchFamily="34" charset="0"/>
              </a:rPr>
              <a:t>The CREATE TABLE Statement is used to create tables to store data. Integrity Constraints like primary key, unique key, foreign key can be defined for the columns while creating the table. </a:t>
            </a:r>
          </a:p>
          <a:p>
            <a:pPr>
              <a:lnSpc>
                <a:spcPct val="150000"/>
              </a:lnSpc>
            </a:pPr>
            <a:r>
              <a:rPr lang="en-US" sz="1700" dirty="0" smtClean="0">
                <a:solidFill>
                  <a:schemeClr val="tx1"/>
                </a:solidFill>
                <a:latin typeface="Calibri" panose="020F0502020204030204" pitchFamily="34" charset="0"/>
                <a:cs typeface="Calibri" panose="020F0502020204030204" pitchFamily="34" charset="0"/>
              </a:rPr>
              <a:t>The integrity constraints can be defined at column level or table level. The implementation and the syntax of the CREATE Statements differs for different RDBMS.</a:t>
            </a:r>
          </a:p>
          <a:p>
            <a:pPr marL="0" indent="0">
              <a:lnSpc>
                <a:spcPct val="150000"/>
              </a:lnSpc>
              <a:buFont typeface="Wingdings 3" charset="2"/>
              <a:buNone/>
            </a:pPr>
            <a:r>
              <a:rPr lang="en-US" sz="1700" b="1" dirty="0" smtClean="0">
                <a:solidFill>
                  <a:schemeClr val="tx1"/>
                </a:solidFill>
                <a:latin typeface="Calibri" panose="020F0502020204030204" pitchFamily="34" charset="0"/>
                <a:cs typeface="Calibri" panose="020F0502020204030204" pitchFamily="34" charset="0"/>
              </a:rPr>
              <a:t>The Syntax for the CREATE TABLE Statement is:</a:t>
            </a:r>
          </a:p>
          <a:p>
            <a:pPr marL="0" indent="0">
              <a:lnSpc>
                <a:spcPct val="150000"/>
              </a:lnSpc>
              <a:buNone/>
            </a:pPr>
            <a:r>
              <a:rPr lang="en-US" sz="1700" dirty="0">
                <a:solidFill>
                  <a:schemeClr val="tx1"/>
                </a:solidFill>
                <a:latin typeface="Calibri" panose="020F0502020204030204" pitchFamily="34" charset="0"/>
                <a:cs typeface="Calibri" panose="020F0502020204030204" pitchFamily="34" charset="0"/>
              </a:rPr>
              <a:t>CREATE TABLE </a:t>
            </a:r>
            <a:r>
              <a:rPr lang="en-US" sz="1700" dirty="0" err="1">
                <a:solidFill>
                  <a:schemeClr val="tx1"/>
                </a:solidFill>
                <a:latin typeface="Calibri" panose="020F0502020204030204" pitchFamily="34" charset="0"/>
                <a:cs typeface="Calibri" panose="020F0502020204030204" pitchFamily="34" charset="0"/>
              </a:rPr>
              <a:t>table_name</a:t>
            </a:r>
            <a:r>
              <a:rPr lang="en-US" sz="1700" dirty="0">
                <a:solidFill>
                  <a:schemeClr val="tx1"/>
                </a:solidFill>
                <a:latin typeface="Calibri" panose="020F0502020204030204" pitchFamily="34" charset="0"/>
                <a:cs typeface="Calibri" panose="020F0502020204030204" pitchFamily="34" charset="0"/>
              </a:rPr>
              <a:t> ( </a:t>
            </a:r>
          </a:p>
          <a:p>
            <a:pPr marL="0" indent="0">
              <a:lnSpc>
                <a:spcPct val="150000"/>
              </a:lnSpc>
              <a:buNone/>
            </a:pPr>
            <a:r>
              <a:rPr lang="en-US" sz="1700" dirty="0">
                <a:solidFill>
                  <a:schemeClr val="tx1"/>
                </a:solidFill>
                <a:latin typeface="Calibri" panose="020F0502020204030204" pitchFamily="34" charset="0"/>
                <a:cs typeface="Calibri" panose="020F0502020204030204" pitchFamily="34" charset="0"/>
              </a:rPr>
              <a:t>column1 datatype constraint, </a:t>
            </a:r>
          </a:p>
          <a:p>
            <a:pPr marL="0" indent="0">
              <a:lnSpc>
                <a:spcPct val="150000"/>
              </a:lnSpc>
              <a:buNone/>
            </a:pPr>
            <a:r>
              <a:rPr lang="en-US" sz="1700" dirty="0">
                <a:solidFill>
                  <a:schemeClr val="tx1"/>
                </a:solidFill>
                <a:latin typeface="Calibri" panose="020F0502020204030204" pitchFamily="34" charset="0"/>
                <a:cs typeface="Calibri" panose="020F0502020204030204" pitchFamily="34" charset="0"/>
              </a:rPr>
              <a:t>column2 datatype constraint, </a:t>
            </a:r>
          </a:p>
          <a:p>
            <a:pPr marL="0" indent="0">
              <a:lnSpc>
                <a:spcPct val="150000"/>
              </a:lnSpc>
              <a:buNone/>
            </a:pPr>
            <a:r>
              <a:rPr lang="en-US" sz="1700" dirty="0">
                <a:solidFill>
                  <a:schemeClr val="tx1"/>
                </a:solidFill>
                <a:latin typeface="Calibri" panose="020F0502020204030204" pitchFamily="34" charset="0"/>
                <a:cs typeface="Calibri" panose="020F0502020204030204" pitchFamily="34" charset="0"/>
              </a:rPr>
              <a:t> .....</a:t>
            </a:r>
          </a:p>
          <a:p>
            <a:pPr marL="0" indent="0">
              <a:lnSpc>
                <a:spcPct val="150000"/>
              </a:lnSpc>
              <a:buNone/>
            </a:pPr>
            <a:r>
              <a:rPr lang="en-US" sz="1700" dirty="0" err="1">
                <a:solidFill>
                  <a:schemeClr val="tx1"/>
                </a:solidFill>
                <a:latin typeface="Calibri" panose="020F0502020204030204" pitchFamily="34" charset="0"/>
                <a:cs typeface="Calibri" panose="020F0502020204030204" pitchFamily="34" charset="0"/>
              </a:rPr>
              <a:t>columnN</a:t>
            </a:r>
            <a:r>
              <a:rPr lang="en-US" sz="1700" dirty="0">
                <a:solidFill>
                  <a:schemeClr val="tx1"/>
                </a:solidFill>
                <a:latin typeface="Calibri" panose="020F0502020204030204" pitchFamily="34" charset="0"/>
                <a:cs typeface="Calibri" panose="020F0502020204030204" pitchFamily="34" charset="0"/>
              </a:rPr>
              <a:t> datatype constraint, </a:t>
            </a:r>
          </a:p>
          <a:p>
            <a:pPr marL="0" indent="0">
              <a:lnSpc>
                <a:spcPct val="150000"/>
              </a:lnSpc>
              <a:buNone/>
            </a:pPr>
            <a:r>
              <a:rPr lang="en-US" sz="1700" dirty="0">
                <a:solidFill>
                  <a:schemeClr val="tx1"/>
                </a:solidFill>
                <a:latin typeface="Calibri" panose="020F0502020204030204" pitchFamily="34" charset="0"/>
                <a:cs typeface="Calibri" panose="020F0502020204030204" pitchFamily="34" charset="0"/>
              </a:rPr>
              <a:t>PRIMARY KEY (</a:t>
            </a:r>
            <a:r>
              <a:rPr lang="en-US" sz="1700" dirty="0" err="1">
                <a:solidFill>
                  <a:schemeClr val="tx1"/>
                </a:solidFill>
                <a:latin typeface="Calibri" panose="020F0502020204030204" pitchFamily="34" charset="0"/>
                <a:cs typeface="Calibri" panose="020F0502020204030204" pitchFamily="34" charset="0"/>
              </a:rPr>
              <a:t>column_name</a:t>
            </a:r>
            <a:r>
              <a:rPr lang="en-US" sz="1700" dirty="0">
                <a:solidFill>
                  <a:schemeClr val="tx1"/>
                </a:solidFill>
                <a:latin typeface="Calibri" panose="020F0502020204030204" pitchFamily="34" charset="0"/>
                <a:cs typeface="Calibri" panose="020F0502020204030204" pitchFamily="34" charset="0"/>
              </a:rPr>
              <a:t>) </a:t>
            </a:r>
            <a:r>
              <a:rPr lang="en-US" sz="1700" dirty="0" smtClean="0">
                <a:solidFill>
                  <a:schemeClr val="tx1"/>
                </a:solidFill>
                <a:latin typeface="Calibri" panose="020F0502020204030204" pitchFamily="34" charset="0"/>
                <a:cs typeface="Calibri" panose="020F0502020204030204" pitchFamily="34" charset="0"/>
              </a:rPr>
              <a:t>);</a:t>
            </a:r>
            <a:endParaRPr lang="en-US" sz="17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33230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988542" y="1260389"/>
            <a:ext cx="10787448" cy="5474043"/>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150000"/>
              </a:lnSpc>
            </a:pPr>
            <a:r>
              <a:rPr lang="en-US" dirty="0" smtClean="0">
                <a:solidFill>
                  <a:schemeClr val="tx1"/>
                </a:solidFill>
                <a:latin typeface="Calibri" panose="020F0502020204030204" pitchFamily="34" charset="0"/>
                <a:cs typeface="Calibri" panose="020F0502020204030204" pitchFamily="34" charset="0"/>
              </a:rPr>
              <a:t>The SQL ALTER TABLE command is used to modify the definition (structure) of a table by modifying the definition of its columns. </a:t>
            </a:r>
          </a:p>
          <a:p>
            <a:pPr>
              <a:lnSpc>
                <a:spcPct val="150000"/>
              </a:lnSpc>
            </a:pPr>
            <a:r>
              <a:rPr lang="en-US" dirty="0" smtClean="0">
                <a:solidFill>
                  <a:schemeClr val="tx1"/>
                </a:solidFill>
                <a:latin typeface="Calibri" panose="020F0502020204030204" pitchFamily="34" charset="0"/>
                <a:cs typeface="Calibri" panose="020F0502020204030204" pitchFamily="34" charset="0"/>
              </a:rPr>
              <a:t>The ALTER command is used to perform the following functions.</a:t>
            </a:r>
          </a:p>
          <a:p>
            <a:pPr marL="400050" lvl="1" indent="0">
              <a:lnSpc>
                <a:spcPct val="150000"/>
              </a:lnSpc>
              <a:buFont typeface="Wingdings 3" charset="2"/>
              <a:buNone/>
            </a:pPr>
            <a:r>
              <a:rPr lang="en-US" sz="1800" dirty="0" smtClean="0">
                <a:solidFill>
                  <a:schemeClr val="tx1"/>
                </a:solidFill>
                <a:latin typeface="Calibri" panose="020F0502020204030204" pitchFamily="34" charset="0"/>
                <a:cs typeface="Calibri" panose="020F0502020204030204" pitchFamily="34" charset="0"/>
              </a:rPr>
              <a:t>1) Add, drop, modify table columns</a:t>
            </a:r>
            <a:br>
              <a:rPr lang="en-US" sz="1800" dirty="0" smtClean="0">
                <a:solidFill>
                  <a:schemeClr val="tx1"/>
                </a:solidFill>
                <a:latin typeface="Calibri" panose="020F0502020204030204" pitchFamily="34" charset="0"/>
                <a:cs typeface="Calibri" panose="020F0502020204030204" pitchFamily="34" charset="0"/>
              </a:rPr>
            </a:br>
            <a:r>
              <a:rPr lang="en-US" sz="1800" dirty="0" smtClean="0">
                <a:solidFill>
                  <a:schemeClr val="tx1"/>
                </a:solidFill>
                <a:latin typeface="Calibri" panose="020F0502020204030204" pitchFamily="34" charset="0"/>
                <a:cs typeface="Calibri" panose="020F0502020204030204" pitchFamily="34" charset="0"/>
              </a:rPr>
              <a:t>2) Add and drop constraints</a:t>
            </a:r>
            <a:br>
              <a:rPr lang="en-US" sz="1800" dirty="0" smtClean="0">
                <a:solidFill>
                  <a:schemeClr val="tx1"/>
                </a:solidFill>
                <a:latin typeface="Calibri" panose="020F0502020204030204" pitchFamily="34" charset="0"/>
                <a:cs typeface="Calibri" panose="020F0502020204030204" pitchFamily="34" charset="0"/>
              </a:rPr>
            </a:br>
            <a:r>
              <a:rPr lang="en-US" sz="1800" dirty="0" smtClean="0">
                <a:solidFill>
                  <a:schemeClr val="tx1"/>
                </a:solidFill>
                <a:latin typeface="Calibri" panose="020F0502020204030204" pitchFamily="34" charset="0"/>
                <a:cs typeface="Calibri" panose="020F0502020204030204" pitchFamily="34" charset="0"/>
              </a:rPr>
              <a:t>3) Enable and Disable constraints</a:t>
            </a:r>
          </a:p>
          <a:p>
            <a:pPr marL="0" indent="0">
              <a:lnSpc>
                <a:spcPct val="150000"/>
              </a:lnSpc>
              <a:buFont typeface="Wingdings 3" charset="2"/>
              <a:buNone/>
            </a:pPr>
            <a:r>
              <a:rPr lang="en-US" b="1" dirty="0" smtClean="0">
                <a:solidFill>
                  <a:schemeClr val="tx1"/>
                </a:solidFill>
                <a:latin typeface="Calibri" panose="020F0502020204030204" pitchFamily="34" charset="0"/>
                <a:cs typeface="Calibri" panose="020F0502020204030204" pitchFamily="34" charset="0"/>
              </a:rPr>
              <a:t>Syntax to add a column</a:t>
            </a:r>
          </a:p>
          <a:p>
            <a:pPr>
              <a:lnSpc>
                <a:spcPct val="150000"/>
              </a:lnSpc>
            </a:pPr>
            <a:r>
              <a:rPr lang="en-US" dirty="0" smtClean="0">
                <a:solidFill>
                  <a:schemeClr val="tx1"/>
                </a:solidFill>
                <a:latin typeface="Calibri" panose="020F0502020204030204" pitchFamily="34" charset="0"/>
                <a:cs typeface="Calibri" panose="020F0502020204030204" pitchFamily="34" charset="0"/>
              </a:rPr>
              <a:t>ALTER TABLE </a:t>
            </a:r>
            <a:r>
              <a:rPr lang="en-US" dirty="0" err="1" smtClean="0">
                <a:solidFill>
                  <a:schemeClr val="tx1"/>
                </a:solidFill>
                <a:latin typeface="Calibri" panose="020F0502020204030204" pitchFamily="34" charset="0"/>
                <a:cs typeface="Calibri" panose="020F0502020204030204" pitchFamily="34" charset="0"/>
              </a:rPr>
              <a:t>table_name</a:t>
            </a:r>
            <a:r>
              <a:rPr lang="en-US" dirty="0" smtClean="0">
                <a:solidFill>
                  <a:schemeClr val="tx1"/>
                </a:solidFill>
                <a:latin typeface="Calibri" panose="020F0502020204030204" pitchFamily="34" charset="0"/>
                <a:cs typeface="Calibri" panose="020F0502020204030204" pitchFamily="34" charset="0"/>
              </a:rPr>
              <a:t> ADD </a:t>
            </a:r>
            <a:r>
              <a:rPr lang="en-US" dirty="0" err="1" smtClean="0">
                <a:solidFill>
                  <a:schemeClr val="tx1"/>
                </a:solidFill>
                <a:latin typeface="Calibri" panose="020F0502020204030204" pitchFamily="34" charset="0"/>
                <a:cs typeface="Calibri" panose="020F0502020204030204" pitchFamily="34" charset="0"/>
              </a:rPr>
              <a:t>column_name</a:t>
            </a:r>
            <a:r>
              <a:rPr lang="en-US" dirty="0" smtClean="0">
                <a:solidFill>
                  <a:schemeClr val="tx1"/>
                </a:solidFill>
                <a:latin typeface="Calibri" panose="020F0502020204030204" pitchFamily="34" charset="0"/>
                <a:cs typeface="Calibri" panose="020F0502020204030204" pitchFamily="34" charset="0"/>
              </a:rPr>
              <a:t> datatype;</a:t>
            </a:r>
          </a:p>
          <a:p>
            <a:pPr marL="0" indent="0">
              <a:lnSpc>
                <a:spcPct val="150000"/>
              </a:lnSpc>
              <a:buFont typeface="Wingdings 3" charset="2"/>
              <a:buNone/>
            </a:pPr>
            <a:r>
              <a:rPr lang="en-US" b="1" dirty="0" smtClean="0">
                <a:solidFill>
                  <a:schemeClr val="tx1"/>
                </a:solidFill>
                <a:latin typeface="Calibri" panose="020F0502020204030204" pitchFamily="34" charset="0"/>
                <a:cs typeface="Calibri" panose="020F0502020204030204" pitchFamily="34" charset="0"/>
              </a:rPr>
              <a:t>For Example:</a:t>
            </a:r>
            <a:r>
              <a:rPr lang="en-US" dirty="0" smtClean="0">
                <a:solidFill>
                  <a:schemeClr val="tx1"/>
                </a:solidFill>
                <a:latin typeface="Calibri" panose="020F0502020204030204" pitchFamily="34" charset="0"/>
                <a:cs typeface="Calibri" panose="020F0502020204030204" pitchFamily="34" charset="0"/>
              </a:rPr>
              <a:t> To add a column "experience" to the employee table, the query would be like</a:t>
            </a:r>
          </a:p>
          <a:p>
            <a:pPr>
              <a:lnSpc>
                <a:spcPct val="150000"/>
              </a:lnSpc>
            </a:pPr>
            <a:r>
              <a:rPr lang="en-US" dirty="0" smtClean="0">
                <a:solidFill>
                  <a:schemeClr val="tx1"/>
                </a:solidFill>
                <a:latin typeface="Calibri" panose="020F0502020204030204" pitchFamily="34" charset="0"/>
                <a:cs typeface="Calibri" panose="020F0502020204030204" pitchFamily="34" charset="0"/>
              </a:rPr>
              <a:t>ALTER TABLE employee ADD experience </a:t>
            </a:r>
            <a:r>
              <a:rPr lang="en-US" dirty="0" err="1" smtClean="0">
                <a:solidFill>
                  <a:schemeClr val="tx1"/>
                </a:solidFill>
                <a:latin typeface="Calibri" panose="020F0502020204030204" pitchFamily="34" charset="0"/>
                <a:cs typeface="Calibri" panose="020F0502020204030204" pitchFamily="34" charset="0"/>
              </a:rPr>
              <a:t>int</a:t>
            </a:r>
            <a:r>
              <a:rPr lang="en-US" dirty="0" smtClean="0">
                <a:solidFill>
                  <a:schemeClr val="tx1"/>
                </a:solidFill>
                <a:latin typeface="Calibri" panose="020F0502020204030204" pitchFamily="34" charset="0"/>
                <a:cs typeface="Calibri" panose="020F0502020204030204" pitchFamily="34" charset="0"/>
              </a:rPr>
              <a:t>(3) NOTNULL;</a:t>
            </a:r>
          </a:p>
        </p:txBody>
      </p:sp>
      <p:sp>
        <p:nvSpPr>
          <p:cNvPr id="3" name="TextBox 2"/>
          <p:cNvSpPr txBox="1"/>
          <p:nvPr/>
        </p:nvSpPr>
        <p:spPr>
          <a:xfrm>
            <a:off x="3657600" y="667265"/>
            <a:ext cx="3286897" cy="50783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ALTER TABLE Command</a:t>
            </a:r>
          </a:p>
        </p:txBody>
      </p:sp>
    </p:spTree>
    <p:extLst>
      <p:ext uri="{BB962C8B-B14F-4D97-AF65-F5344CB8AC3E}">
        <p14:creationId xmlns:p14="http://schemas.microsoft.com/office/powerpoint/2010/main" val="39900777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3828" y="1396314"/>
            <a:ext cx="10194324" cy="5140410"/>
          </a:xfrm>
        </p:spPr>
        <p:txBody>
          <a:bodyPr>
            <a:noAutofit/>
          </a:bodyPr>
          <a:lstStyle/>
          <a:p>
            <a:pPr marL="0" indent="0">
              <a:lnSpc>
                <a:spcPct val="150000"/>
              </a:lnSpc>
              <a:buNone/>
            </a:pPr>
            <a:r>
              <a:rPr lang="en-US" b="1" dirty="0">
                <a:solidFill>
                  <a:schemeClr val="tx1"/>
                </a:solidFill>
                <a:latin typeface="Calibri" panose="020F0502020204030204" pitchFamily="34" charset="0"/>
                <a:cs typeface="Calibri" panose="020F0502020204030204" pitchFamily="34" charset="0"/>
              </a:rPr>
              <a:t>Syntax to drop a column</a:t>
            </a:r>
          </a:p>
          <a:p>
            <a:pPr>
              <a:lnSpc>
                <a:spcPct val="150000"/>
              </a:lnSpc>
            </a:pPr>
            <a:r>
              <a:rPr lang="en-US" dirty="0">
                <a:solidFill>
                  <a:schemeClr val="tx1"/>
                </a:solidFill>
                <a:latin typeface="Calibri" panose="020F0502020204030204" pitchFamily="34" charset="0"/>
                <a:cs typeface="Calibri" panose="020F0502020204030204" pitchFamily="34" charset="0"/>
              </a:rPr>
              <a:t>ALTER TABLE </a:t>
            </a:r>
            <a:r>
              <a:rPr lang="en-US" dirty="0" err="1">
                <a:solidFill>
                  <a:schemeClr val="tx1"/>
                </a:solidFill>
                <a:latin typeface="Calibri" panose="020F0502020204030204" pitchFamily="34" charset="0"/>
                <a:cs typeface="Calibri" panose="020F0502020204030204" pitchFamily="34" charset="0"/>
              </a:rPr>
              <a:t>table_name</a:t>
            </a:r>
            <a:r>
              <a:rPr lang="en-US" dirty="0">
                <a:solidFill>
                  <a:schemeClr val="tx1"/>
                </a:solidFill>
                <a:latin typeface="Calibri" panose="020F0502020204030204" pitchFamily="34" charset="0"/>
                <a:cs typeface="Calibri" panose="020F0502020204030204" pitchFamily="34" charset="0"/>
              </a:rPr>
              <a:t> DROP </a:t>
            </a:r>
            <a:r>
              <a:rPr lang="en-US" dirty="0" err="1">
                <a:solidFill>
                  <a:schemeClr val="tx1"/>
                </a:solidFill>
                <a:latin typeface="Calibri" panose="020F0502020204030204" pitchFamily="34" charset="0"/>
                <a:cs typeface="Calibri" panose="020F0502020204030204" pitchFamily="34" charset="0"/>
              </a:rPr>
              <a:t>column_name</a:t>
            </a:r>
            <a:r>
              <a:rPr lang="en-US" dirty="0">
                <a:solidFill>
                  <a:schemeClr val="tx1"/>
                </a:solidFill>
                <a:latin typeface="Calibri" panose="020F0502020204030204" pitchFamily="34" charset="0"/>
                <a:cs typeface="Calibri" panose="020F0502020204030204" pitchFamily="34" charset="0"/>
              </a:rPr>
              <a:t>;</a:t>
            </a:r>
          </a:p>
          <a:p>
            <a:pPr>
              <a:lnSpc>
                <a:spcPct val="150000"/>
              </a:lnSpc>
            </a:pPr>
            <a:r>
              <a:rPr lang="en-US" b="1" dirty="0">
                <a:solidFill>
                  <a:schemeClr val="tx1"/>
                </a:solidFill>
                <a:latin typeface="Calibri" panose="020F0502020204030204" pitchFamily="34" charset="0"/>
                <a:cs typeface="Calibri" panose="020F0502020204030204" pitchFamily="34" charset="0"/>
              </a:rPr>
              <a:t>For Example:</a:t>
            </a:r>
            <a:r>
              <a:rPr lang="en-US" dirty="0">
                <a:solidFill>
                  <a:schemeClr val="tx1"/>
                </a:solidFill>
                <a:latin typeface="Calibri" panose="020F0502020204030204" pitchFamily="34" charset="0"/>
                <a:cs typeface="Calibri" panose="020F0502020204030204" pitchFamily="34" charset="0"/>
              </a:rPr>
              <a:t> To drop the column "location" from the employee table, the query would be like  ALTER TABLE employee DROP location</a:t>
            </a:r>
            <a:r>
              <a:rPr lang="en-US" dirty="0" smtClean="0">
                <a:solidFill>
                  <a:schemeClr val="tx1"/>
                </a:solidFill>
                <a:latin typeface="Calibri" panose="020F0502020204030204" pitchFamily="34" charset="0"/>
                <a:cs typeface="Calibri" panose="020F0502020204030204" pitchFamily="34" charset="0"/>
              </a:rPr>
              <a:t>;</a:t>
            </a:r>
            <a:endParaRPr lang="en-US" b="1" dirty="0" smtClean="0">
              <a:solidFill>
                <a:schemeClr val="tx1"/>
              </a:solidFill>
              <a:latin typeface="Calibri" panose="020F0502020204030204" pitchFamily="34" charset="0"/>
              <a:cs typeface="Calibri" panose="020F0502020204030204" pitchFamily="34" charset="0"/>
            </a:endParaRPr>
          </a:p>
          <a:p>
            <a:pPr marL="0" indent="0">
              <a:lnSpc>
                <a:spcPct val="150000"/>
              </a:lnSpc>
              <a:buNone/>
            </a:pPr>
            <a:r>
              <a:rPr lang="en-US" b="1" dirty="0" smtClean="0">
                <a:solidFill>
                  <a:schemeClr val="tx1"/>
                </a:solidFill>
                <a:latin typeface="Calibri" panose="020F0502020204030204" pitchFamily="34" charset="0"/>
                <a:cs typeface="Calibri" panose="020F0502020204030204" pitchFamily="34" charset="0"/>
              </a:rPr>
              <a:t>Syntax to modify a column</a:t>
            </a:r>
          </a:p>
          <a:p>
            <a:pPr>
              <a:lnSpc>
                <a:spcPct val="150000"/>
              </a:lnSpc>
              <a:buFont typeface="Wingdings" panose="05000000000000000000" pitchFamily="2" charset="2"/>
              <a:buChar char="v"/>
            </a:pPr>
            <a:r>
              <a:rPr lang="en-US" dirty="0">
                <a:solidFill>
                  <a:schemeClr val="tx1"/>
                </a:solidFill>
                <a:latin typeface="Calibri" panose="020F0502020204030204" pitchFamily="34" charset="0"/>
                <a:cs typeface="Calibri" panose="020F0502020204030204" pitchFamily="34" charset="0"/>
              </a:rPr>
              <a:t>ALTER TABLE </a:t>
            </a:r>
            <a:r>
              <a:rPr lang="en-US" dirty="0" err="1">
                <a:solidFill>
                  <a:schemeClr val="tx1"/>
                </a:solidFill>
                <a:latin typeface="Calibri" panose="020F0502020204030204" pitchFamily="34" charset="0"/>
                <a:cs typeface="Calibri" panose="020F0502020204030204" pitchFamily="34" charset="0"/>
              </a:rPr>
              <a:t>table_name</a:t>
            </a:r>
            <a:r>
              <a:rPr lang="en-US" dirty="0">
                <a:solidFill>
                  <a:schemeClr val="tx1"/>
                </a:solidFill>
                <a:latin typeface="Calibri" panose="020F0502020204030204" pitchFamily="34" charset="0"/>
                <a:cs typeface="Calibri" panose="020F0502020204030204" pitchFamily="34" charset="0"/>
              </a:rPr>
              <a:t> MODIFY </a:t>
            </a:r>
            <a:r>
              <a:rPr lang="en-US" dirty="0" err="1">
                <a:solidFill>
                  <a:schemeClr val="tx1"/>
                </a:solidFill>
                <a:latin typeface="Calibri" panose="020F0502020204030204" pitchFamily="34" charset="0"/>
                <a:cs typeface="Calibri" panose="020F0502020204030204" pitchFamily="34" charset="0"/>
              </a:rPr>
              <a:t>column_name</a:t>
            </a:r>
            <a:r>
              <a:rPr lang="en-US" dirty="0">
                <a:solidFill>
                  <a:schemeClr val="tx1"/>
                </a:solidFill>
                <a:latin typeface="Calibri" panose="020F0502020204030204" pitchFamily="34" charset="0"/>
                <a:cs typeface="Calibri" panose="020F0502020204030204" pitchFamily="34" charset="0"/>
              </a:rPr>
              <a:t> datatype</a:t>
            </a:r>
            <a:r>
              <a:rPr lang="en-US" dirty="0" smtClean="0">
                <a:solidFill>
                  <a:schemeClr val="tx1"/>
                </a:solidFill>
                <a:latin typeface="Calibri" panose="020F0502020204030204" pitchFamily="34" charset="0"/>
                <a:cs typeface="Calibri" panose="020F0502020204030204" pitchFamily="34" charset="0"/>
              </a:rPr>
              <a:t>;</a:t>
            </a:r>
          </a:p>
          <a:p>
            <a:pPr marL="0" indent="0">
              <a:lnSpc>
                <a:spcPct val="150000"/>
              </a:lnSpc>
              <a:buNone/>
            </a:pPr>
            <a:r>
              <a:rPr lang="en-US" b="1" dirty="0">
                <a:solidFill>
                  <a:schemeClr val="tx1"/>
                </a:solidFill>
                <a:latin typeface="Calibri" panose="020F0502020204030204" pitchFamily="34" charset="0"/>
                <a:cs typeface="Calibri" panose="020F0502020204030204" pitchFamily="34" charset="0"/>
              </a:rPr>
              <a:t>For Example:</a:t>
            </a:r>
            <a:r>
              <a:rPr lang="en-US" dirty="0">
                <a:solidFill>
                  <a:schemeClr val="tx1"/>
                </a:solidFill>
                <a:latin typeface="Calibri" panose="020F0502020204030204" pitchFamily="34" charset="0"/>
                <a:cs typeface="Calibri" panose="020F0502020204030204" pitchFamily="34" charset="0"/>
              </a:rPr>
              <a:t> To modify the column salary in the employee table, the query would be </a:t>
            </a:r>
            <a:r>
              <a:rPr lang="en-US" dirty="0" smtClean="0">
                <a:solidFill>
                  <a:schemeClr val="tx1"/>
                </a:solidFill>
                <a:latin typeface="Calibri" panose="020F0502020204030204" pitchFamily="34" charset="0"/>
                <a:cs typeface="Calibri" panose="020F0502020204030204" pitchFamily="34" charset="0"/>
              </a:rPr>
              <a:t>like</a:t>
            </a:r>
          </a:p>
          <a:p>
            <a:pPr>
              <a:lnSpc>
                <a:spcPct val="150000"/>
              </a:lnSpc>
              <a:buFont typeface="Wingdings" panose="05000000000000000000" pitchFamily="2" charset="2"/>
              <a:buChar char="v"/>
            </a:pPr>
            <a:r>
              <a:rPr lang="en-US" dirty="0">
                <a:solidFill>
                  <a:schemeClr val="tx1"/>
                </a:solidFill>
                <a:latin typeface="Calibri" panose="020F0502020204030204" pitchFamily="34" charset="0"/>
                <a:cs typeface="Calibri" panose="020F0502020204030204" pitchFamily="34" charset="0"/>
              </a:rPr>
              <a:t>ALTER TABLE employee MODIFY salary number(15,2</a:t>
            </a:r>
            <a:r>
              <a:rPr lang="en-US" dirty="0" smtClean="0">
                <a:solidFill>
                  <a:schemeClr val="tx1"/>
                </a:solidFill>
                <a:latin typeface="Calibri" panose="020F0502020204030204" pitchFamily="34" charset="0"/>
                <a:cs typeface="Calibri" panose="020F0502020204030204" pitchFamily="34" charset="0"/>
              </a:rPr>
              <a:t>);</a:t>
            </a:r>
          </a:p>
        </p:txBody>
      </p:sp>
      <p:sp>
        <p:nvSpPr>
          <p:cNvPr id="5" name="TextBox 4"/>
          <p:cNvSpPr txBox="1"/>
          <p:nvPr/>
        </p:nvSpPr>
        <p:spPr>
          <a:xfrm>
            <a:off x="3657600" y="667265"/>
            <a:ext cx="3286897" cy="50783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ALTER TABLE Command</a:t>
            </a:r>
          </a:p>
        </p:txBody>
      </p:sp>
    </p:spTree>
    <p:extLst>
      <p:ext uri="{BB962C8B-B14F-4D97-AF65-F5344CB8AC3E}">
        <p14:creationId xmlns:p14="http://schemas.microsoft.com/office/powerpoint/2010/main" val="5422637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3254" y="1408670"/>
            <a:ext cx="10342606" cy="4979774"/>
          </a:xfrm>
        </p:spPr>
        <p:txBody>
          <a:bodyPr>
            <a:noAutofit/>
          </a:bodyPr>
          <a:lstStyle/>
          <a:p>
            <a:pPr marL="0" indent="0">
              <a:lnSpc>
                <a:spcPct val="150000"/>
              </a:lnSpc>
              <a:buNone/>
            </a:pPr>
            <a:r>
              <a:rPr lang="en-US" b="1" dirty="0">
                <a:solidFill>
                  <a:schemeClr val="tx1"/>
                </a:solidFill>
                <a:latin typeface="Calibri" panose="020F0502020204030204" pitchFamily="34" charset="0"/>
                <a:cs typeface="Calibri" panose="020F0502020204030204" pitchFamily="34" charset="0"/>
              </a:rPr>
              <a:t>SQL RENAME Command</a:t>
            </a:r>
          </a:p>
          <a:p>
            <a:pPr>
              <a:lnSpc>
                <a:spcPct val="150000"/>
              </a:lnSpc>
              <a:buFont typeface="Wingdings" panose="05000000000000000000" pitchFamily="2" charset="2"/>
              <a:buChar char="v"/>
            </a:pPr>
            <a:r>
              <a:rPr lang="en-US" dirty="0">
                <a:solidFill>
                  <a:schemeClr val="tx1"/>
                </a:solidFill>
                <a:latin typeface="Calibri" panose="020F0502020204030204" pitchFamily="34" charset="0"/>
                <a:cs typeface="Calibri" panose="020F0502020204030204" pitchFamily="34" charset="0"/>
              </a:rPr>
              <a:t>The SQL RENAME command is used to change the name of the table or a database object.</a:t>
            </a:r>
          </a:p>
          <a:p>
            <a:pPr>
              <a:lnSpc>
                <a:spcPct val="150000"/>
              </a:lnSpc>
              <a:buFont typeface="Wingdings" panose="05000000000000000000" pitchFamily="2" charset="2"/>
              <a:buChar char="v"/>
            </a:pPr>
            <a:r>
              <a:rPr lang="en-US" dirty="0">
                <a:solidFill>
                  <a:schemeClr val="tx1"/>
                </a:solidFill>
                <a:latin typeface="Calibri" panose="020F0502020204030204" pitchFamily="34" charset="0"/>
                <a:cs typeface="Calibri" panose="020F0502020204030204" pitchFamily="34" charset="0"/>
              </a:rPr>
              <a:t>If you change the object's name any reference to the old name will be affected. You have to manually change the old name to the new name in every reference.</a:t>
            </a:r>
          </a:p>
          <a:p>
            <a:pPr marL="0" indent="0">
              <a:lnSpc>
                <a:spcPct val="150000"/>
              </a:lnSpc>
              <a:buNone/>
            </a:pPr>
            <a:r>
              <a:rPr lang="en-US" b="1" dirty="0">
                <a:solidFill>
                  <a:schemeClr val="tx1"/>
                </a:solidFill>
                <a:latin typeface="Calibri" panose="020F0502020204030204" pitchFamily="34" charset="0"/>
                <a:cs typeface="Calibri" panose="020F0502020204030204" pitchFamily="34" charset="0"/>
              </a:rPr>
              <a:t>Syntax to rename a table</a:t>
            </a:r>
          </a:p>
          <a:p>
            <a:pPr>
              <a:lnSpc>
                <a:spcPct val="150000"/>
              </a:lnSpc>
            </a:pPr>
            <a:r>
              <a:rPr lang="en-US" dirty="0">
                <a:solidFill>
                  <a:schemeClr val="tx1"/>
                </a:solidFill>
                <a:latin typeface="Calibri" panose="020F0502020204030204" pitchFamily="34" charset="0"/>
                <a:cs typeface="Calibri" panose="020F0502020204030204" pitchFamily="34" charset="0"/>
              </a:rPr>
              <a:t>RENAME </a:t>
            </a:r>
            <a:r>
              <a:rPr lang="en-US" dirty="0" err="1">
                <a:solidFill>
                  <a:schemeClr val="tx1"/>
                </a:solidFill>
                <a:latin typeface="Calibri" panose="020F0502020204030204" pitchFamily="34" charset="0"/>
                <a:cs typeface="Calibri" panose="020F0502020204030204" pitchFamily="34" charset="0"/>
              </a:rPr>
              <a:t>old_table_name</a:t>
            </a:r>
            <a:r>
              <a:rPr lang="en-US" dirty="0">
                <a:solidFill>
                  <a:schemeClr val="tx1"/>
                </a:solidFill>
                <a:latin typeface="Calibri" panose="020F0502020204030204" pitchFamily="34" charset="0"/>
                <a:cs typeface="Calibri" panose="020F0502020204030204" pitchFamily="34" charset="0"/>
              </a:rPr>
              <a:t> To </a:t>
            </a:r>
            <a:r>
              <a:rPr lang="en-US" dirty="0" err="1">
                <a:solidFill>
                  <a:schemeClr val="tx1"/>
                </a:solidFill>
                <a:latin typeface="Calibri" panose="020F0502020204030204" pitchFamily="34" charset="0"/>
                <a:cs typeface="Calibri" panose="020F0502020204030204" pitchFamily="34" charset="0"/>
              </a:rPr>
              <a:t>new_table_name</a:t>
            </a:r>
            <a:r>
              <a:rPr lang="en-US" dirty="0" smtClean="0">
                <a:solidFill>
                  <a:schemeClr val="tx1"/>
                </a:solidFill>
                <a:latin typeface="Calibri" panose="020F0502020204030204" pitchFamily="34" charset="0"/>
                <a:cs typeface="Calibri" panose="020F0502020204030204" pitchFamily="34" charset="0"/>
              </a:rPr>
              <a:t>;</a:t>
            </a:r>
          </a:p>
          <a:p>
            <a:pPr marL="0" indent="0">
              <a:lnSpc>
                <a:spcPct val="150000"/>
              </a:lnSpc>
              <a:buNone/>
            </a:pPr>
            <a:r>
              <a:rPr lang="en-US" b="1" dirty="0">
                <a:solidFill>
                  <a:schemeClr val="tx1"/>
                </a:solidFill>
                <a:latin typeface="Calibri" panose="020F0502020204030204" pitchFamily="34" charset="0"/>
                <a:cs typeface="Calibri" panose="020F0502020204030204" pitchFamily="34" charset="0"/>
              </a:rPr>
              <a:t>For Example:</a:t>
            </a:r>
            <a:r>
              <a:rPr lang="en-US" dirty="0">
                <a:solidFill>
                  <a:schemeClr val="tx1"/>
                </a:solidFill>
                <a:latin typeface="Calibri" panose="020F0502020204030204" pitchFamily="34" charset="0"/>
                <a:cs typeface="Calibri" panose="020F0502020204030204" pitchFamily="34" charset="0"/>
              </a:rPr>
              <a:t> To change the name of the table employee to </a:t>
            </a:r>
            <a:r>
              <a:rPr lang="en-US" dirty="0" err="1">
                <a:solidFill>
                  <a:schemeClr val="tx1"/>
                </a:solidFill>
                <a:latin typeface="Calibri" panose="020F0502020204030204" pitchFamily="34" charset="0"/>
                <a:cs typeface="Calibri" panose="020F0502020204030204" pitchFamily="34" charset="0"/>
              </a:rPr>
              <a:t>my_employee</a:t>
            </a:r>
            <a:r>
              <a:rPr lang="en-US" dirty="0">
                <a:solidFill>
                  <a:schemeClr val="tx1"/>
                </a:solidFill>
                <a:latin typeface="Calibri" panose="020F0502020204030204" pitchFamily="34" charset="0"/>
                <a:cs typeface="Calibri" panose="020F0502020204030204" pitchFamily="34" charset="0"/>
              </a:rPr>
              <a:t>, the query would be like</a:t>
            </a:r>
          </a:p>
          <a:p>
            <a:pPr marL="0" indent="0">
              <a:lnSpc>
                <a:spcPct val="150000"/>
              </a:lnSpc>
              <a:buNone/>
            </a:pPr>
            <a:r>
              <a:rPr lang="en-US" dirty="0">
                <a:solidFill>
                  <a:schemeClr val="tx1"/>
                </a:solidFill>
                <a:latin typeface="Calibri" panose="020F0502020204030204" pitchFamily="34" charset="0"/>
                <a:cs typeface="Calibri" panose="020F0502020204030204" pitchFamily="34" charset="0"/>
              </a:rPr>
              <a:t>RENAME employee TO </a:t>
            </a:r>
            <a:r>
              <a:rPr lang="en-US" dirty="0" err="1">
                <a:solidFill>
                  <a:schemeClr val="tx1"/>
                </a:solidFill>
                <a:latin typeface="Calibri" panose="020F0502020204030204" pitchFamily="34" charset="0"/>
                <a:cs typeface="Calibri" panose="020F0502020204030204" pitchFamily="34" charset="0"/>
              </a:rPr>
              <a:t>my_employee</a:t>
            </a:r>
            <a:r>
              <a:rPr lang="en-US" dirty="0" smtClean="0">
                <a:solidFill>
                  <a:schemeClr val="tx1"/>
                </a:solidFill>
                <a:latin typeface="Calibri" panose="020F0502020204030204" pitchFamily="34" charset="0"/>
                <a:cs typeface="Calibri" panose="020F0502020204030204" pitchFamily="34" charset="0"/>
              </a:rPr>
              <a:t>;</a:t>
            </a:r>
            <a:endParaRPr lang="en-US" dirty="0">
              <a:solidFill>
                <a:schemeClr val="tx1"/>
              </a:solidFill>
              <a:latin typeface="Calibri" panose="020F0502020204030204" pitchFamily="34" charset="0"/>
              <a:cs typeface="Calibri" panose="020F0502020204030204" pitchFamily="34" charset="0"/>
            </a:endParaRPr>
          </a:p>
        </p:txBody>
      </p:sp>
      <p:sp>
        <p:nvSpPr>
          <p:cNvPr id="5" name="TextBox 4"/>
          <p:cNvSpPr txBox="1"/>
          <p:nvPr/>
        </p:nvSpPr>
        <p:spPr>
          <a:xfrm>
            <a:off x="3966520" y="741406"/>
            <a:ext cx="2706130" cy="507831"/>
          </a:xfrm>
          <a:prstGeom prst="rect">
            <a:avLst/>
          </a:prstGeom>
          <a:noFill/>
        </p:spPr>
        <p:txBody>
          <a:bodyPr wrap="square" rtlCol="0">
            <a:spAutoFit/>
          </a:bodyPr>
          <a:lstStyle/>
          <a:p>
            <a:pPr>
              <a:lnSpc>
                <a:spcPct val="150000"/>
              </a:lnSpc>
            </a:pPr>
            <a:r>
              <a:rPr lang="en-US" b="1" dirty="0" smtClean="0">
                <a:latin typeface="Calibri" panose="020F0502020204030204" pitchFamily="34" charset="0"/>
                <a:cs typeface="Calibri" panose="020F0502020204030204" pitchFamily="34" charset="0"/>
              </a:rPr>
              <a:t>SQL RENAME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85923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18736" y="1606380"/>
            <a:ext cx="8933935" cy="4399004"/>
          </a:xfrm>
        </p:spPr>
        <p:txBody>
          <a:bodyPr>
            <a:noAutofit/>
          </a:bodyPr>
          <a:lstStyle/>
          <a:p>
            <a:pPr>
              <a:lnSpc>
                <a:spcPct val="150000"/>
              </a:lnSpc>
            </a:pPr>
            <a:r>
              <a:rPr lang="en-US" dirty="0" smtClean="0">
                <a:solidFill>
                  <a:schemeClr val="tx1"/>
                </a:solidFill>
                <a:latin typeface="Calibri" panose="020F0502020204030204" pitchFamily="34" charset="0"/>
                <a:cs typeface="Calibri" panose="020F0502020204030204" pitchFamily="34" charset="0"/>
              </a:rPr>
              <a:t>The </a:t>
            </a:r>
            <a:r>
              <a:rPr lang="en-US" dirty="0">
                <a:solidFill>
                  <a:schemeClr val="tx1"/>
                </a:solidFill>
                <a:latin typeface="Calibri" panose="020F0502020204030204" pitchFamily="34" charset="0"/>
                <a:cs typeface="Calibri" panose="020F0502020204030204" pitchFamily="34" charset="0"/>
              </a:rPr>
              <a:t>DROP DATABASE Statement is used to drop or delete a database. </a:t>
            </a:r>
            <a:endParaRPr lang="en-US" dirty="0" smtClean="0">
              <a:solidFill>
                <a:schemeClr val="tx1"/>
              </a:solidFill>
              <a:latin typeface="Calibri" panose="020F0502020204030204" pitchFamily="34" charset="0"/>
              <a:cs typeface="Calibri" panose="020F0502020204030204" pitchFamily="34" charset="0"/>
            </a:endParaRPr>
          </a:p>
          <a:p>
            <a:pPr>
              <a:lnSpc>
                <a:spcPct val="150000"/>
              </a:lnSpc>
            </a:pPr>
            <a:r>
              <a:rPr lang="en-US" dirty="0" smtClean="0">
                <a:solidFill>
                  <a:schemeClr val="tx1"/>
                </a:solidFill>
                <a:latin typeface="Calibri" panose="020F0502020204030204" pitchFamily="34" charset="0"/>
                <a:cs typeface="Calibri" panose="020F0502020204030204" pitchFamily="34" charset="0"/>
              </a:rPr>
              <a:t>Dropping </a:t>
            </a:r>
            <a:r>
              <a:rPr lang="en-US" dirty="0">
                <a:solidFill>
                  <a:schemeClr val="tx1"/>
                </a:solidFill>
                <a:latin typeface="Calibri" panose="020F0502020204030204" pitchFamily="34" charset="0"/>
                <a:cs typeface="Calibri" panose="020F0502020204030204" pitchFamily="34" charset="0"/>
              </a:rPr>
              <a:t>of the database will drop all database objects (tables, views, procedures etc.) inside it. </a:t>
            </a:r>
            <a:endParaRPr lang="en-US" dirty="0" smtClean="0">
              <a:solidFill>
                <a:schemeClr val="tx1"/>
              </a:solidFill>
              <a:latin typeface="Calibri" panose="020F0502020204030204" pitchFamily="34" charset="0"/>
              <a:cs typeface="Calibri" panose="020F0502020204030204" pitchFamily="34" charset="0"/>
            </a:endParaRPr>
          </a:p>
          <a:p>
            <a:pPr>
              <a:lnSpc>
                <a:spcPct val="150000"/>
              </a:lnSpc>
            </a:pPr>
            <a:r>
              <a:rPr lang="en-US" dirty="0" smtClean="0">
                <a:solidFill>
                  <a:schemeClr val="tx1"/>
                </a:solidFill>
                <a:latin typeface="Calibri" panose="020F0502020204030204" pitchFamily="34" charset="0"/>
                <a:cs typeface="Calibri" panose="020F0502020204030204" pitchFamily="34" charset="0"/>
              </a:rPr>
              <a:t>The </a:t>
            </a:r>
            <a:r>
              <a:rPr lang="en-US" dirty="0">
                <a:solidFill>
                  <a:schemeClr val="tx1"/>
                </a:solidFill>
                <a:latin typeface="Calibri" panose="020F0502020204030204" pitchFamily="34" charset="0"/>
                <a:cs typeface="Calibri" panose="020F0502020204030204" pitchFamily="34" charset="0"/>
              </a:rPr>
              <a:t>user should have admin privileges for deleting a database.</a:t>
            </a:r>
          </a:p>
          <a:p>
            <a:pPr>
              <a:lnSpc>
                <a:spcPct val="150000"/>
              </a:lnSpc>
            </a:pPr>
            <a:r>
              <a:rPr lang="en-US" dirty="0">
                <a:solidFill>
                  <a:schemeClr val="tx1"/>
                </a:solidFill>
                <a:latin typeface="Calibri" panose="020F0502020204030204" pitchFamily="34" charset="0"/>
                <a:cs typeface="Calibri" panose="020F0502020204030204" pitchFamily="34" charset="0"/>
              </a:rPr>
              <a:t>The DROP statement cannot be </a:t>
            </a:r>
            <a:r>
              <a:rPr lang="en-US" dirty="0" smtClean="0">
                <a:solidFill>
                  <a:schemeClr val="tx1"/>
                </a:solidFill>
                <a:latin typeface="Calibri" panose="020F0502020204030204" pitchFamily="34" charset="0"/>
                <a:cs typeface="Calibri" panose="020F0502020204030204" pitchFamily="34" charset="0"/>
              </a:rPr>
              <a:t>rolled back.</a:t>
            </a:r>
          </a:p>
          <a:p>
            <a:pPr>
              <a:lnSpc>
                <a:spcPct val="150000"/>
              </a:lnSpc>
            </a:pPr>
            <a:r>
              <a:rPr lang="en-US" dirty="0" smtClean="0">
                <a:solidFill>
                  <a:schemeClr val="tx1"/>
                </a:solidFill>
                <a:latin typeface="Calibri" panose="020F0502020204030204" pitchFamily="34" charset="0"/>
                <a:cs typeface="Calibri" panose="020F0502020204030204" pitchFamily="34" charset="0"/>
              </a:rPr>
              <a:t>Syntax: DROP </a:t>
            </a:r>
            <a:r>
              <a:rPr lang="en-US" dirty="0">
                <a:solidFill>
                  <a:schemeClr val="tx1"/>
                </a:solidFill>
                <a:latin typeface="Calibri" panose="020F0502020204030204" pitchFamily="34" charset="0"/>
                <a:cs typeface="Calibri" panose="020F0502020204030204" pitchFamily="34" charset="0"/>
              </a:rPr>
              <a:t>DATABASE </a:t>
            </a:r>
            <a:r>
              <a:rPr lang="en-US" dirty="0" err="1">
                <a:solidFill>
                  <a:schemeClr val="tx1"/>
                </a:solidFill>
                <a:latin typeface="Calibri" panose="020F0502020204030204" pitchFamily="34" charset="0"/>
                <a:cs typeface="Calibri" panose="020F0502020204030204" pitchFamily="34" charset="0"/>
              </a:rPr>
              <a:t>database_name</a:t>
            </a:r>
            <a:r>
              <a:rPr lang="en-US" dirty="0" smtClean="0">
                <a:solidFill>
                  <a:schemeClr val="tx1"/>
                </a:solidFill>
                <a:latin typeface="Calibri" panose="020F0502020204030204" pitchFamily="34" charset="0"/>
                <a:cs typeface="Calibri" panose="020F0502020204030204" pitchFamily="34" charset="0"/>
              </a:rPr>
              <a:t>;</a:t>
            </a:r>
          </a:p>
          <a:p>
            <a:pPr>
              <a:lnSpc>
                <a:spcPct val="150000"/>
              </a:lnSpc>
            </a:pPr>
            <a:r>
              <a:rPr lang="en-US" dirty="0" smtClean="0">
                <a:solidFill>
                  <a:schemeClr val="tx1"/>
                </a:solidFill>
                <a:latin typeface="Calibri" panose="020F0502020204030204" pitchFamily="34" charset="0"/>
                <a:cs typeface="Calibri" panose="020F0502020204030204" pitchFamily="34" charset="0"/>
              </a:rPr>
              <a:t>Example </a:t>
            </a:r>
            <a:r>
              <a:rPr lang="en-US" dirty="0">
                <a:solidFill>
                  <a:schemeClr val="tx1"/>
                </a:solidFill>
                <a:latin typeface="Calibri" panose="020F0502020204030204" pitchFamily="34" charset="0"/>
                <a:cs typeface="Calibri" panose="020F0502020204030204" pitchFamily="34" charset="0"/>
              </a:rPr>
              <a:t>DROP DATABASE </a:t>
            </a:r>
            <a:r>
              <a:rPr lang="en-US" dirty="0" err="1" smtClean="0">
                <a:solidFill>
                  <a:schemeClr val="tx1"/>
                </a:solidFill>
                <a:latin typeface="Calibri" panose="020F0502020204030204" pitchFamily="34" charset="0"/>
                <a:cs typeface="Calibri" panose="020F0502020204030204" pitchFamily="34" charset="0"/>
              </a:rPr>
              <a:t>MyDatabase</a:t>
            </a:r>
            <a:r>
              <a:rPr lang="en-US" dirty="0" smtClean="0">
                <a:solidFill>
                  <a:schemeClr val="tx1"/>
                </a:solidFill>
                <a:latin typeface="Calibri" panose="020F0502020204030204" pitchFamily="34" charset="0"/>
                <a:cs typeface="Calibri" panose="020F0502020204030204" pitchFamily="34" charset="0"/>
              </a:rPr>
              <a:t>;</a:t>
            </a:r>
            <a:endParaRPr lang="en-US" dirty="0">
              <a:solidFill>
                <a:schemeClr val="tx1"/>
              </a:solidFill>
              <a:latin typeface="Calibri" panose="020F0502020204030204" pitchFamily="34" charset="0"/>
              <a:cs typeface="Calibri" panose="020F0502020204030204" pitchFamily="34" charset="0"/>
            </a:endParaRPr>
          </a:p>
        </p:txBody>
      </p:sp>
      <p:sp>
        <p:nvSpPr>
          <p:cNvPr id="5" name="TextBox 4"/>
          <p:cNvSpPr txBox="1"/>
          <p:nvPr/>
        </p:nvSpPr>
        <p:spPr>
          <a:xfrm>
            <a:off x="3657600" y="667265"/>
            <a:ext cx="3286897" cy="46487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DROP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29690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22171" y="1705232"/>
            <a:ext cx="9761839" cy="3970318"/>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INSERT Statement is used to add new rows of data to a table.</a:t>
            </a:r>
          </a:p>
          <a:p>
            <a:pPr>
              <a:lnSpc>
                <a:spcPct val="200000"/>
              </a:lnSpc>
            </a:pPr>
            <a:r>
              <a:rPr lang="en-US" b="1" dirty="0">
                <a:latin typeface="Calibri" panose="020F0502020204030204" pitchFamily="34" charset="0"/>
                <a:cs typeface="Calibri" panose="020F0502020204030204" pitchFamily="34" charset="0"/>
              </a:rPr>
              <a:t>Syntax for SQL INSERT is:</a:t>
            </a:r>
          </a:p>
          <a:p>
            <a:pPr>
              <a:lnSpc>
                <a:spcPct val="200000"/>
              </a:lnSpc>
            </a:pPr>
            <a:r>
              <a:rPr lang="en-US" dirty="0">
                <a:latin typeface="Calibri" panose="020F0502020204030204" pitchFamily="34" charset="0"/>
                <a:cs typeface="Calibri" panose="020F0502020204030204" pitchFamily="34" charset="0"/>
              </a:rPr>
              <a:t>INSERT INTO </a:t>
            </a:r>
            <a:r>
              <a:rPr lang="en-US" dirty="0" smtClean="0">
                <a:latin typeface="Calibri" panose="020F0502020204030204" pitchFamily="34" charset="0"/>
                <a:cs typeface="Calibri" panose="020F0502020204030204" pitchFamily="34" charset="0"/>
              </a:rPr>
              <a:t>TABLE_NAME (</a:t>
            </a:r>
            <a:r>
              <a:rPr lang="en-US" dirty="0">
                <a:latin typeface="Calibri" panose="020F0502020204030204" pitchFamily="34" charset="0"/>
                <a:cs typeface="Calibri" panose="020F0502020204030204" pitchFamily="34" charset="0"/>
              </a:rPr>
              <a:t>col1, col2, col3,...</a:t>
            </a:r>
            <a:r>
              <a:rPr lang="en-US" dirty="0" err="1" smtClean="0">
                <a:latin typeface="Calibri" panose="020F0502020204030204" pitchFamily="34" charset="0"/>
                <a:cs typeface="Calibri" panose="020F0502020204030204" pitchFamily="34" charset="0"/>
              </a:rPr>
              <a:t>colN</a:t>
            </a:r>
            <a:r>
              <a:rPr lang="en-US" dirty="0" smtClean="0">
                <a:latin typeface="Calibri" panose="020F0502020204030204" pitchFamily="34" charset="0"/>
                <a:cs typeface="Calibri" panose="020F0502020204030204" pitchFamily="34" charset="0"/>
              </a:rPr>
              <a:t>) VALUES </a:t>
            </a:r>
            <a:r>
              <a:rPr lang="en-US" dirty="0">
                <a:latin typeface="Calibri" panose="020F0502020204030204" pitchFamily="34" charset="0"/>
                <a:cs typeface="Calibri" panose="020F0502020204030204" pitchFamily="34" charset="0"/>
              </a:rPr>
              <a:t>(value1, value2, value3,...</a:t>
            </a:r>
            <a:r>
              <a:rPr lang="en-US" dirty="0" err="1">
                <a:latin typeface="Calibri" panose="020F0502020204030204" pitchFamily="34" charset="0"/>
                <a:cs typeface="Calibri" panose="020F0502020204030204" pitchFamily="34" charset="0"/>
              </a:rPr>
              <a:t>valueN</a:t>
            </a:r>
            <a:r>
              <a:rPr lang="en-US" dirty="0" smtClean="0">
                <a:latin typeface="Calibri" panose="020F0502020204030204" pitchFamily="34" charset="0"/>
                <a:cs typeface="Calibri" panose="020F0502020204030204" pitchFamily="34" charset="0"/>
              </a:rPr>
              <a:t>);</a:t>
            </a:r>
          </a:p>
          <a:p>
            <a:pPr marL="285750" indent="-285750">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While inserting a row, if you </a:t>
            </a:r>
            <a:r>
              <a:rPr lang="en-US" dirty="0" smtClean="0">
                <a:latin typeface="Calibri" panose="020F0502020204030204" pitchFamily="34" charset="0"/>
                <a:cs typeface="Calibri" panose="020F0502020204030204" pitchFamily="34" charset="0"/>
              </a:rPr>
              <a:t>are to insert a value to each column </a:t>
            </a:r>
            <a:r>
              <a:rPr lang="en-US" dirty="0">
                <a:latin typeface="Calibri" panose="020F0502020204030204" pitchFamily="34" charset="0"/>
                <a:cs typeface="Calibri" panose="020F0502020204030204" pitchFamily="34" charset="0"/>
              </a:rPr>
              <a:t>of the table </a:t>
            </a:r>
            <a:r>
              <a:rPr lang="en-US" dirty="0" smtClean="0">
                <a:latin typeface="Calibri" panose="020F0502020204030204" pitchFamily="34" charset="0"/>
                <a:cs typeface="Calibri" panose="020F0502020204030204" pitchFamily="34" charset="0"/>
              </a:rPr>
              <a:t>you do no need to </a:t>
            </a:r>
            <a:r>
              <a:rPr lang="en-US" dirty="0">
                <a:latin typeface="Calibri" panose="020F0502020204030204" pitchFamily="34" charset="0"/>
                <a:cs typeface="Calibri" panose="020F0502020204030204" pitchFamily="34" charset="0"/>
              </a:rPr>
              <a:t>specify the column(s) name in the </a:t>
            </a:r>
            <a:r>
              <a:rPr lang="en-US" dirty="0" smtClean="0">
                <a:latin typeface="Calibri" panose="020F0502020204030204" pitchFamily="34" charset="0"/>
                <a:cs typeface="Calibri" panose="020F0502020204030204" pitchFamily="34" charset="0"/>
              </a:rPr>
              <a:t>SQL statement. </a:t>
            </a:r>
            <a:r>
              <a:rPr lang="en-US" dirty="0">
                <a:latin typeface="Calibri" panose="020F0502020204030204" pitchFamily="34" charset="0"/>
                <a:cs typeface="Calibri" panose="020F0502020204030204" pitchFamily="34" charset="0"/>
              </a:rPr>
              <a:t>But you need to make sure the order of the values is in the same order as the columns in the table. The </a:t>
            </a:r>
            <a:r>
              <a:rPr lang="en-US" dirty="0" err="1">
                <a:latin typeface="Calibri" panose="020F0502020204030204" pitchFamily="34" charset="0"/>
                <a:cs typeface="Calibri" panose="020F0502020204030204" pitchFamily="34" charset="0"/>
              </a:rPr>
              <a:t>sql</a:t>
            </a:r>
            <a:r>
              <a:rPr lang="en-US" dirty="0">
                <a:latin typeface="Calibri" panose="020F0502020204030204" pitchFamily="34" charset="0"/>
                <a:cs typeface="Calibri" panose="020F0502020204030204" pitchFamily="34" charset="0"/>
              </a:rPr>
              <a:t> insert query will be as </a:t>
            </a:r>
            <a:r>
              <a:rPr lang="en-US" dirty="0" smtClean="0">
                <a:latin typeface="Calibri" panose="020F0502020204030204" pitchFamily="34" charset="0"/>
                <a:cs typeface="Calibri" panose="020F0502020204030204" pitchFamily="34" charset="0"/>
              </a:rPr>
              <a:t>follows</a:t>
            </a:r>
          </a:p>
          <a:p>
            <a:pPr>
              <a:lnSpc>
                <a:spcPct val="200000"/>
              </a:lnSpc>
            </a:pPr>
            <a:r>
              <a:rPr lang="en-US" dirty="0">
                <a:latin typeface="Calibri" panose="020F0502020204030204" pitchFamily="34" charset="0"/>
                <a:cs typeface="Calibri" panose="020F0502020204030204" pitchFamily="34" charset="0"/>
              </a:rPr>
              <a:t>INSERT INTO </a:t>
            </a:r>
            <a:r>
              <a:rPr lang="en-US" dirty="0" smtClean="0">
                <a:latin typeface="Calibri" panose="020F0502020204030204" pitchFamily="34" charset="0"/>
                <a:cs typeface="Calibri" panose="020F0502020204030204" pitchFamily="34" charset="0"/>
              </a:rPr>
              <a:t>TABLE_NAME VALUES </a:t>
            </a:r>
            <a:r>
              <a:rPr lang="en-US" dirty="0">
                <a:latin typeface="Calibri" panose="020F0502020204030204" pitchFamily="34" charset="0"/>
                <a:cs typeface="Calibri" panose="020F0502020204030204" pitchFamily="34" charset="0"/>
              </a:rPr>
              <a:t>(value1, value2, value3,...</a:t>
            </a:r>
            <a:r>
              <a:rPr lang="en-US" dirty="0" err="1">
                <a:latin typeface="Calibri" panose="020F0502020204030204" pitchFamily="34" charset="0"/>
                <a:cs typeface="Calibri" panose="020F0502020204030204" pitchFamily="34" charset="0"/>
              </a:rPr>
              <a:t>valueN</a:t>
            </a:r>
            <a:r>
              <a:rPr lang="en-US" dirty="0">
                <a:latin typeface="Calibri" panose="020F0502020204030204" pitchFamily="34" charset="0"/>
                <a:cs typeface="Calibri" panose="020F0502020204030204" pitchFamily="34" charset="0"/>
              </a:rPr>
              <a:t>);</a:t>
            </a:r>
          </a:p>
        </p:txBody>
      </p:sp>
      <p:sp>
        <p:nvSpPr>
          <p:cNvPr id="3" name="TextBox 2"/>
          <p:cNvSpPr txBox="1"/>
          <p:nvPr/>
        </p:nvSpPr>
        <p:spPr>
          <a:xfrm>
            <a:off x="3632886" y="667266"/>
            <a:ext cx="3286897" cy="50783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INSERT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67557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3956" y="1606379"/>
            <a:ext cx="9267569" cy="3416320"/>
          </a:xfrm>
          <a:prstGeom prst="rect">
            <a:avLst/>
          </a:prstGeom>
          <a:noFill/>
        </p:spPr>
        <p:txBody>
          <a:bodyPr wrap="square" rtlCol="0">
            <a:spAutoFit/>
          </a:bodyPr>
          <a:lstStyle/>
          <a:p>
            <a:pPr>
              <a:lnSpc>
                <a:spcPct val="200000"/>
              </a:lnSpc>
            </a:pPr>
            <a:r>
              <a:rPr lang="en-US" b="1" dirty="0" smtClean="0">
                <a:latin typeface="Calibri" panose="020F0502020204030204" pitchFamily="34" charset="0"/>
                <a:cs typeface="Calibri" panose="020F0502020204030204" pitchFamily="34" charset="0"/>
              </a:rPr>
              <a:t>For Example:</a:t>
            </a:r>
            <a:r>
              <a:rPr lang="en-US" dirty="0" smtClean="0">
                <a:latin typeface="Calibri" panose="020F0502020204030204" pitchFamily="34" charset="0"/>
                <a:cs typeface="Calibri" panose="020F0502020204030204" pitchFamily="34" charset="0"/>
              </a:rPr>
              <a:t> If you want to insert a row to the employee table, the query would be like,</a:t>
            </a:r>
          </a:p>
          <a:p>
            <a:pPr>
              <a:lnSpc>
                <a:spcPct val="200000"/>
              </a:lnSpc>
            </a:pPr>
            <a:r>
              <a:rPr lang="en-US" dirty="0" smtClean="0">
                <a:latin typeface="Calibri" panose="020F0502020204030204" pitchFamily="34" charset="0"/>
                <a:cs typeface="Calibri" panose="020F0502020204030204" pitchFamily="34" charset="0"/>
              </a:rPr>
              <a:t>INSERT INTO employee (id, name, </a:t>
            </a:r>
            <a:r>
              <a:rPr lang="en-US" dirty="0" err="1" smtClean="0">
                <a:latin typeface="Calibri" panose="020F0502020204030204" pitchFamily="34" charset="0"/>
                <a:cs typeface="Calibri" panose="020F0502020204030204" pitchFamily="34" charset="0"/>
              </a:rPr>
              <a:t>dept</a:t>
            </a:r>
            <a:r>
              <a:rPr lang="en-US" dirty="0" smtClean="0">
                <a:latin typeface="Calibri" panose="020F0502020204030204" pitchFamily="34" charset="0"/>
                <a:cs typeface="Calibri" panose="020F0502020204030204" pitchFamily="34" charset="0"/>
              </a:rPr>
              <a:t>, age, salary location) VALUES (105, '</a:t>
            </a:r>
            <a:r>
              <a:rPr lang="en-US" dirty="0" err="1" smtClean="0">
                <a:latin typeface="Calibri" panose="020F0502020204030204" pitchFamily="34" charset="0"/>
                <a:cs typeface="Calibri" panose="020F0502020204030204" pitchFamily="34" charset="0"/>
              </a:rPr>
              <a:t>Srinath</a:t>
            </a:r>
            <a:r>
              <a:rPr lang="en-US" dirty="0" smtClean="0">
                <a:latin typeface="Calibri" panose="020F0502020204030204" pitchFamily="34" charset="0"/>
                <a:cs typeface="Calibri" panose="020F0502020204030204" pitchFamily="34" charset="0"/>
              </a:rPr>
              <a:t>', 'Aeronautics', 27, 33000);</a:t>
            </a:r>
          </a:p>
          <a:p>
            <a:pPr marL="285750" indent="-28575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If you are inserting data to all the columns, the column names can be omitted. The above insert statement can also be written as,</a:t>
            </a:r>
          </a:p>
          <a:p>
            <a:pPr>
              <a:lnSpc>
                <a:spcPct val="200000"/>
              </a:lnSpc>
            </a:pPr>
            <a:r>
              <a:rPr lang="en-US" dirty="0" smtClean="0">
                <a:latin typeface="Calibri" panose="020F0502020204030204" pitchFamily="34" charset="0"/>
                <a:cs typeface="Calibri" panose="020F0502020204030204" pitchFamily="34" charset="0"/>
              </a:rPr>
              <a:t>INSERT INTO employee VALUES (105, '</a:t>
            </a:r>
            <a:r>
              <a:rPr lang="en-US" dirty="0" err="1" smtClean="0">
                <a:latin typeface="Calibri" panose="020F0502020204030204" pitchFamily="34" charset="0"/>
                <a:cs typeface="Calibri" panose="020F0502020204030204" pitchFamily="34" charset="0"/>
              </a:rPr>
              <a:t>Srinath</a:t>
            </a:r>
            <a:r>
              <a:rPr lang="en-US" dirty="0" smtClean="0">
                <a:latin typeface="Calibri" panose="020F0502020204030204" pitchFamily="34" charset="0"/>
                <a:cs typeface="Calibri" panose="020F0502020204030204" pitchFamily="34" charset="0"/>
              </a:rPr>
              <a:t>', 'Aeronautics', 27, 33000);</a:t>
            </a:r>
          </a:p>
        </p:txBody>
      </p:sp>
      <p:sp>
        <p:nvSpPr>
          <p:cNvPr id="3" name="TextBox 2"/>
          <p:cNvSpPr txBox="1"/>
          <p:nvPr/>
        </p:nvSpPr>
        <p:spPr>
          <a:xfrm>
            <a:off x="3805881" y="753763"/>
            <a:ext cx="3286897" cy="46487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INSERT Command example</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906269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9817" y="1655806"/>
            <a:ext cx="8933935" cy="3231654"/>
          </a:xfrm>
          <a:prstGeom prst="rect">
            <a:avLst/>
          </a:prstGeom>
          <a:noFill/>
        </p:spPr>
        <p:txBody>
          <a:bodyPr wrap="square" rtlCol="0">
            <a:spAutoFit/>
          </a:bodyPr>
          <a:lstStyle/>
          <a:p>
            <a:pPr>
              <a:lnSpc>
                <a:spcPct val="200000"/>
              </a:lnSpc>
            </a:pPr>
            <a:r>
              <a:rPr lang="en-US" sz="1700" b="1" dirty="0">
                <a:latin typeface="Calibri" panose="020F0502020204030204" pitchFamily="34" charset="0"/>
                <a:cs typeface="Calibri" panose="020F0502020204030204" pitchFamily="34" charset="0"/>
              </a:rPr>
              <a:t>SQL UPDATE Statement</a:t>
            </a:r>
          </a:p>
          <a:p>
            <a:pPr>
              <a:lnSpc>
                <a:spcPct val="200000"/>
              </a:lnSpc>
            </a:pPr>
            <a:r>
              <a:rPr lang="en-US" sz="1700" dirty="0">
                <a:latin typeface="Calibri" panose="020F0502020204030204" pitchFamily="34" charset="0"/>
                <a:cs typeface="Calibri" panose="020F0502020204030204" pitchFamily="34" charset="0"/>
              </a:rPr>
              <a:t>The UPDATE Statement is used to modify the existing rows in a table.</a:t>
            </a:r>
          </a:p>
          <a:p>
            <a:pPr>
              <a:lnSpc>
                <a:spcPct val="200000"/>
              </a:lnSpc>
            </a:pPr>
            <a:r>
              <a:rPr lang="en-US" sz="1700" b="1" dirty="0">
                <a:latin typeface="Calibri" panose="020F0502020204030204" pitchFamily="34" charset="0"/>
                <a:cs typeface="Calibri" panose="020F0502020204030204" pitchFamily="34" charset="0"/>
              </a:rPr>
              <a:t>The Syntax for SQL UPDATE Command is:</a:t>
            </a:r>
          </a:p>
          <a:p>
            <a:pPr>
              <a:lnSpc>
                <a:spcPct val="200000"/>
              </a:lnSpc>
            </a:pPr>
            <a:r>
              <a:rPr lang="en-US" sz="1700" dirty="0">
                <a:latin typeface="Calibri" panose="020F0502020204030204" pitchFamily="34" charset="0"/>
                <a:cs typeface="Calibri" panose="020F0502020204030204" pitchFamily="34" charset="0"/>
              </a:rPr>
              <a:t>UPDATE </a:t>
            </a:r>
            <a:r>
              <a:rPr lang="en-US" sz="1700" dirty="0" err="1" smtClean="0">
                <a:latin typeface="Calibri" panose="020F0502020204030204" pitchFamily="34" charset="0"/>
                <a:cs typeface="Calibri" panose="020F0502020204030204" pitchFamily="34" charset="0"/>
              </a:rPr>
              <a:t>table_name</a:t>
            </a:r>
            <a:r>
              <a:rPr lang="en-US" sz="1700" dirty="0" smtClean="0">
                <a:latin typeface="Calibri" panose="020F0502020204030204" pitchFamily="34" charset="0"/>
                <a:cs typeface="Calibri" panose="020F0502020204030204" pitchFamily="34" charset="0"/>
              </a:rPr>
              <a:t> SET </a:t>
            </a:r>
            <a:r>
              <a:rPr lang="en-US" sz="1700" dirty="0">
                <a:latin typeface="Calibri" panose="020F0502020204030204" pitchFamily="34" charset="0"/>
                <a:cs typeface="Calibri" panose="020F0502020204030204" pitchFamily="34" charset="0"/>
              </a:rPr>
              <a:t>column_name1 = </a:t>
            </a:r>
            <a:r>
              <a:rPr lang="en-US" sz="1700" dirty="0" smtClean="0">
                <a:latin typeface="Calibri" panose="020F0502020204030204" pitchFamily="34" charset="0"/>
                <a:cs typeface="Calibri" panose="020F0502020204030204" pitchFamily="34" charset="0"/>
              </a:rPr>
              <a:t>value1, column_name2 </a:t>
            </a:r>
            <a:r>
              <a:rPr lang="en-US" sz="1700" dirty="0">
                <a:latin typeface="Calibri" panose="020F0502020204030204" pitchFamily="34" charset="0"/>
                <a:cs typeface="Calibri" panose="020F0502020204030204" pitchFamily="34" charset="0"/>
              </a:rPr>
              <a:t>= value2, </a:t>
            </a:r>
            <a:r>
              <a:rPr lang="en-US" sz="1700" dirty="0" smtClean="0">
                <a:latin typeface="Calibri" panose="020F0502020204030204" pitchFamily="34" charset="0"/>
                <a:cs typeface="Calibri" panose="020F0502020204030204" pitchFamily="34" charset="0"/>
              </a:rPr>
              <a:t>... [</a:t>
            </a:r>
            <a:r>
              <a:rPr lang="en-US" sz="1700" dirty="0">
                <a:latin typeface="Calibri" panose="020F0502020204030204" pitchFamily="34" charset="0"/>
                <a:cs typeface="Calibri" panose="020F0502020204030204" pitchFamily="34" charset="0"/>
              </a:rPr>
              <a:t>WHERE condition</a:t>
            </a:r>
            <a:r>
              <a:rPr lang="en-US" sz="1700" dirty="0" smtClean="0">
                <a:latin typeface="Calibri" panose="020F0502020204030204" pitchFamily="34" charset="0"/>
                <a:cs typeface="Calibri" panose="020F0502020204030204" pitchFamily="34" charset="0"/>
              </a:rPr>
              <a:t>]</a:t>
            </a:r>
          </a:p>
          <a:p>
            <a:pPr>
              <a:lnSpc>
                <a:spcPct val="200000"/>
              </a:lnSpc>
            </a:pPr>
            <a:r>
              <a:rPr lang="en-US" sz="1700" b="1" dirty="0">
                <a:latin typeface="Calibri" panose="020F0502020204030204" pitchFamily="34" charset="0"/>
                <a:cs typeface="Calibri" panose="020F0502020204030204" pitchFamily="34" charset="0"/>
              </a:rPr>
              <a:t>NOTE</a:t>
            </a:r>
            <a:r>
              <a:rPr lang="en-US" sz="1700" b="1" dirty="0" smtClean="0">
                <a:latin typeface="Calibri" panose="020F0502020204030204" pitchFamily="34" charset="0"/>
                <a:cs typeface="Calibri" panose="020F0502020204030204" pitchFamily="34" charset="0"/>
              </a:rPr>
              <a:t>: </a:t>
            </a:r>
            <a:r>
              <a:rPr lang="en-US" sz="1700" dirty="0" smtClean="0">
                <a:latin typeface="Calibri" panose="020F0502020204030204" pitchFamily="34" charset="0"/>
                <a:cs typeface="Calibri" panose="020F0502020204030204" pitchFamily="34" charset="0"/>
              </a:rPr>
              <a:t>In </a:t>
            </a:r>
            <a:r>
              <a:rPr lang="en-US" sz="1700" dirty="0">
                <a:latin typeface="Calibri" panose="020F0502020204030204" pitchFamily="34" charset="0"/>
                <a:cs typeface="Calibri" panose="020F0502020204030204" pitchFamily="34" charset="0"/>
              </a:rPr>
              <a:t>the Update statement, WHERE clause identifies the rows that get affected. If you do not include the WHERE clause, column values for all the rows get affected</a:t>
            </a:r>
            <a:r>
              <a:rPr lang="en-US" sz="1700" dirty="0" smtClean="0">
                <a:latin typeface="Calibri" panose="020F0502020204030204" pitchFamily="34" charset="0"/>
                <a:cs typeface="Calibri" panose="020F0502020204030204" pitchFamily="34" charset="0"/>
              </a:rPr>
              <a:t>.</a:t>
            </a:r>
            <a:endParaRPr lang="en-US" sz="1700" dirty="0">
              <a:latin typeface="Calibri" panose="020F0502020204030204" pitchFamily="34" charset="0"/>
              <a:cs typeface="Calibri" panose="020F0502020204030204" pitchFamily="34" charset="0"/>
            </a:endParaRPr>
          </a:p>
        </p:txBody>
      </p:sp>
      <p:sp>
        <p:nvSpPr>
          <p:cNvPr id="3" name="TextBox 2"/>
          <p:cNvSpPr txBox="1"/>
          <p:nvPr/>
        </p:nvSpPr>
        <p:spPr>
          <a:xfrm>
            <a:off x="3632886" y="667266"/>
            <a:ext cx="3286897" cy="46487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UPDATE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10537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17588" y="1445740"/>
            <a:ext cx="8377882" cy="4278094"/>
          </a:xfrm>
          <a:prstGeom prst="rect">
            <a:avLst/>
          </a:prstGeom>
          <a:noFill/>
        </p:spPr>
        <p:txBody>
          <a:bodyPr wrap="square" rtlCol="0">
            <a:spAutoFit/>
          </a:bodyPr>
          <a:lstStyle/>
          <a:p>
            <a:pPr>
              <a:lnSpc>
                <a:spcPct val="200000"/>
              </a:lnSpc>
            </a:pPr>
            <a:r>
              <a:rPr lang="en-US" sz="1700" b="1" dirty="0" smtClean="0">
                <a:latin typeface="Calibri" panose="020F0502020204030204" pitchFamily="34" charset="0"/>
                <a:cs typeface="Calibri" panose="020F0502020204030204" pitchFamily="34" charset="0"/>
              </a:rPr>
              <a:t>For </a:t>
            </a:r>
            <a:r>
              <a:rPr lang="en-US" sz="1700" b="1" dirty="0">
                <a:latin typeface="Calibri" panose="020F0502020204030204" pitchFamily="34" charset="0"/>
                <a:cs typeface="Calibri" panose="020F0502020204030204" pitchFamily="34" charset="0"/>
              </a:rPr>
              <a:t>Example:</a:t>
            </a:r>
            <a:r>
              <a:rPr lang="en-US" sz="1700" dirty="0">
                <a:latin typeface="Calibri" panose="020F0502020204030204" pitchFamily="34" charset="0"/>
                <a:cs typeface="Calibri" panose="020F0502020204030204" pitchFamily="34" charset="0"/>
              </a:rPr>
              <a:t> To update the location of an employee, the </a:t>
            </a:r>
            <a:r>
              <a:rPr lang="en-US" sz="1700" dirty="0" smtClean="0">
                <a:latin typeface="Calibri" panose="020F0502020204030204" pitchFamily="34" charset="0"/>
                <a:cs typeface="Calibri" panose="020F0502020204030204" pitchFamily="34" charset="0"/>
              </a:rPr>
              <a:t>SQL update statement </a:t>
            </a:r>
            <a:r>
              <a:rPr lang="en-US" sz="1700" dirty="0">
                <a:latin typeface="Calibri" panose="020F0502020204030204" pitchFamily="34" charset="0"/>
                <a:cs typeface="Calibri" panose="020F0502020204030204" pitchFamily="34" charset="0"/>
              </a:rPr>
              <a:t>would be like,</a:t>
            </a:r>
          </a:p>
          <a:p>
            <a:pPr>
              <a:lnSpc>
                <a:spcPct val="200000"/>
              </a:lnSpc>
            </a:pPr>
            <a:r>
              <a:rPr lang="en-US" sz="1700" dirty="0">
                <a:latin typeface="Calibri" panose="020F0502020204030204" pitchFamily="34" charset="0"/>
                <a:cs typeface="Calibri" panose="020F0502020204030204" pitchFamily="34" charset="0"/>
              </a:rPr>
              <a:t>UPDATE employee</a:t>
            </a:r>
            <a:br>
              <a:rPr lang="en-US" sz="1700" dirty="0">
                <a:latin typeface="Calibri" panose="020F0502020204030204" pitchFamily="34" charset="0"/>
                <a:cs typeface="Calibri" panose="020F0502020204030204" pitchFamily="34" charset="0"/>
              </a:rPr>
            </a:br>
            <a:r>
              <a:rPr lang="en-US" sz="1700" dirty="0">
                <a:latin typeface="Calibri" panose="020F0502020204030204" pitchFamily="34" charset="0"/>
                <a:cs typeface="Calibri" panose="020F0502020204030204" pitchFamily="34" charset="0"/>
              </a:rPr>
              <a:t>SET location ='Mysore'</a:t>
            </a:r>
            <a:br>
              <a:rPr lang="en-US" sz="1700" dirty="0">
                <a:latin typeface="Calibri" panose="020F0502020204030204" pitchFamily="34" charset="0"/>
                <a:cs typeface="Calibri" panose="020F0502020204030204" pitchFamily="34" charset="0"/>
              </a:rPr>
            </a:br>
            <a:r>
              <a:rPr lang="en-US" sz="1700" dirty="0">
                <a:latin typeface="Calibri" panose="020F0502020204030204" pitchFamily="34" charset="0"/>
                <a:cs typeface="Calibri" panose="020F0502020204030204" pitchFamily="34" charset="0"/>
              </a:rPr>
              <a:t>WHERE id = 101</a:t>
            </a:r>
            <a:r>
              <a:rPr lang="en-US" sz="1700" dirty="0" smtClean="0">
                <a:latin typeface="Calibri" panose="020F0502020204030204" pitchFamily="34" charset="0"/>
                <a:cs typeface="Calibri" panose="020F0502020204030204" pitchFamily="34" charset="0"/>
              </a:rPr>
              <a:t>;</a:t>
            </a:r>
          </a:p>
          <a:p>
            <a:pPr>
              <a:lnSpc>
                <a:spcPct val="200000"/>
              </a:lnSpc>
            </a:pPr>
            <a:r>
              <a:rPr lang="en-US" sz="1700" dirty="0">
                <a:latin typeface="Calibri" panose="020F0502020204030204" pitchFamily="34" charset="0"/>
                <a:cs typeface="Calibri" panose="020F0502020204030204" pitchFamily="34" charset="0"/>
              </a:rPr>
              <a:t>To change the salaries of all the employees, the query would be</a:t>
            </a:r>
            <a:r>
              <a:rPr lang="en-US" sz="1700" dirty="0" smtClean="0">
                <a:latin typeface="Calibri" panose="020F0502020204030204" pitchFamily="34" charset="0"/>
                <a:cs typeface="Calibri" panose="020F0502020204030204" pitchFamily="34" charset="0"/>
              </a:rPr>
              <a:t>,</a:t>
            </a:r>
          </a:p>
          <a:p>
            <a:pPr>
              <a:lnSpc>
                <a:spcPct val="200000"/>
              </a:lnSpc>
            </a:pPr>
            <a:r>
              <a:rPr lang="en-US" sz="1700" dirty="0">
                <a:latin typeface="Calibri" panose="020F0502020204030204" pitchFamily="34" charset="0"/>
                <a:cs typeface="Calibri" panose="020F0502020204030204" pitchFamily="34" charset="0"/>
              </a:rPr>
              <a:t>UPDATE employee</a:t>
            </a:r>
            <a:br>
              <a:rPr lang="en-US" sz="1700" dirty="0">
                <a:latin typeface="Calibri" panose="020F0502020204030204" pitchFamily="34" charset="0"/>
                <a:cs typeface="Calibri" panose="020F0502020204030204" pitchFamily="34" charset="0"/>
              </a:rPr>
            </a:br>
            <a:r>
              <a:rPr lang="en-US" sz="1700" dirty="0">
                <a:latin typeface="Calibri" panose="020F0502020204030204" pitchFamily="34" charset="0"/>
                <a:cs typeface="Calibri" panose="020F0502020204030204" pitchFamily="34" charset="0"/>
              </a:rPr>
              <a:t>SET salary = salary + </a:t>
            </a:r>
            <a:r>
              <a:rPr lang="en-US" sz="1700" dirty="0" smtClean="0">
                <a:latin typeface="Calibri" panose="020F0502020204030204" pitchFamily="34" charset="0"/>
                <a:cs typeface="Calibri" panose="020F0502020204030204" pitchFamily="34" charset="0"/>
              </a:rPr>
              <a:t>2000;</a:t>
            </a:r>
            <a:endParaRPr lang="en-US" sz="1700" dirty="0">
              <a:latin typeface="Calibri" panose="020F0502020204030204" pitchFamily="34" charset="0"/>
              <a:cs typeface="Calibri" panose="020F0502020204030204" pitchFamily="34" charset="0"/>
            </a:endParaRPr>
          </a:p>
        </p:txBody>
      </p:sp>
      <p:sp>
        <p:nvSpPr>
          <p:cNvPr id="3" name="TextBox 2"/>
          <p:cNvSpPr txBox="1"/>
          <p:nvPr/>
        </p:nvSpPr>
        <p:spPr>
          <a:xfrm>
            <a:off x="3632886" y="667266"/>
            <a:ext cx="3286897" cy="46487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UPDATE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23449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9113" y="1318248"/>
            <a:ext cx="10354961" cy="5324535"/>
          </a:xfrm>
          <a:prstGeom prst="rect">
            <a:avLst/>
          </a:prstGeom>
          <a:noFill/>
        </p:spPr>
        <p:txBody>
          <a:bodyPr wrap="square" rtlCol="0">
            <a:spAutoFit/>
          </a:bodyPr>
          <a:lstStyle/>
          <a:p>
            <a:pPr>
              <a:lnSpc>
                <a:spcPct val="200000"/>
              </a:lnSpc>
            </a:pPr>
            <a:r>
              <a:rPr lang="en-US" sz="1700" dirty="0" smtClean="0">
                <a:latin typeface="Calibri" panose="020F0502020204030204" pitchFamily="34" charset="0"/>
                <a:cs typeface="Calibri" panose="020F0502020204030204" pitchFamily="34" charset="0"/>
              </a:rPr>
              <a:t>The </a:t>
            </a:r>
            <a:r>
              <a:rPr lang="en-US" sz="1700" dirty="0">
                <a:latin typeface="Calibri" panose="020F0502020204030204" pitchFamily="34" charset="0"/>
                <a:cs typeface="Calibri" panose="020F0502020204030204" pitchFamily="34" charset="0"/>
              </a:rPr>
              <a:t>DELETE Statement is used to delete rows from a table.</a:t>
            </a:r>
          </a:p>
          <a:p>
            <a:pPr>
              <a:lnSpc>
                <a:spcPct val="200000"/>
              </a:lnSpc>
            </a:pPr>
            <a:r>
              <a:rPr lang="en-US" sz="1700" b="1" dirty="0">
                <a:latin typeface="Calibri" panose="020F0502020204030204" pitchFamily="34" charset="0"/>
                <a:cs typeface="Calibri" panose="020F0502020204030204" pitchFamily="34" charset="0"/>
              </a:rPr>
              <a:t>Syntax of a SQL DELETE Statement</a:t>
            </a:r>
          </a:p>
          <a:p>
            <a:pPr>
              <a:lnSpc>
                <a:spcPct val="200000"/>
              </a:lnSpc>
            </a:pPr>
            <a:r>
              <a:rPr lang="en-US" sz="1700" dirty="0">
                <a:latin typeface="Calibri" panose="020F0502020204030204" pitchFamily="34" charset="0"/>
                <a:cs typeface="Calibri" panose="020F0502020204030204" pitchFamily="34" charset="0"/>
              </a:rPr>
              <a:t>DELETE FROM </a:t>
            </a:r>
            <a:r>
              <a:rPr lang="en-US" sz="1700" dirty="0" err="1">
                <a:latin typeface="Calibri" panose="020F0502020204030204" pitchFamily="34" charset="0"/>
                <a:cs typeface="Calibri" panose="020F0502020204030204" pitchFamily="34" charset="0"/>
              </a:rPr>
              <a:t>table_name</a:t>
            </a:r>
            <a:r>
              <a:rPr lang="en-US" sz="1700" dirty="0">
                <a:latin typeface="Calibri" panose="020F0502020204030204" pitchFamily="34" charset="0"/>
                <a:cs typeface="Calibri" panose="020F0502020204030204" pitchFamily="34" charset="0"/>
              </a:rPr>
              <a:t> [WHERE condition</a:t>
            </a:r>
            <a:r>
              <a:rPr lang="en-US" sz="1700" dirty="0" smtClean="0">
                <a:latin typeface="Calibri" panose="020F0502020204030204" pitchFamily="34" charset="0"/>
                <a:cs typeface="Calibri" panose="020F0502020204030204" pitchFamily="34" charset="0"/>
              </a:rPr>
              <a:t>];</a:t>
            </a:r>
          </a:p>
          <a:p>
            <a:pPr>
              <a:lnSpc>
                <a:spcPct val="200000"/>
              </a:lnSpc>
            </a:pPr>
            <a:r>
              <a:rPr lang="en-US" sz="1700" b="1" dirty="0">
                <a:latin typeface="Calibri" panose="020F0502020204030204" pitchFamily="34" charset="0"/>
                <a:cs typeface="Calibri" panose="020F0502020204030204" pitchFamily="34" charset="0"/>
              </a:rPr>
              <a:t>NOTE:</a:t>
            </a:r>
            <a:r>
              <a:rPr lang="en-US" sz="1700" dirty="0">
                <a:latin typeface="Calibri" panose="020F0502020204030204" pitchFamily="34" charset="0"/>
                <a:cs typeface="Calibri" panose="020F0502020204030204" pitchFamily="34" charset="0"/>
              </a:rPr>
              <a:t> The </a:t>
            </a:r>
            <a:r>
              <a:rPr lang="en-US" sz="1700" i="1" u="sng" dirty="0">
                <a:latin typeface="Calibri" panose="020F0502020204030204" pitchFamily="34" charset="0"/>
                <a:cs typeface="Calibri" panose="020F0502020204030204" pitchFamily="34" charset="0"/>
                <a:hlinkClick r:id="rId2" tooltip="WHERE Clause is used when you want to retrieve (alter) specific information from a table"/>
              </a:rPr>
              <a:t>WHERE</a:t>
            </a:r>
            <a:r>
              <a:rPr lang="en-US" sz="1700" dirty="0">
                <a:latin typeface="Calibri" panose="020F0502020204030204" pitchFamily="34" charset="0"/>
                <a:cs typeface="Calibri" panose="020F0502020204030204" pitchFamily="34" charset="0"/>
              </a:rPr>
              <a:t> clause in the </a:t>
            </a:r>
            <a:r>
              <a:rPr lang="en-US" sz="1700" dirty="0" err="1">
                <a:latin typeface="Calibri" panose="020F0502020204030204" pitchFamily="34" charset="0"/>
                <a:cs typeface="Calibri" panose="020F0502020204030204" pitchFamily="34" charset="0"/>
              </a:rPr>
              <a:t>sql</a:t>
            </a:r>
            <a:r>
              <a:rPr lang="en-US" sz="1700" dirty="0">
                <a:latin typeface="Calibri" panose="020F0502020204030204" pitchFamily="34" charset="0"/>
                <a:cs typeface="Calibri" panose="020F0502020204030204" pitchFamily="34" charset="0"/>
              </a:rPr>
              <a:t> delete command is optional and it identifies the rows in the column that gets deleted. If you do not include the WHERE clause all the rows in the table </a:t>
            </a:r>
            <a:r>
              <a:rPr lang="en-US" sz="1700" dirty="0" smtClean="0">
                <a:latin typeface="Calibri" panose="020F0502020204030204" pitchFamily="34" charset="0"/>
                <a:cs typeface="Calibri" panose="020F0502020204030204" pitchFamily="34" charset="0"/>
              </a:rPr>
              <a:t>will be </a:t>
            </a:r>
            <a:r>
              <a:rPr lang="en-US" sz="1700" dirty="0">
                <a:latin typeface="Calibri" panose="020F0502020204030204" pitchFamily="34" charset="0"/>
                <a:cs typeface="Calibri" panose="020F0502020204030204" pitchFamily="34" charset="0"/>
              </a:rPr>
              <a:t>deleted, so be careful while writing a DELETE query without WHERE clause</a:t>
            </a:r>
            <a:r>
              <a:rPr lang="en-US" sz="1700" dirty="0" smtClean="0">
                <a:latin typeface="Calibri" panose="020F0502020204030204" pitchFamily="34" charset="0"/>
                <a:cs typeface="Calibri" panose="020F0502020204030204" pitchFamily="34" charset="0"/>
              </a:rPr>
              <a:t>.</a:t>
            </a:r>
          </a:p>
          <a:p>
            <a:pPr>
              <a:lnSpc>
                <a:spcPct val="200000"/>
              </a:lnSpc>
            </a:pPr>
            <a:r>
              <a:rPr lang="en-US" sz="1700" b="1" dirty="0">
                <a:latin typeface="Calibri" panose="020F0502020204030204" pitchFamily="34" charset="0"/>
                <a:cs typeface="Calibri" panose="020F0502020204030204" pitchFamily="34" charset="0"/>
              </a:rPr>
              <a:t>SQL DELETE Example</a:t>
            </a:r>
          </a:p>
          <a:p>
            <a:pPr marL="285750" indent="-285750">
              <a:lnSpc>
                <a:spcPct val="150000"/>
              </a:lnSpc>
              <a:buFont typeface="Arial" panose="020B0604020202020204" pitchFamily="34" charset="0"/>
              <a:buChar char="•"/>
            </a:pPr>
            <a:r>
              <a:rPr lang="en-US" sz="1700" dirty="0">
                <a:latin typeface="Calibri" panose="020F0502020204030204" pitchFamily="34" charset="0"/>
                <a:cs typeface="Calibri" panose="020F0502020204030204" pitchFamily="34" charset="0"/>
              </a:rPr>
              <a:t>To delete an employee with id 100 from the employee table, the </a:t>
            </a:r>
            <a:r>
              <a:rPr lang="en-US" sz="1700" dirty="0" err="1">
                <a:latin typeface="Calibri" panose="020F0502020204030204" pitchFamily="34" charset="0"/>
                <a:cs typeface="Calibri" panose="020F0502020204030204" pitchFamily="34" charset="0"/>
              </a:rPr>
              <a:t>sql</a:t>
            </a:r>
            <a:r>
              <a:rPr lang="en-US" sz="1700" dirty="0">
                <a:latin typeface="Calibri" panose="020F0502020204030204" pitchFamily="34" charset="0"/>
                <a:cs typeface="Calibri" panose="020F0502020204030204" pitchFamily="34" charset="0"/>
              </a:rPr>
              <a:t> delete query would be like,</a:t>
            </a:r>
          </a:p>
          <a:p>
            <a:pPr>
              <a:lnSpc>
                <a:spcPct val="150000"/>
              </a:lnSpc>
            </a:pPr>
            <a:r>
              <a:rPr lang="en-US" sz="1700" dirty="0">
                <a:latin typeface="Calibri" panose="020F0502020204030204" pitchFamily="34" charset="0"/>
                <a:cs typeface="Calibri" panose="020F0502020204030204" pitchFamily="34" charset="0"/>
              </a:rPr>
              <a:t>DELETE FROM employee WHERE id = 100</a:t>
            </a:r>
            <a:r>
              <a:rPr lang="en-US" sz="1700" dirty="0" smtClean="0">
                <a:latin typeface="Calibri" panose="020F0502020204030204" pitchFamily="34" charset="0"/>
                <a:cs typeface="Calibri" panose="020F0502020204030204" pitchFamily="34" charset="0"/>
              </a:rPr>
              <a:t>;</a:t>
            </a:r>
          </a:p>
          <a:p>
            <a:pPr marL="285750" indent="-285750">
              <a:lnSpc>
                <a:spcPct val="150000"/>
              </a:lnSpc>
              <a:buFont typeface="Arial" panose="020B0604020202020204" pitchFamily="34" charset="0"/>
              <a:buChar char="•"/>
            </a:pPr>
            <a:r>
              <a:rPr lang="en-US" sz="1700" dirty="0">
                <a:latin typeface="Calibri" panose="020F0502020204030204" pitchFamily="34" charset="0"/>
                <a:cs typeface="Calibri" panose="020F0502020204030204" pitchFamily="34" charset="0"/>
              </a:rPr>
              <a:t>To delete all the rows from the employee table, the query would be like</a:t>
            </a:r>
            <a:r>
              <a:rPr lang="en-US" sz="1700" dirty="0" smtClean="0">
                <a:latin typeface="Calibri" panose="020F0502020204030204" pitchFamily="34" charset="0"/>
                <a:cs typeface="Calibri" panose="020F0502020204030204" pitchFamily="34" charset="0"/>
              </a:rPr>
              <a:t>,</a:t>
            </a:r>
          </a:p>
          <a:p>
            <a:pPr>
              <a:lnSpc>
                <a:spcPct val="150000"/>
              </a:lnSpc>
            </a:pPr>
            <a:r>
              <a:rPr lang="en-US" sz="1700" dirty="0">
                <a:latin typeface="Calibri" panose="020F0502020204030204" pitchFamily="34" charset="0"/>
                <a:cs typeface="Calibri" panose="020F0502020204030204" pitchFamily="34" charset="0"/>
              </a:rPr>
              <a:t>DELETE FROM employee</a:t>
            </a:r>
            <a:r>
              <a:rPr lang="en-US" sz="1700" dirty="0" smtClean="0">
                <a:latin typeface="Calibri" panose="020F0502020204030204" pitchFamily="34" charset="0"/>
                <a:cs typeface="Calibri" panose="020F0502020204030204" pitchFamily="34" charset="0"/>
              </a:rPr>
              <a:t>;</a:t>
            </a:r>
          </a:p>
        </p:txBody>
      </p:sp>
      <p:sp>
        <p:nvSpPr>
          <p:cNvPr id="3" name="TextBox 2"/>
          <p:cNvSpPr txBox="1"/>
          <p:nvPr/>
        </p:nvSpPr>
        <p:spPr>
          <a:xfrm>
            <a:off x="3632886" y="667266"/>
            <a:ext cx="3286897" cy="50783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DELETE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0206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9817" y="1433400"/>
            <a:ext cx="9378777" cy="4728089"/>
          </a:xfrm>
          <a:prstGeom prst="rect">
            <a:avLst/>
          </a:prstGeom>
          <a:noFill/>
        </p:spPr>
        <p:txBody>
          <a:bodyPr wrap="square" rtlCol="0">
            <a:spAutoFit/>
          </a:bodyPr>
          <a:lstStyle/>
          <a:p>
            <a:pPr>
              <a:lnSpc>
                <a:spcPct val="200000"/>
              </a:lnSpc>
            </a:pPr>
            <a:r>
              <a:rPr lang="en-US" sz="1700" b="1" dirty="0" smtClean="0">
                <a:latin typeface="Calibri" panose="020F0502020204030204" pitchFamily="34" charset="0"/>
                <a:cs typeface="Calibri" panose="020F0502020204030204" pitchFamily="34" charset="0"/>
              </a:rPr>
              <a:t>SQL </a:t>
            </a:r>
            <a:r>
              <a:rPr lang="en-US" sz="1700" b="1" dirty="0">
                <a:latin typeface="Calibri" panose="020F0502020204030204" pitchFamily="34" charset="0"/>
                <a:cs typeface="Calibri" panose="020F0502020204030204" pitchFamily="34" charset="0"/>
              </a:rPr>
              <a:t>TRUNCATE Statement</a:t>
            </a:r>
          </a:p>
          <a:p>
            <a:pPr>
              <a:lnSpc>
                <a:spcPct val="200000"/>
              </a:lnSpc>
            </a:pPr>
            <a:r>
              <a:rPr lang="en-US" sz="1700" dirty="0">
                <a:latin typeface="Calibri" panose="020F0502020204030204" pitchFamily="34" charset="0"/>
                <a:cs typeface="Calibri" panose="020F0502020204030204" pitchFamily="34" charset="0"/>
              </a:rPr>
              <a:t>The SQL TRUNCATE command is used to delete all the rows from the table and free the space containing the table.</a:t>
            </a:r>
          </a:p>
          <a:p>
            <a:pPr>
              <a:lnSpc>
                <a:spcPct val="200000"/>
              </a:lnSpc>
            </a:pPr>
            <a:r>
              <a:rPr lang="en-US" sz="1700" b="1" dirty="0">
                <a:latin typeface="Calibri" panose="020F0502020204030204" pitchFamily="34" charset="0"/>
                <a:cs typeface="Calibri" panose="020F0502020204030204" pitchFamily="34" charset="0"/>
              </a:rPr>
              <a:t>Syntax to TRUNCATE a table:</a:t>
            </a:r>
          </a:p>
          <a:p>
            <a:pPr>
              <a:lnSpc>
                <a:spcPct val="200000"/>
              </a:lnSpc>
            </a:pPr>
            <a:r>
              <a:rPr lang="en-US" sz="1700" dirty="0">
                <a:latin typeface="Calibri" panose="020F0502020204030204" pitchFamily="34" charset="0"/>
                <a:cs typeface="Calibri" panose="020F0502020204030204" pitchFamily="34" charset="0"/>
              </a:rPr>
              <a:t>TRUNCATE TABLE </a:t>
            </a:r>
            <a:r>
              <a:rPr lang="en-US" sz="1700" dirty="0" err="1">
                <a:latin typeface="Calibri" panose="020F0502020204030204" pitchFamily="34" charset="0"/>
                <a:cs typeface="Calibri" panose="020F0502020204030204" pitchFamily="34" charset="0"/>
              </a:rPr>
              <a:t>table_name</a:t>
            </a:r>
            <a:r>
              <a:rPr lang="en-US" sz="1700" dirty="0" smtClean="0">
                <a:latin typeface="Calibri" panose="020F0502020204030204" pitchFamily="34" charset="0"/>
                <a:cs typeface="Calibri" panose="020F0502020204030204" pitchFamily="34" charset="0"/>
              </a:rPr>
              <a:t>;</a:t>
            </a:r>
          </a:p>
          <a:p>
            <a:pPr>
              <a:lnSpc>
                <a:spcPct val="200000"/>
              </a:lnSpc>
            </a:pPr>
            <a:r>
              <a:rPr lang="en-US" sz="1700" b="1" dirty="0">
                <a:latin typeface="Calibri" panose="020F0502020204030204" pitchFamily="34" charset="0"/>
                <a:cs typeface="Calibri" panose="020F0502020204030204" pitchFamily="34" charset="0"/>
              </a:rPr>
              <a:t>SQL TRUNCATE Statement Example</a:t>
            </a:r>
          </a:p>
          <a:p>
            <a:pPr>
              <a:lnSpc>
                <a:spcPct val="200000"/>
              </a:lnSpc>
            </a:pPr>
            <a:r>
              <a:rPr lang="en-US" sz="1700" dirty="0">
                <a:latin typeface="Calibri" panose="020F0502020204030204" pitchFamily="34" charset="0"/>
                <a:cs typeface="Calibri" panose="020F0502020204030204" pitchFamily="34" charset="0"/>
              </a:rPr>
              <a:t>To delete all the rows from employee table, the query would be like,</a:t>
            </a:r>
          </a:p>
          <a:p>
            <a:pPr>
              <a:lnSpc>
                <a:spcPct val="200000"/>
              </a:lnSpc>
            </a:pPr>
            <a:r>
              <a:rPr lang="en-US" sz="1700" dirty="0">
                <a:latin typeface="Calibri" panose="020F0502020204030204" pitchFamily="34" charset="0"/>
                <a:cs typeface="Calibri" panose="020F0502020204030204" pitchFamily="34" charset="0"/>
              </a:rPr>
              <a:t>TRUNCATE TABLE employee;</a:t>
            </a:r>
          </a:p>
          <a:p>
            <a:pPr>
              <a:lnSpc>
                <a:spcPct val="200000"/>
              </a:lnSpc>
            </a:pPr>
            <a:endParaRPr lang="en-US" sz="1700" dirty="0">
              <a:latin typeface="Calibri" panose="020F0502020204030204" pitchFamily="34" charset="0"/>
              <a:cs typeface="Calibri" panose="020F0502020204030204" pitchFamily="34" charset="0"/>
            </a:endParaRPr>
          </a:p>
        </p:txBody>
      </p:sp>
      <p:sp>
        <p:nvSpPr>
          <p:cNvPr id="3" name="TextBox 2"/>
          <p:cNvSpPr txBox="1"/>
          <p:nvPr/>
        </p:nvSpPr>
        <p:spPr>
          <a:xfrm>
            <a:off x="3632886" y="667266"/>
            <a:ext cx="3286897" cy="46487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TRUNCATE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22803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24216" y="2038864"/>
            <a:ext cx="8649730" cy="2708434"/>
          </a:xfrm>
          <a:prstGeom prst="rect">
            <a:avLst/>
          </a:prstGeom>
          <a:noFill/>
        </p:spPr>
        <p:txBody>
          <a:bodyPr wrap="square" rtlCol="0">
            <a:spAutoFit/>
          </a:bodyPr>
          <a:lstStyle/>
          <a:p>
            <a:pPr marL="285750" indent="-285750">
              <a:lnSpc>
                <a:spcPct val="200000"/>
              </a:lnSpc>
              <a:buFont typeface="Wingdings" panose="05000000000000000000" pitchFamily="2" charset="2"/>
              <a:buChar char="v"/>
            </a:pPr>
            <a:r>
              <a:rPr lang="en-US" sz="1700" b="1" dirty="0" smtClean="0">
                <a:latin typeface="Calibri" panose="020F0502020204030204" pitchFamily="34" charset="0"/>
                <a:cs typeface="Calibri" panose="020F0502020204030204" pitchFamily="34" charset="0"/>
              </a:rPr>
              <a:t>DELETE </a:t>
            </a:r>
            <a:r>
              <a:rPr lang="en-US" sz="1700" b="1" dirty="0">
                <a:latin typeface="Calibri" panose="020F0502020204030204" pitchFamily="34" charset="0"/>
                <a:cs typeface="Calibri" panose="020F0502020204030204" pitchFamily="34" charset="0"/>
              </a:rPr>
              <a:t>Statement:</a:t>
            </a:r>
            <a:r>
              <a:rPr lang="en-US" sz="1700" dirty="0">
                <a:latin typeface="Calibri" panose="020F0502020204030204" pitchFamily="34" charset="0"/>
                <a:cs typeface="Calibri" panose="020F0502020204030204" pitchFamily="34" charset="0"/>
              </a:rPr>
              <a:t> This command deletes only the rows from the table based on the condition given in the where clause or deletes all the rows from the table if no condition is specified. But it does not free the space containing the table.</a:t>
            </a:r>
          </a:p>
          <a:p>
            <a:pPr marL="285750" indent="-285750">
              <a:lnSpc>
                <a:spcPct val="200000"/>
              </a:lnSpc>
              <a:buFont typeface="Wingdings" panose="05000000000000000000" pitchFamily="2" charset="2"/>
              <a:buChar char="v"/>
            </a:pPr>
            <a:r>
              <a:rPr lang="en-US" sz="1700" b="1" dirty="0">
                <a:latin typeface="Calibri" panose="020F0502020204030204" pitchFamily="34" charset="0"/>
                <a:cs typeface="Calibri" panose="020F0502020204030204" pitchFamily="34" charset="0"/>
              </a:rPr>
              <a:t>TRUNCATE statement:</a:t>
            </a:r>
            <a:r>
              <a:rPr lang="en-US" sz="1700" dirty="0">
                <a:latin typeface="Calibri" panose="020F0502020204030204" pitchFamily="34" charset="0"/>
                <a:cs typeface="Calibri" panose="020F0502020204030204" pitchFamily="34" charset="0"/>
              </a:rPr>
              <a:t> This command is used to delete all the rows from the table and free the space containing the table</a:t>
            </a:r>
            <a:r>
              <a:rPr lang="en-US" sz="1700" dirty="0" smtClean="0">
                <a:latin typeface="Calibri" panose="020F0502020204030204" pitchFamily="34" charset="0"/>
                <a:cs typeface="Calibri" panose="020F0502020204030204" pitchFamily="34" charset="0"/>
              </a:rPr>
              <a:t>.</a:t>
            </a:r>
            <a:endParaRPr lang="en-US" sz="1700" dirty="0">
              <a:latin typeface="Calibri" panose="020F0502020204030204" pitchFamily="34" charset="0"/>
              <a:cs typeface="Calibri" panose="020F0502020204030204" pitchFamily="34" charset="0"/>
            </a:endParaRPr>
          </a:p>
        </p:txBody>
      </p:sp>
      <p:sp>
        <p:nvSpPr>
          <p:cNvPr id="3" name="TextBox 2"/>
          <p:cNvSpPr txBox="1"/>
          <p:nvPr/>
        </p:nvSpPr>
        <p:spPr>
          <a:xfrm>
            <a:off x="3398108" y="617839"/>
            <a:ext cx="5609968" cy="50783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Difference between DELETE and TRUNCATE Statements: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5130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9751" y="1309818"/>
            <a:ext cx="10083115" cy="5078313"/>
          </a:xfrm>
          <a:prstGeom prst="rect">
            <a:avLst/>
          </a:prstGeom>
          <a:noFill/>
        </p:spPr>
        <p:txBody>
          <a:bodyPr wrap="square" rtlCol="0">
            <a:spAutoFit/>
          </a:bodyPr>
          <a:lstStyle/>
          <a:p>
            <a:pPr>
              <a:lnSpc>
                <a:spcPct val="200000"/>
              </a:lnSpc>
            </a:pPr>
            <a:r>
              <a:rPr lang="en-US" b="1" dirty="0">
                <a:latin typeface="Calibri" panose="020F0502020204030204" pitchFamily="34" charset="0"/>
                <a:cs typeface="Calibri" panose="020F0502020204030204" pitchFamily="34" charset="0"/>
              </a:rPr>
              <a:t>SQL DROP Statement: </a:t>
            </a:r>
            <a:r>
              <a:rPr lang="en-US" dirty="0">
                <a:latin typeface="Calibri" panose="020F0502020204030204" pitchFamily="34" charset="0"/>
                <a:cs typeface="Calibri" panose="020F0502020204030204" pitchFamily="34" charset="0"/>
              </a:rPr>
              <a:t>The SQL DROP command is used to remove an object from the database. If you drop a table, all the rows in the table is deleted and the table structure is removed from the database. Once a table is dropped we cannot get it back, so be careful while using DROP command. When a table is dropped all the references to the table will not be valid.</a:t>
            </a:r>
          </a:p>
          <a:p>
            <a:pPr>
              <a:lnSpc>
                <a:spcPct val="200000"/>
              </a:lnSpc>
            </a:pPr>
            <a:r>
              <a:rPr lang="en-US" b="1" dirty="0" smtClean="0">
                <a:latin typeface="Calibri" panose="020F0502020204030204" pitchFamily="34" charset="0"/>
                <a:cs typeface="Calibri" panose="020F0502020204030204" pitchFamily="34" charset="0"/>
              </a:rPr>
              <a:t>Syntax </a:t>
            </a:r>
            <a:r>
              <a:rPr lang="en-US" b="1" dirty="0">
                <a:latin typeface="Calibri" panose="020F0502020204030204" pitchFamily="34" charset="0"/>
                <a:cs typeface="Calibri" panose="020F0502020204030204" pitchFamily="34" charset="0"/>
              </a:rPr>
              <a:t>to drop a </a:t>
            </a:r>
            <a:r>
              <a:rPr lang="en-US" b="1" dirty="0" err="1">
                <a:latin typeface="Calibri" panose="020F0502020204030204" pitchFamily="34" charset="0"/>
                <a:cs typeface="Calibri" panose="020F0502020204030204" pitchFamily="34" charset="0"/>
              </a:rPr>
              <a:t>sql</a:t>
            </a:r>
            <a:r>
              <a:rPr lang="en-US" b="1" dirty="0">
                <a:latin typeface="Calibri" panose="020F0502020204030204" pitchFamily="34" charset="0"/>
                <a:cs typeface="Calibri" panose="020F0502020204030204" pitchFamily="34" charset="0"/>
              </a:rPr>
              <a:t> table structure</a:t>
            </a:r>
            <a:r>
              <a:rPr lang="en-US" b="1" dirty="0" smtClean="0">
                <a:latin typeface="Calibri" panose="020F0502020204030204" pitchFamily="34" charset="0"/>
                <a:cs typeface="Calibri" panose="020F0502020204030204" pitchFamily="34" charset="0"/>
              </a:rPr>
              <a:t>:</a:t>
            </a:r>
          </a:p>
          <a:p>
            <a:pPr>
              <a:lnSpc>
                <a:spcPct val="200000"/>
              </a:lnSpc>
            </a:pPr>
            <a:r>
              <a:rPr lang="en-US" dirty="0">
                <a:latin typeface="Calibri" panose="020F0502020204030204" pitchFamily="34" charset="0"/>
                <a:cs typeface="Calibri" panose="020F0502020204030204" pitchFamily="34" charset="0"/>
              </a:rPr>
              <a:t>DROP TABLE </a:t>
            </a:r>
            <a:r>
              <a:rPr lang="en-US" dirty="0" err="1">
                <a:latin typeface="Calibri" panose="020F0502020204030204" pitchFamily="34" charset="0"/>
                <a:cs typeface="Calibri" panose="020F0502020204030204" pitchFamily="34" charset="0"/>
              </a:rPr>
              <a:t>table_name</a:t>
            </a:r>
            <a:r>
              <a:rPr lang="en-US" dirty="0" smtClean="0">
                <a:latin typeface="Calibri" panose="020F0502020204030204" pitchFamily="34" charset="0"/>
                <a:cs typeface="Calibri" panose="020F0502020204030204" pitchFamily="34" charset="0"/>
              </a:rPr>
              <a:t>;</a:t>
            </a:r>
          </a:p>
          <a:p>
            <a:pPr>
              <a:lnSpc>
                <a:spcPct val="200000"/>
              </a:lnSpc>
            </a:pPr>
            <a:r>
              <a:rPr lang="en-US" b="1" dirty="0">
                <a:latin typeface="Calibri" panose="020F0502020204030204" pitchFamily="34" charset="0"/>
                <a:cs typeface="Calibri" panose="020F0502020204030204" pitchFamily="34" charset="0"/>
              </a:rPr>
              <a:t>SQL DROP Statement Example</a:t>
            </a:r>
          </a:p>
          <a:p>
            <a:pPr>
              <a:lnSpc>
                <a:spcPct val="200000"/>
              </a:lnSpc>
            </a:pPr>
            <a:r>
              <a:rPr lang="en-US" dirty="0">
                <a:latin typeface="Calibri" panose="020F0502020204030204" pitchFamily="34" charset="0"/>
                <a:cs typeface="Calibri" panose="020F0502020204030204" pitchFamily="34" charset="0"/>
              </a:rPr>
              <a:t>To drop the table employee, the query would be like</a:t>
            </a:r>
          </a:p>
          <a:p>
            <a:pPr>
              <a:lnSpc>
                <a:spcPct val="200000"/>
              </a:lnSpc>
            </a:pPr>
            <a:r>
              <a:rPr lang="en-US" dirty="0">
                <a:latin typeface="Calibri" panose="020F0502020204030204" pitchFamily="34" charset="0"/>
                <a:cs typeface="Calibri" panose="020F0502020204030204" pitchFamily="34" charset="0"/>
              </a:rPr>
              <a:t>DROP TABLE employee</a:t>
            </a:r>
            <a:r>
              <a:rPr lang="en-US" dirty="0" smtClean="0">
                <a:latin typeface="Calibri" panose="020F0502020204030204" pitchFamily="34" charset="0"/>
                <a:cs typeface="Calibri" panose="020F0502020204030204" pitchFamily="34" charset="0"/>
              </a:rPr>
              <a:t>;</a:t>
            </a:r>
          </a:p>
        </p:txBody>
      </p:sp>
      <p:sp>
        <p:nvSpPr>
          <p:cNvPr id="4" name="TextBox 3"/>
          <p:cNvSpPr txBox="1"/>
          <p:nvPr/>
        </p:nvSpPr>
        <p:spPr>
          <a:xfrm>
            <a:off x="3632886" y="667266"/>
            <a:ext cx="3286897" cy="507831"/>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DROP Command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55519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2811" y="1863441"/>
            <a:ext cx="9378779" cy="3338735"/>
          </a:xfrm>
          <a:prstGeom prst="rect">
            <a:avLst/>
          </a:prstGeom>
          <a:noFill/>
        </p:spPr>
        <p:txBody>
          <a:bodyPr wrap="square" rtlCol="0">
            <a:spAutoFit/>
          </a:bodyPr>
          <a:lstStyle/>
          <a:p>
            <a:pPr marL="285750" indent="-285750">
              <a:lnSpc>
                <a:spcPct val="200000"/>
              </a:lnSpc>
              <a:buFont typeface="Wingdings" panose="05000000000000000000" pitchFamily="2" charset="2"/>
              <a:buChar char="ü"/>
            </a:pPr>
            <a:r>
              <a:rPr lang="en-US" dirty="0" smtClean="0">
                <a:latin typeface="Calibri" panose="020F0502020204030204" pitchFamily="34" charset="0"/>
                <a:cs typeface="Calibri" panose="020F0502020204030204" pitchFamily="34" charset="0"/>
              </a:rPr>
              <a:t>If </a:t>
            </a:r>
            <a:r>
              <a:rPr lang="en-US" dirty="0">
                <a:latin typeface="Calibri" panose="020F0502020204030204" pitchFamily="34" charset="0"/>
                <a:cs typeface="Calibri" panose="020F0502020204030204" pitchFamily="34" charset="0"/>
              </a:rPr>
              <a:t>a table is dropped, all the relationships with other tables will no longer be valid, the integrity constraints will be dropped, grant or access privileges on the table will also be dropped, if you want use the table again it has to be recreated with the integrity constraints, access privileges and the relationships with other tables should be established </a:t>
            </a:r>
            <a:r>
              <a:rPr lang="en-US" dirty="0" smtClean="0">
                <a:latin typeface="Calibri" panose="020F0502020204030204" pitchFamily="34" charset="0"/>
                <a:cs typeface="Calibri" panose="020F0502020204030204" pitchFamily="34" charset="0"/>
              </a:rPr>
              <a:t>again.</a:t>
            </a:r>
          </a:p>
          <a:p>
            <a:pPr marL="285750" indent="-285750">
              <a:lnSpc>
                <a:spcPct val="200000"/>
              </a:lnSpc>
              <a:buFont typeface="Wingdings" panose="05000000000000000000" pitchFamily="2" charset="2"/>
              <a:buChar char="ü"/>
            </a:pPr>
            <a:r>
              <a:rPr lang="en-US" dirty="0" smtClean="0">
                <a:latin typeface="Calibri" panose="020F0502020204030204" pitchFamily="34" charset="0"/>
                <a:cs typeface="Calibri" panose="020F0502020204030204" pitchFamily="34" charset="0"/>
              </a:rPr>
              <a:t>But</a:t>
            </a:r>
            <a:r>
              <a:rPr lang="en-US" dirty="0">
                <a:latin typeface="Calibri" panose="020F0502020204030204" pitchFamily="34" charset="0"/>
                <a:cs typeface="Calibri" panose="020F0502020204030204" pitchFamily="34" charset="0"/>
              </a:rPr>
              <a:t>, if a table is truncated, the table structure remains the same, therefore any of the above problems will not exist</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TextBox 2"/>
          <p:cNvSpPr txBox="1"/>
          <p:nvPr/>
        </p:nvSpPr>
        <p:spPr>
          <a:xfrm>
            <a:off x="2891480" y="630196"/>
            <a:ext cx="5288692" cy="646331"/>
          </a:xfrm>
          <a:prstGeom prst="rect">
            <a:avLst/>
          </a:prstGeom>
          <a:noFill/>
        </p:spPr>
        <p:txBody>
          <a:bodyPr wrap="square" rtlCol="0">
            <a:spAutoFit/>
          </a:bodyPr>
          <a:lstStyle/>
          <a:p>
            <a:pPr>
              <a:lnSpc>
                <a:spcPct val="200000"/>
              </a:lnSpc>
            </a:pPr>
            <a:r>
              <a:rPr lang="en-US" b="1" dirty="0">
                <a:latin typeface="Calibri" panose="020F0502020204030204" pitchFamily="34" charset="0"/>
                <a:cs typeface="Calibri" panose="020F0502020204030204" pitchFamily="34" charset="0"/>
              </a:rPr>
              <a:t>Difference between DROP and TRUNCATE Statement: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803117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37967" y="1309815"/>
            <a:ext cx="10466172" cy="4843849"/>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150000"/>
              </a:lnSpc>
            </a:pPr>
            <a:r>
              <a:rPr lang="en-US" sz="1700" dirty="0" smtClean="0">
                <a:latin typeface="Calibri" panose="020F0502020204030204" pitchFamily="34" charset="0"/>
                <a:cs typeface="Calibri" panose="020F0502020204030204" pitchFamily="34" charset="0"/>
              </a:rPr>
              <a:t> SQL SELECT statement is used to query or retrieve data from a table in the database. </a:t>
            </a:r>
          </a:p>
          <a:p>
            <a:pPr>
              <a:lnSpc>
                <a:spcPct val="150000"/>
              </a:lnSpc>
            </a:pPr>
            <a:r>
              <a:rPr lang="en-US" sz="1700" dirty="0" smtClean="0">
                <a:latin typeface="Calibri" panose="020F0502020204030204" pitchFamily="34" charset="0"/>
                <a:cs typeface="Calibri" panose="020F0502020204030204" pitchFamily="34" charset="0"/>
              </a:rPr>
              <a:t>A query may retrieve information from specified columns or from all of the columns in the table. </a:t>
            </a:r>
          </a:p>
          <a:p>
            <a:pPr>
              <a:lnSpc>
                <a:spcPct val="150000"/>
              </a:lnSpc>
            </a:pPr>
            <a:r>
              <a:rPr lang="en-US" sz="1700" dirty="0" smtClean="0">
                <a:latin typeface="Calibri" panose="020F0502020204030204" pitchFamily="34" charset="0"/>
                <a:cs typeface="Calibri" panose="020F0502020204030204" pitchFamily="34" charset="0"/>
              </a:rPr>
              <a:t>To create a simple SQL SELECT Statement, you must specify the column(s) name and the table name. The whole query is called SQL SELECT Statement.</a:t>
            </a:r>
          </a:p>
          <a:p>
            <a:pPr marL="0" indent="0">
              <a:lnSpc>
                <a:spcPct val="150000"/>
              </a:lnSpc>
              <a:buNone/>
            </a:pPr>
            <a:r>
              <a:rPr lang="en-US" sz="1700" b="1" dirty="0" smtClean="0">
                <a:latin typeface="Calibri" panose="020F0502020204030204" pitchFamily="34" charset="0"/>
                <a:cs typeface="Calibri" panose="020F0502020204030204" pitchFamily="34" charset="0"/>
              </a:rPr>
              <a:t>Syntax of SQL SELECT Statement:</a:t>
            </a:r>
          </a:p>
          <a:p>
            <a:pPr>
              <a:lnSpc>
                <a:spcPct val="150000"/>
              </a:lnSpc>
            </a:pPr>
            <a:r>
              <a:rPr lang="en-US" sz="1700" dirty="0" smtClean="0">
                <a:latin typeface="Calibri" panose="020F0502020204030204" pitchFamily="34" charset="0"/>
                <a:cs typeface="Calibri" panose="020F0502020204030204" pitchFamily="34" charset="0"/>
              </a:rPr>
              <a:t>SELECT </a:t>
            </a:r>
            <a:r>
              <a:rPr lang="en-US" sz="1700" i="1" dirty="0" err="1" smtClean="0">
                <a:latin typeface="Calibri" panose="020F0502020204030204" pitchFamily="34" charset="0"/>
                <a:cs typeface="Calibri" panose="020F0502020204030204" pitchFamily="34" charset="0"/>
              </a:rPr>
              <a:t>column_list</a:t>
            </a:r>
            <a:r>
              <a:rPr lang="en-US" sz="1700" dirty="0" smtClean="0">
                <a:latin typeface="Calibri" panose="020F0502020204030204" pitchFamily="34" charset="0"/>
                <a:cs typeface="Calibri" panose="020F0502020204030204" pitchFamily="34" charset="0"/>
              </a:rPr>
              <a:t> FROM </a:t>
            </a:r>
            <a:r>
              <a:rPr lang="en-US" sz="1700" i="1" dirty="0" smtClean="0">
                <a:latin typeface="Calibri" panose="020F0502020204030204" pitchFamily="34" charset="0"/>
                <a:cs typeface="Calibri" panose="020F0502020204030204" pitchFamily="34" charset="0"/>
              </a:rPr>
              <a:t>table-name</a:t>
            </a:r>
            <a:r>
              <a:rPr lang="en-US" sz="1700" dirty="0" smtClean="0">
                <a:latin typeface="Calibri" panose="020F0502020204030204" pitchFamily="34" charset="0"/>
                <a:cs typeface="Calibri" panose="020F0502020204030204" pitchFamily="34" charset="0"/>
              </a:rPr>
              <a:t/>
            </a:r>
            <a:br>
              <a:rPr lang="en-US" sz="1700" dirty="0" smtClean="0">
                <a:latin typeface="Calibri" panose="020F0502020204030204" pitchFamily="34" charset="0"/>
                <a:cs typeface="Calibri" panose="020F0502020204030204" pitchFamily="34" charset="0"/>
              </a:rPr>
            </a:br>
            <a:r>
              <a:rPr lang="en-US" sz="1700" dirty="0" smtClean="0">
                <a:latin typeface="Calibri" panose="020F0502020204030204" pitchFamily="34" charset="0"/>
                <a:cs typeface="Calibri" panose="020F0502020204030204" pitchFamily="34" charset="0"/>
              </a:rPr>
              <a:t>[WHERE Clause]</a:t>
            </a:r>
            <a:br>
              <a:rPr lang="en-US" sz="1700" dirty="0" smtClean="0">
                <a:latin typeface="Calibri" panose="020F0502020204030204" pitchFamily="34" charset="0"/>
                <a:cs typeface="Calibri" panose="020F0502020204030204" pitchFamily="34" charset="0"/>
              </a:rPr>
            </a:br>
            <a:r>
              <a:rPr lang="en-US" sz="1700" dirty="0" smtClean="0">
                <a:latin typeface="Calibri" panose="020F0502020204030204" pitchFamily="34" charset="0"/>
                <a:cs typeface="Calibri" panose="020F0502020204030204" pitchFamily="34" charset="0"/>
              </a:rPr>
              <a:t>[GROUP BY clause]</a:t>
            </a:r>
            <a:br>
              <a:rPr lang="en-US" sz="1700" dirty="0" smtClean="0">
                <a:latin typeface="Calibri" panose="020F0502020204030204" pitchFamily="34" charset="0"/>
                <a:cs typeface="Calibri" panose="020F0502020204030204" pitchFamily="34" charset="0"/>
              </a:rPr>
            </a:br>
            <a:r>
              <a:rPr lang="en-US" sz="1700" dirty="0" smtClean="0">
                <a:latin typeface="Calibri" panose="020F0502020204030204" pitchFamily="34" charset="0"/>
                <a:cs typeface="Calibri" panose="020F0502020204030204" pitchFamily="34" charset="0"/>
              </a:rPr>
              <a:t>[HAVING clause]</a:t>
            </a:r>
            <a:br>
              <a:rPr lang="en-US" sz="1700" dirty="0" smtClean="0">
                <a:latin typeface="Calibri" panose="020F0502020204030204" pitchFamily="34" charset="0"/>
                <a:cs typeface="Calibri" panose="020F0502020204030204" pitchFamily="34" charset="0"/>
              </a:rPr>
            </a:br>
            <a:r>
              <a:rPr lang="en-US" sz="1700" dirty="0" smtClean="0">
                <a:latin typeface="Calibri" panose="020F0502020204030204" pitchFamily="34" charset="0"/>
                <a:cs typeface="Calibri" panose="020F0502020204030204" pitchFamily="34" charset="0"/>
              </a:rPr>
              <a:t>[ORDER BY clause];</a:t>
            </a:r>
          </a:p>
        </p:txBody>
      </p:sp>
      <p:sp>
        <p:nvSpPr>
          <p:cNvPr id="3" name="Rectangle 2"/>
          <p:cNvSpPr/>
          <p:nvPr/>
        </p:nvSpPr>
        <p:spPr>
          <a:xfrm>
            <a:off x="4165383" y="461489"/>
            <a:ext cx="2316340" cy="568745"/>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SELECT Statement</a:t>
            </a:r>
          </a:p>
        </p:txBody>
      </p:sp>
    </p:spTree>
    <p:extLst>
      <p:ext uri="{BB962C8B-B14F-4D97-AF65-F5344CB8AC3E}">
        <p14:creationId xmlns:p14="http://schemas.microsoft.com/office/powerpoint/2010/main" val="23021049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103340" y="827903"/>
            <a:ext cx="6969211" cy="5632311"/>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Consider </a:t>
            </a:r>
            <a:r>
              <a:rPr lang="en-US" dirty="0">
                <a:latin typeface="Calibri" panose="020F0502020204030204" pitchFamily="34" charset="0"/>
                <a:cs typeface="Calibri" panose="020F0502020204030204" pitchFamily="34" charset="0"/>
              </a:rPr>
              <a:t>the table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To </a:t>
            </a:r>
            <a:r>
              <a:rPr lang="en-US" dirty="0">
                <a:latin typeface="Calibri" panose="020F0502020204030204" pitchFamily="34" charset="0"/>
                <a:cs typeface="Calibri" panose="020F0502020204030204" pitchFamily="34" charset="0"/>
              </a:rPr>
              <a:t>select </a:t>
            </a:r>
            <a:r>
              <a:rPr lang="en-US" b="1" dirty="0">
                <a:latin typeface="Calibri" panose="020F0502020204030204" pitchFamily="34" charset="0"/>
                <a:cs typeface="Calibri" panose="020F0502020204030204" pitchFamily="34" charset="0"/>
              </a:rPr>
              <a:t>the first name of all the students </a:t>
            </a:r>
            <a:r>
              <a:rPr lang="en-US" dirty="0">
                <a:latin typeface="Calibri" panose="020F0502020204030204" pitchFamily="34" charset="0"/>
                <a:cs typeface="Calibri" panose="020F0502020204030204" pitchFamily="34" charset="0"/>
              </a:rPr>
              <a:t>the query would be like:</a:t>
            </a:r>
            <a:endParaRPr lang="en-US" dirty="0" smtClean="0">
              <a:latin typeface="Calibri" panose="020F0502020204030204" pitchFamily="34" charset="0"/>
              <a:cs typeface="Calibri" panose="020F0502020204030204" pitchFamily="34" charset="0"/>
            </a:endParaRPr>
          </a:p>
          <a:p>
            <a:pPr marL="285750" indent="-28575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FROM </a:t>
            </a:r>
            <a:r>
              <a:rPr lang="en-US" dirty="0" err="1">
                <a:latin typeface="Calibri" panose="020F0502020204030204" pitchFamily="34" charset="0"/>
                <a:cs typeface="Calibri" panose="020F0502020204030204" pitchFamily="34" charset="0"/>
              </a:rPr>
              <a:t>student_details</a:t>
            </a:r>
            <a:r>
              <a:rPr lang="en-US" dirty="0" smtClean="0">
                <a:latin typeface="Calibri" panose="020F0502020204030204" pitchFamily="34" charset="0"/>
                <a:cs typeface="Calibri" panose="020F0502020204030204" pitchFamily="34" charset="0"/>
              </a:rPr>
              <a:t>;</a:t>
            </a:r>
          </a:p>
          <a:p>
            <a:pPr>
              <a:lnSpc>
                <a:spcPct val="200000"/>
              </a:lnSpc>
            </a:pPr>
            <a:r>
              <a:rPr lang="en-US" dirty="0">
                <a:latin typeface="Calibri" panose="020F0502020204030204" pitchFamily="34" charset="0"/>
                <a:cs typeface="Calibri" panose="020F0502020204030204" pitchFamily="34" charset="0"/>
              </a:rPr>
              <a:t>You can also retrieve data from more than one column. </a:t>
            </a:r>
            <a:endParaRPr lang="en-US" dirty="0" smtClean="0">
              <a:latin typeface="Calibri" panose="020F0502020204030204" pitchFamily="34" charset="0"/>
              <a:cs typeface="Calibri" panose="020F0502020204030204" pitchFamily="34" charset="0"/>
            </a:endParaRPr>
          </a:p>
          <a:p>
            <a:pPr>
              <a:lnSpc>
                <a:spcPct val="200000"/>
              </a:lnSpc>
            </a:pPr>
            <a:r>
              <a:rPr lang="en-US" b="1" dirty="0" smtClean="0">
                <a:latin typeface="Calibri" panose="020F0502020204030204" pitchFamily="34" charset="0"/>
                <a:cs typeface="Calibri" panose="020F0502020204030204" pitchFamily="34" charset="0"/>
              </a:rPr>
              <a:t>For </a:t>
            </a:r>
            <a:r>
              <a:rPr lang="en-US" b="1" dirty="0">
                <a:latin typeface="Calibri" panose="020F0502020204030204" pitchFamily="34" charset="0"/>
                <a:cs typeface="Calibri" panose="020F0502020204030204" pitchFamily="34" charset="0"/>
              </a:rPr>
              <a:t>example</a:t>
            </a:r>
            <a:r>
              <a:rPr lang="en-US" dirty="0">
                <a:latin typeface="Calibri" panose="020F0502020204030204" pitchFamily="34" charset="0"/>
                <a:cs typeface="Calibri" panose="020F0502020204030204" pitchFamily="34" charset="0"/>
              </a:rPr>
              <a:t>, to select </a:t>
            </a:r>
            <a:r>
              <a:rPr lang="en-US" b="1" dirty="0">
                <a:latin typeface="Calibri" panose="020F0502020204030204" pitchFamily="34" charset="0"/>
                <a:cs typeface="Calibri" panose="020F0502020204030204" pitchFamily="34" charset="0"/>
              </a:rPr>
              <a:t>first name and last name </a:t>
            </a:r>
            <a:r>
              <a:rPr lang="en-US" dirty="0">
                <a:latin typeface="Calibri" panose="020F0502020204030204" pitchFamily="34" charset="0"/>
                <a:cs typeface="Calibri" panose="020F0502020204030204" pitchFamily="34" charset="0"/>
              </a:rPr>
              <a:t>of all the students</a:t>
            </a:r>
            <a:r>
              <a:rPr lang="en-US" dirty="0" smtClean="0">
                <a:latin typeface="Calibri" panose="020F0502020204030204" pitchFamily="34" charset="0"/>
                <a:cs typeface="Calibri" panose="020F0502020204030204" pitchFamily="34" charset="0"/>
              </a:rPr>
              <a:t>.</a:t>
            </a:r>
          </a:p>
          <a:p>
            <a:pPr marL="285750" indent="-285750">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FROM </a:t>
            </a:r>
            <a:r>
              <a:rPr lang="en-US" dirty="0" err="1">
                <a:latin typeface="Calibri" panose="020F0502020204030204" pitchFamily="34" charset="0"/>
                <a:cs typeface="Calibri" panose="020F0502020204030204" pitchFamily="34" charset="0"/>
              </a:rPr>
              <a:t>student_details</a:t>
            </a:r>
            <a:r>
              <a:rPr lang="en-US" dirty="0" smtClean="0">
                <a:latin typeface="Calibri" panose="020F0502020204030204" pitchFamily="34" charset="0"/>
                <a:cs typeface="Calibri" panose="020F0502020204030204" pitchFamily="34" charset="0"/>
              </a:rPr>
              <a:t>;</a:t>
            </a:r>
          </a:p>
          <a:p>
            <a:pPr>
              <a:lnSpc>
                <a:spcPct val="200000"/>
              </a:lnSpc>
            </a:pPr>
            <a:r>
              <a:rPr lang="en-US" dirty="0" smtClean="0">
                <a:latin typeface="Calibri" panose="020F0502020204030204" pitchFamily="34" charset="0"/>
                <a:cs typeface="Calibri" panose="020F0502020204030204" pitchFamily="34" charset="0"/>
              </a:rPr>
              <a:t>To select the </a:t>
            </a:r>
            <a:r>
              <a:rPr lang="en-US" b="1" dirty="0" smtClean="0">
                <a:latin typeface="Calibri" panose="020F0502020204030204" pitchFamily="34" charset="0"/>
                <a:cs typeface="Calibri" panose="020F0502020204030204" pitchFamily="34" charset="0"/>
              </a:rPr>
              <a:t>entire table columns and their records</a:t>
            </a:r>
            <a:r>
              <a:rPr lang="en-US" dirty="0" smtClean="0">
                <a:latin typeface="Calibri" panose="020F0502020204030204" pitchFamily="34" charset="0"/>
                <a:cs typeface="Calibri" panose="020F0502020204030204" pitchFamily="34" charset="0"/>
              </a:rPr>
              <a:t>: </a:t>
            </a:r>
          </a:p>
          <a:p>
            <a:pPr marL="285750" indent="-28575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SELECT * FROM </a:t>
            </a:r>
            <a:r>
              <a:rPr lang="en-US" dirty="0" err="1" smtClean="0">
                <a:latin typeface="Calibri" panose="020F0502020204030204" pitchFamily="34" charset="0"/>
                <a:cs typeface="Calibri" panose="020F0502020204030204" pitchFamily="34" charset="0"/>
              </a:rPr>
              <a:t>student_details</a:t>
            </a:r>
            <a:endParaRPr lang="en-US" dirty="0" smtClean="0">
              <a:latin typeface="Calibri" panose="020F0502020204030204" pitchFamily="34" charset="0"/>
              <a:cs typeface="Calibri" panose="020F0502020204030204" pitchFamily="34" charset="0"/>
            </a:endParaRPr>
          </a:p>
          <a:p>
            <a:pPr>
              <a:lnSpc>
                <a:spcPct val="200000"/>
              </a:lnSpc>
            </a:pPr>
            <a:r>
              <a:rPr lang="en-US" dirty="0">
                <a:latin typeface="Calibri" panose="020F0502020204030204" pitchFamily="34" charset="0"/>
                <a:cs typeface="Calibri" panose="020F0502020204030204" pitchFamily="34" charset="0"/>
              </a:rPr>
              <a:t>You can also use clauses like WHERE, GROUP BY, HAVING, ORDER BY with SELECT statement. </a:t>
            </a:r>
            <a:endParaRPr lang="en-US" dirty="0" smtClean="0">
              <a:latin typeface="Calibri" panose="020F0502020204030204" pitchFamily="34" charset="0"/>
              <a:cs typeface="Calibri" panose="020F0502020204030204" pitchFamily="34" charset="0"/>
            </a:endParaRPr>
          </a:p>
        </p:txBody>
      </p:sp>
      <p:sp>
        <p:nvSpPr>
          <p:cNvPr id="5" name="Rectangle 4"/>
          <p:cNvSpPr/>
          <p:nvPr/>
        </p:nvSpPr>
        <p:spPr>
          <a:xfrm>
            <a:off x="2052378" y="461489"/>
            <a:ext cx="3270960" cy="646331"/>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SELECT </a:t>
            </a:r>
            <a:r>
              <a:rPr lang="en-US" b="1" dirty="0" smtClean="0">
                <a:latin typeface="Calibri" panose="020F0502020204030204" pitchFamily="34" charset="0"/>
                <a:cs typeface="Calibri" panose="020F0502020204030204" pitchFamily="34" charset="0"/>
              </a:rPr>
              <a:t>Statement examples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31750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73893" y="1495167"/>
            <a:ext cx="9947188" cy="4619854"/>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WHERE Clause is used when you want to retrieve specific information from a table excluding other irrelevant data. </a:t>
            </a:r>
            <a:endParaRPr lang="en-US" dirty="0" smtClean="0">
              <a:latin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For </a:t>
            </a:r>
            <a:r>
              <a:rPr lang="en-US" dirty="0">
                <a:latin typeface="Calibri" panose="020F0502020204030204" pitchFamily="34" charset="0"/>
                <a:cs typeface="Calibri" panose="020F0502020204030204" pitchFamily="34" charset="0"/>
              </a:rPr>
              <a:t>example, when you want to see the information about students in class 10th only then you do need the information about the students in other class. </a:t>
            </a:r>
            <a:r>
              <a:rPr lang="en-US" dirty="0" smtClean="0">
                <a:latin typeface="Calibri" panose="020F0502020204030204" pitchFamily="34" charset="0"/>
                <a:cs typeface="Calibri" panose="020F0502020204030204" pitchFamily="34" charset="0"/>
              </a:rPr>
              <a:t>Retrieving </a:t>
            </a:r>
            <a:r>
              <a:rPr lang="en-US" dirty="0">
                <a:latin typeface="Calibri" panose="020F0502020204030204" pitchFamily="34" charset="0"/>
                <a:cs typeface="Calibri" panose="020F0502020204030204" pitchFamily="34" charset="0"/>
              </a:rPr>
              <a:t>information about all the students would increase the processing time for the query</a:t>
            </a:r>
            <a:r>
              <a:rPr lang="en-US" dirty="0" smtClean="0">
                <a:latin typeface="Calibri" panose="020F0502020204030204" pitchFamily="34" charset="0"/>
                <a:cs typeface="Calibri" panose="020F0502020204030204" pitchFamily="34" charset="0"/>
              </a:rPr>
              <a:t>.</a:t>
            </a:r>
          </a:p>
          <a:p>
            <a:pPr>
              <a:lnSpc>
                <a:spcPct val="150000"/>
              </a:lnSpc>
            </a:pPr>
            <a:r>
              <a:rPr lang="en-US" b="1" dirty="0">
                <a:latin typeface="Calibri" panose="020F0502020204030204" pitchFamily="34" charset="0"/>
                <a:cs typeface="Calibri" panose="020F0502020204030204" pitchFamily="34" charset="0"/>
              </a:rPr>
              <a:t>Syntax of SQL WHERE Clause</a:t>
            </a:r>
          </a:p>
          <a:p>
            <a:pPr>
              <a:lnSpc>
                <a:spcPct val="150000"/>
              </a:lnSpc>
            </a:pPr>
            <a:r>
              <a:rPr lang="en-US" dirty="0">
                <a:latin typeface="Calibri" panose="020F0502020204030204" pitchFamily="34" charset="0"/>
                <a:cs typeface="Calibri" panose="020F0502020204030204" pitchFamily="34" charset="0"/>
              </a:rPr>
              <a:t>SELECT </a:t>
            </a:r>
            <a:r>
              <a:rPr lang="en-US" i="1" dirty="0" err="1">
                <a:latin typeface="Calibri" panose="020F0502020204030204" pitchFamily="34" charset="0"/>
                <a:cs typeface="Calibri" panose="020F0502020204030204" pitchFamily="34" charset="0"/>
              </a:rPr>
              <a:t>column_list</a:t>
            </a:r>
            <a:r>
              <a:rPr lang="en-US" dirty="0">
                <a:latin typeface="Calibri" panose="020F0502020204030204" pitchFamily="34" charset="0"/>
                <a:cs typeface="Calibri" panose="020F0502020204030204" pitchFamily="34" charset="0"/>
              </a:rPr>
              <a:t> FROM </a:t>
            </a:r>
            <a:r>
              <a:rPr lang="en-US" i="1" dirty="0">
                <a:latin typeface="Calibri" panose="020F0502020204030204" pitchFamily="34" charset="0"/>
                <a:cs typeface="Calibri" panose="020F0502020204030204" pitchFamily="34" charset="0"/>
              </a:rPr>
              <a:t>table-name</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a:t>
            </a:r>
            <a:r>
              <a:rPr lang="en-US" i="1" dirty="0">
                <a:latin typeface="Calibri" panose="020F0502020204030204" pitchFamily="34" charset="0"/>
                <a:cs typeface="Calibri" panose="020F0502020204030204" pitchFamily="34" charset="0"/>
              </a:rPr>
              <a:t>condition</a:t>
            </a:r>
            <a:r>
              <a:rPr lang="en-US" dirty="0" smtClean="0">
                <a:latin typeface="Calibri" panose="020F0502020204030204" pitchFamily="34" charset="0"/>
                <a:cs typeface="Calibri" panose="020F0502020204030204" pitchFamily="34" charset="0"/>
              </a:rPr>
              <a:t>;</a:t>
            </a:r>
          </a:p>
          <a:p>
            <a:pPr>
              <a:lnSpc>
                <a:spcPct val="15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To find the name of a student with id 100, the query would be like</a:t>
            </a:r>
            <a:r>
              <a:rPr lang="en-US" dirty="0" smtClean="0">
                <a:latin typeface="Calibri" panose="020F0502020204030204" pitchFamily="34" charset="0"/>
                <a:cs typeface="Calibri" panose="020F0502020204030204" pitchFamily="34" charset="0"/>
              </a:rPr>
              <a:t>:</a:t>
            </a:r>
          </a:p>
          <a:p>
            <a:pPr>
              <a:lnSpc>
                <a:spcPct val="15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id = 100</a:t>
            </a:r>
            <a:r>
              <a:rPr lang="en-US" dirty="0" smtClean="0">
                <a:latin typeface="Calibri" panose="020F0502020204030204" pitchFamily="34" charset="0"/>
                <a:cs typeface="Calibri" panose="020F0502020204030204" pitchFamily="34" charset="0"/>
              </a:rPr>
              <a:t>;</a:t>
            </a:r>
          </a:p>
        </p:txBody>
      </p:sp>
      <p:sp>
        <p:nvSpPr>
          <p:cNvPr id="3" name="Rectangle 2"/>
          <p:cNvSpPr/>
          <p:nvPr/>
        </p:nvSpPr>
        <p:spPr>
          <a:xfrm>
            <a:off x="4202453" y="510916"/>
            <a:ext cx="2093073" cy="646331"/>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WHERE CLAUSE</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23188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3254" y="1519882"/>
            <a:ext cx="9934833" cy="3970318"/>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There </a:t>
            </a:r>
            <a:r>
              <a:rPr lang="en-US" dirty="0">
                <a:latin typeface="Calibri" panose="020F0502020204030204" pitchFamily="34" charset="0"/>
                <a:cs typeface="Calibri" panose="020F0502020204030204" pitchFamily="34" charset="0"/>
              </a:rPr>
              <a:t>are two </a:t>
            </a:r>
            <a:r>
              <a:rPr lang="en-US" dirty="0" smtClean="0">
                <a:latin typeface="Calibri" panose="020F0502020204030204" pitchFamily="34" charset="0"/>
                <a:cs typeface="Calibri" panose="020F0502020204030204" pitchFamily="34" charset="0"/>
              </a:rPr>
              <a:t>types </a:t>
            </a:r>
            <a:r>
              <a:rPr lang="en-US" dirty="0">
                <a:latin typeface="Calibri" panose="020F0502020204030204" pitchFamily="34" charset="0"/>
                <a:cs typeface="Calibri" panose="020F0502020204030204" pitchFamily="34" charset="0"/>
              </a:rPr>
              <a:t>of Operators, namely Comparison Operators and Logical Operators. These operators are used mainly in the WHERE </a:t>
            </a:r>
            <a:r>
              <a:rPr lang="en-US" dirty="0" smtClean="0">
                <a:latin typeface="Calibri" panose="020F0502020204030204" pitchFamily="34" charset="0"/>
                <a:cs typeface="Calibri" panose="020F0502020204030204" pitchFamily="34" charset="0"/>
              </a:rPr>
              <a:t>clause and </a:t>
            </a:r>
            <a:r>
              <a:rPr lang="en-US" dirty="0">
                <a:latin typeface="Calibri" panose="020F0502020204030204" pitchFamily="34" charset="0"/>
                <a:cs typeface="Calibri" panose="020F0502020204030204" pitchFamily="34" charset="0"/>
              </a:rPr>
              <a:t>HAVING clause to filter the data to be selected.</a:t>
            </a:r>
          </a:p>
          <a:p>
            <a:pPr>
              <a:lnSpc>
                <a:spcPct val="200000"/>
              </a:lnSpc>
            </a:pPr>
            <a:r>
              <a:rPr lang="en-US" b="1" dirty="0" smtClean="0">
                <a:latin typeface="Calibri" panose="020F0502020204030204" pitchFamily="34" charset="0"/>
                <a:cs typeface="Calibri" panose="020F0502020204030204" pitchFamily="34" charset="0"/>
              </a:rPr>
              <a:t>Comparison </a:t>
            </a:r>
            <a:r>
              <a:rPr lang="en-US" b="1" dirty="0">
                <a:latin typeface="Calibri" panose="020F0502020204030204" pitchFamily="34" charset="0"/>
                <a:cs typeface="Calibri" panose="020F0502020204030204" pitchFamily="34" charset="0"/>
              </a:rPr>
              <a:t>Operators:</a:t>
            </a:r>
          </a:p>
          <a:p>
            <a:pPr>
              <a:lnSpc>
                <a:spcPct val="200000"/>
              </a:lnSpc>
            </a:pPr>
            <a:r>
              <a:rPr lang="en-US" dirty="0">
                <a:latin typeface="Calibri" panose="020F0502020204030204" pitchFamily="34" charset="0"/>
                <a:cs typeface="Calibri" panose="020F0502020204030204" pitchFamily="34" charset="0"/>
              </a:rPr>
              <a:t>Comparison operators are used to compare the column data with specific values in a condition.</a:t>
            </a:r>
          </a:p>
          <a:p>
            <a:pPr>
              <a:lnSpc>
                <a:spcPct val="200000"/>
              </a:lnSpc>
            </a:pPr>
            <a:r>
              <a:rPr lang="en-US" dirty="0">
                <a:latin typeface="Calibri" panose="020F0502020204030204" pitchFamily="34" charset="0"/>
                <a:cs typeface="Calibri" panose="020F0502020204030204" pitchFamily="34" charset="0"/>
              </a:rPr>
              <a:t>Comparison Operators are also used along with the SELECT statement to filter data based on specific </a:t>
            </a:r>
            <a:r>
              <a:rPr lang="en-US" dirty="0" smtClean="0">
                <a:latin typeface="Calibri" panose="020F0502020204030204" pitchFamily="34" charset="0"/>
                <a:cs typeface="Calibri" panose="020F0502020204030204" pitchFamily="34" charset="0"/>
              </a:rPr>
              <a:t>conditions. They include: greater than, less than, equal to, less than or equal to, greater than or equal to, not equal to</a:t>
            </a:r>
          </a:p>
        </p:txBody>
      </p:sp>
      <p:sp>
        <p:nvSpPr>
          <p:cNvPr id="4" name="Rectangle 3"/>
          <p:cNvSpPr/>
          <p:nvPr/>
        </p:nvSpPr>
        <p:spPr>
          <a:xfrm>
            <a:off x="4202453" y="510916"/>
            <a:ext cx="1557414" cy="568745"/>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Operators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15061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1433382"/>
            <a:ext cx="9860692" cy="2862322"/>
          </a:xfrm>
          <a:prstGeom prst="rect">
            <a:avLst/>
          </a:prstGeom>
          <a:noFill/>
        </p:spPr>
        <p:txBody>
          <a:bodyPr wrap="square" rtlCol="0">
            <a:spAutoFit/>
          </a:bodyPr>
          <a:lstStyle/>
          <a:p>
            <a:pPr>
              <a:lnSpc>
                <a:spcPct val="200000"/>
              </a:lnSpc>
            </a:pPr>
            <a:r>
              <a:rPr lang="en-US" b="1" dirty="0">
                <a:latin typeface="Calibri" panose="020F0502020204030204" pitchFamily="34" charset="0"/>
                <a:cs typeface="Calibri" panose="020F0502020204030204" pitchFamily="34" charset="0"/>
              </a:rPr>
              <a:t>Logical Operators:</a:t>
            </a:r>
          </a:p>
          <a:p>
            <a:pPr marL="285750" indent="-285750">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There are three Logical Operators namely AND, OR and NOT.</a:t>
            </a:r>
          </a:p>
          <a:p>
            <a:pPr marL="285750" indent="-285750">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These operators compare two conditions at a time to determine whether a row can be selected for the output. When retrieving data using a SELECT statement, you can use logical operators in the WHERE clause, which allows you to combine more than one condition.</a:t>
            </a:r>
          </a:p>
        </p:txBody>
      </p:sp>
      <p:pic>
        <p:nvPicPr>
          <p:cNvPr id="3" name="Picture 2"/>
          <p:cNvPicPr>
            <a:picLocks noChangeAspect="1"/>
          </p:cNvPicPr>
          <p:nvPr/>
        </p:nvPicPr>
        <p:blipFill>
          <a:blip r:embed="rId2"/>
          <a:stretch>
            <a:fillRect/>
          </a:stretch>
        </p:blipFill>
        <p:spPr>
          <a:xfrm>
            <a:off x="3592498" y="4477127"/>
            <a:ext cx="3277057" cy="1981477"/>
          </a:xfrm>
          <a:prstGeom prst="rect">
            <a:avLst/>
          </a:prstGeom>
        </p:spPr>
      </p:pic>
      <p:sp>
        <p:nvSpPr>
          <p:cNvPr id="4" name="Rectangle 3"/>
          <p:cNvSpPr/>
          <p:nvPr/>
        </p:nvSpPr>
        <p:spPr>
          <a:xfrm>
            <a:off x="4202453" y="510916"/>
            <a:ext cx="1557414" cy="568745"/>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Operators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125886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25610" y="1383956"/>
            <a:ext cx="10429103" cy="4524315"/>
          </a:xfrm>
          <a:prstGeom prst="rect">
            <a:avLst/>
          </a:prstGeom>
          <a:noFill/>
        </p:spPr>
        <p:txBody>
          <a:bodyPr wrap="square" rtlCol="0">
            <a:spAutoFit/>
          </a:bodyPr>
          <a:lstStyle/>
          <a:p>
            <a:pPr marL="285750" indent="-28575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To </a:t>
            </a:r>
            <a:r>
              <a:rPr lang="en-US" dirty="0">
                <a:latin typeface="Calibri" panose="020F0502020204030204" pitchFamily="34" charset="0"/>
                <a:cs typeface="Calibri" panose="020F0502020204030204" pitchFamily="34" charset="0"/>
              </a:rPr>
              <a:t>find the names of students who are studying either </a:t>
            </a:r>
            <a:r>
              <a:rPr lang="en-US" dirty="0" err="1">
                <a:latin typeface="Calibri" panose="020F0502020204030204" pitchFamily="34" charset="0"/>
                <a:cs typeface="Calibri" panose="020F0502020204030204" pitchFamily="34" charset="0"/>
              </a:rPr>
              <a:t>Maths</a:t>
            </a:r>
            <a:r>
              <a:rPr lang="en-US" dirty="0">
                <a:latin typeface="Calibri" panose="020F0502020204030204" pitchFamily="34" charset="0"/>
                <a:cs typeface="Calibri" panose="020F0502020204030204" pitchFamily="34" charset="0"/>
              </a:rPr>
              <a:t> or Science, the query would be </a:t>
            </a:r>
            <a:r>
              <a:rPr lang="en-US" dirty="0" smtClean="0">
                <a:latin typeface="Calibri" panose="020F0502020204030204" pitchFamily="34" charset="0"/>
                <a:cs typeface="Calibri" panose="020F0502020204030204" pitchFamily="34" charset="0"/>
              </a:rPr>
              <a:t>like</a:t>
            </a:r>
          </a:p>
          <a:p>
            <a:pPr>
              <a:lnSpc>
                <a:spcPct val="20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subject</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subject = '</a:t>
            </a:r>
            <a:r>
              <a:rPr lang="en-US" dirty="0" err="1">
                <a:latin typeface="Calibri" panose="020F0502020204030204" pitchFamily="34" charset="0"/>
                <a:cs typeface="Calibri" panose="020F0502020204030204" pitchFamily="34" charset="0"/>
              </a:rPr>
              <a:t>Maths</a:t>
            </a:r>
            <a:r>
              <a:rPr lang="en-US" dirty="0">
                <a:latin typeface="Calibri" panose="020F0502020204030204" pitchFamily="34" charset="0"/>
                <a:cs typeface="Calibri" panose="020F0502020204030204" pitchFamily="34" charset="0"/>
              </a:rPr>
              <a:t>' OR subject = </a:t>
            </a:r>
            <a:r>
              <a:rPr lang="en-US" dirty="0" smtClean="0">
                <a:latin typeface="Calibri" panose="020F0502020204030204" pitchFamily="34" charset="0"/>
                <a:cs typeface="Calibri" panose="020F0502020204030204" pitchFamily="34" charset="0"/>
              </a:rPr>
              <a:t>'Science‘</a:t>
            </a:r>
          </a:p>
          <a:p>
            <a:pPr marL="285750" indent="-285750">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To find the names of the students between the age 10 to 15 years, the query would be like</a:t>
            </a:r>
            <a:r>
              <a:rPr lang="en-US" dirty="0" smtClean="0">
                <a:latin typeface="Calibri" panose="020F0502020204030204" pitchFamily="34" charset="0"/>
                <a:cs typeface="Calibri" panose="020F0502020204030204" pitchFamily="34" charset="0"/>
              </a:rPr>
              <a:t>:</a:t>
            </a:r>
          </a:p>
          <a:p>
            <a:pPr>
              <a:lnSpc>
                <a:spcPct val="20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age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age &gt;= 10 AND age &lt;= 15</a:t>
            </a:r>
            <a:r>
              <a:rPr lang="en-US" dirty="0" smtClean="0">
                <a:latin typeface="Calibri" panose="020F0502020204030204" pitchFamily="34" charset="0"/>
                <a:cs typeface="Calibri" panose="020F0502020204030204" pitchFamily="34" charset="0"/>
              </a:rPr>
              <a:t>;</a:t>
            </a:r>
          </a:p>
        </p:txBody>
      </p:sp>
      <p:sp>
        <p:nvSpPr>
          <p:cNvPr id="4" name="Rectangle 3"/>
          <p:cNvSpPr/>
          <p:nvPr/>
        </p:nvSpPr>
        <p:spPr>
          <a:xfrm>
            <a:off x="4202453" y="510916"/>
            <a:ext cx="2512419" cy="646331"/>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Operators Examples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12357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07524" y="1902941"/>
            <a:ext cx="9144000" cy="2308324"/>
          </a:xfrm>
          <a:prstGeom prst="rect">
            <a:avLst/>
          </a:prstGeom>
          <a:noFill/>
        </p:spPr>
        <p:txBody>
          <a:bodyPr wrap="square" rtlCol="0">
            <a:spAutoFit/>
          </a:bodyPr>
          <a:lstStyle/>
          <a:p>
            <a:pPr marL="285750" indent="-28575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To </a:t>
            </a:r>
            <a:r>
              <a:rPr lang="en-US" dirty="0">
                <a:latin typeface="Calibri" panose="020F0502020204030204" pitchFamily="34" charset="0"/>
                <a:cs typeface="Calibri" panose="020F0502020204030204" pitchFamily="34" charset="0"/>
              </a:rPr>
              <a:t>find out the names of the students who do not play football, the query would be like</a:t>
            </a:r>
            <a:r>
              <a:rPr lang="en-US" dirty="0" smtClean="0">
                <a:latin typeface="Calibri" panose="020F0502020204030204" pitchFamily="34" charset="0"/>
                <a:cs typeface="Calibri" panose="020F0502020204030204" pitchFamily="34" charset="0"/>
              </a:rPr>
              <a:t>:</a:t>
            </a:r>
          </a:p>
          <a:p>
            <a:pPr>
              <a:lnSpc>
                <a:spcPct val="20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games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NOT games = 'Football'</a:t>
            </a:r>
          </a:p>
        </p:txBody>
      </p:sp>
      <p:sp>
        <p:nvSpPr>
          <p:cNvPr id="4" name="Rectangle 3"/>
          <p:cNvSpPr/>
          <p:nvPr/>
        </p:nvSpPr>
        <p:spPr>
          <a:xfrm>
            <a:off x="4202453" y="510916"/>
            <a:ext cx="2512419" cy="646331"/>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a:t>
            </a:r>
            <a:r>
              <a:rPr lang="en-US" b="1" dirty="0" smtClean="0">
                <a:latin typeface="Calibri" panose="020F0502020204030204" pitchFamily="34" charset="0"/>
                <a:cs typeface="Calibri" panose="020F0502020204030204" pitchFamily="34" charset="0"/>
              </a:rPr>
              <a:t>Operators Examples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86771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9178" y="1285102"/>
            <a:ext cx="10157255" cy="4524315"/>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You </a:t>
            </a:r>
            <a:r>
              <a:rPr lang="en-US" dirty="0">
                <a:latin typeface="Calibri" panose="020F0502020204030204" pitchFamily="34" charset="0"/>
                <a:cs typeface="Calibri" panose="020F0502020204030204" pitchFamily="34" charset="0"/>
              </a:rPr>
              <a:t>can use multiple logical operators in an SQL statement. When you combine the logical operators in a SELECT statement, the order in which the statement is processed </a:t>
            </a:r>
            <a:r>
              <a:rPr lang="en-US" dirty="0" smtClean="0">
                <a:latin typeface="Calibri" panose="020F0502020204030204" pitchFamily="34" charset="0"/>
                <a:cs typeface="Calibri" panose="020F0502020204030204" pitchFamily="34" charset="0"/>
              </a:rPr>
              <a:t>is NOT, AND then OR</a:t>
            </a:r>
            <a:endParaRPr lang="en-US" dirty="0">
              <a:latin typeface="Calibri" panose="020F0502020204030204" pitchFamily="34" charset="0"/>
              <a:cs typeface="Calibri" panose="020F0502020204030204" pitchFamily="34" charset="0"/>
            </a:endParaRPr>
          </a:p>
          <a:p>
            <a:pPr>
              <a:lnSpc>
                <a:spcPct val="20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To </a:t>
            </a:r>
            <a:r>
              <a:rPr lang="en-US" dirty="0">
                <a:latin typeface="Calibri" panose="020F0502020204030204" pitchFamily="34" charset="0"/>
                <a:cs typeface="Calibri" panose="020F0502020204030204" pitchFamily="34" charset="0"/>
              </a:rPr>
              <a:t>select the names of the students </a:t>
            </a:r>
            <a:r>
              <a:rPr lang="en-US" dirty="0" smtClean="0">
                <a:latin typeface="Calibri" panose="020F0502020204030204" pitchFamily="34" charset="0"/>
                <a:cs typeface="Calibri" panose="020F0502020204030204" pitchFamily="34" charset="0"/>
              </a:rPr>
              <a:t>whose age </a:t>
            </a:r>
            <a:r>
              <a:rPr lang="en-US" dirty="0">
                <a:latin typeface="Calibri" panose="020F0502020204030204" pitchFamily="34" charset="0"/>
                <a:cs typeface="Calibri" panose="020F0502020204030204" pitchFamily="34" charset="0"/>
              </a:rPr>
              <a:t>is between 10 and 15 years, or those who do not play </a:t>
            </a:r>
            <a:r>
              <a:rPr lang="en-US" dirty="0" smtClean="0">
                <a:latin typeface="Calibri" panose="020F0502020204030204" pitchFamily="34" charset="0"/>
                <a:cs typeface="Calibri" panose="020F0502020204030204" pitchFamily="34" charset="0"/>
              </a:rPr>
              <a:t>football, the SQL code will be </a:t>
            </a:r>
          </a:p>
          <a:p>
            <a:pPr>
              <a:lnSpc>
                <a:spcPct val="200000"/>
              </a:lnSpc>
            </a:pPr>
            <a:r>
              <a:rPr lang="en-US" dirty="0" smtClean="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age, games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age &gt;= 10 AND age &lt;= 15</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OR NOT games = 'Football'</a:t>
            </a:r>
          </a:p>
        </p:txBody>
      </p:sp>
      <p:sp>
        <p:nvSpPr>
          <p:cNvPr id="3" name="Rectangle 2"/>
          <p:cNvSpPr/>
          <p:nvPr/>
        </p:nvSpPr>
        <p:spPr>
          <a:xfrm>
            <a:off x="4202453" y="510916"/>
            <a:ext cx="2632708" cy="464871"/>
          </a:xfrm>
          <a:prstGeom prst="rect">
            <a:avLst/>
          </a:prstGeom>
        </p:spPr>
        <p:txBody>
          <a:bodyPr wrap="none">
            <a:spAutoFit/>
          </a:bodyPr>
          <a:lstStyle/>
          <a:p>
            <a:pPr>
              <a:lnSpc>
                <a:spcPct val="150000"/>
              </a:lnSpc>
            </a:pPr>
            <a:r>
              <a:rPr lang="en-US" b="1" dirty="0">
                <a:latin typeface="Calibri" panose="020F0502020204030204" pitchFamily="34" charset="0"/>
                <a:cs typeface="Calibri" panose="020F0502020204030204" pitchFamily="34" charset="0"/>
              </a:rPr>
              <a:t>Nested Logical Operators:</a:t>
            </a:r>
          </a:p>
        </p:txBody>
      </p:sp>
    </p:spTree>
    <p:extLst>
      <p:ext uri="{BB962C8B-B14F-4D97-AF65-F5344CB8AC3E}">
        <p14:creationId xmlns:p14="http://schemas.microsoft.com/office/powerpoint/2010/main" val="341850017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0962" y="1346887"/>
            <a:ext cx="9527059" cy="1338828"/>
          </a:xfrm>
          <a:prstGeom prst="rect">
            <a:avLst/>
          </a:prstGeom>
          <a:noFill/>
        </p:spPr>
        <p:txBody>
          <a:bodyPr wrap="square" rtlCol="0">
            <a:spAutoFit/>
          </a:bodyPr>
          <a:lstStyle/>
          <a:p>
            <a:pPr>
              <a:lnSpc>
                <a:spcPct val="150000"/>
              </a:lnSpc>
            </a:pPr>
            <a:r>
              <a:rPr lang="en-US" dirty="0" smtClean="0">
                <a:latin typeface="Calibri" panose="020F0502020204030204" pitchFamily="34" charset="0"/>
                <a:cs typeface="Calibri" panose="020F0502020204030204" pitchFamily="34" charset="0"/>
              </a:rPr>
              <a:t>There </a:t>
            </a:r>
            <a:r>
              <a:rPr lang="en-US" dirty="0">
                <a:latin typeface="Calibri" panose="020F0502020204030204" pitchFamily="34" charset="0"/>
                <a:cs typeface="Calibri" panose="020F0502020204030204" pitchFamily="34" charset="0"/>
              </a:rPr>
              <a:t>are other comparison keywords available in </a:t>
            </a:r>
            <a:r>
              <a:rPr lang="en-US" dirty="0" err="1">
                <a:latin typeface="Calibri" panose="020F0502020204030204" pitchFamily="34" charset="0"/>
                <a:cs typeface="Calibri" panose="020F0502020204030204" pitchFamily="34" charset="0"/>
              </a:rPr>
              <a:t>sql</a:t>
            </a:r>
            <a:r>
              <a:rPr lang="en-US" dirty="0">
                <a:latin typeface="Calibri" panose="020F0502020204030204" pitchFamily="34" charset="0"/>
                <a:cs typeface="Calibri" panose="020F0502020204030204" pitchFamily="34" charset="0"/>
              </a:rPr>
              <a:t> which are used to enhance the search capabilities of a </a:t>
            </a:r>
            <a:r>
              <a:rPr lang="en-US" dirty="0" err="1">
                <a:latin typeface="Calibri" panose="020F0502020204030204" pitchFamily="34" charset="0"/>
                <a:cs typeface="Calibri" panose="020F0502020204030204" pitchFamily="34" charset="0"/>
              </a:rPr>
              <a:t>sql</a:t>
            </a:r>
            <a:r>
              <a:rPr lang="en-US" dirty="0">
                <a:latin typeface="Calibri" panose="020F0502020204030204" pitchFamily="34" charset="0"/>
                <a:cs typeface="Calibri" panose="020F0502020204030204" pitchFamily="34" charset="0"/>
              </a:rPr>
              <a:t> query. They are "IN", "BETWEEN...AND", "IS NULL", "LIKE".</a:t>
            </a:r>
          </a:p>
          <a:p>
            <a:pPr>
              <a:lnSpc>
                <a:spcPct val="150000"/>
              </a:lnSpc>
            </a:pPr>
            <a:endParaRPr lang="en-US" dirty="0">
              <a:latin typeface="Calibri" panose="020F0502020204030204" pitchFamily="34" charset="0"/>
              <a:cs typeface="Calibri" panose="020F0502020204030204" pitchFamily="34" charset="0"/>
            </a:endParaRPr>
          </a:p>
        </p:txBody>
      </p:sp>
      <p:sp>
        <p:nvSpPr>
          <p:cNvPr id="4" name="Rectangle 3"/>
          <p:cNvSpPr/>
          <p:nvPr/>
        </p:nvSpPr>
        <p:spPr>
          <a:xfrm>
            <a:off x="4202453" y="510916"/>
            <a:ext cx="2734979" cy="464871"/>
          </a:xfrm>
          <a:prstGeom prst="rect">
            <a:avLst/>
          </a:prstGeom>
        </p:spPr>
        <p:txBody>
          <a:bodyPr wrap="none">
            <a:spAutoFit/>
          </a:bodyPr>
          <a:lstStyle/>
          <a:p>
            <a:pPr>
              <a:lnSpc>
                <a:spcPct val="150000"/>
              </a:lnSpc>
            </a:pPr>
            <a:r>
              <a:rPr lang="en-US" b="1" dirty="0">
                <a:latin typeface="Calibri" panose="020F0502020204030204" pitchFamily="34" charset="0"/>
                <a:cs typeface="Calibri" panose="020F0502020204030204" pitchFamily="34" charset="0"/>
              </a:rPr>
              <a:t>SQL Comparison Keywords</a:t>
            </a:r>
          </a:p>
        </p:txBody>
      </p:sp>
      <p:graphicFrame>
        <p:nvGraphicFramePr>
          <p:cNvPr id="5" name="Table 4"/>
          <p:cNvGraphicFramePr>
            <a:graphicFrameLocks noGrp="1"/>
          </p:cNvGraphicFramePr>
          <p:nvPr>
            <p:extLst>
              <p:ext uri="{D42A27DB-BD31-4B8C-83A1-F6EECF244321}">
                <p14:modId xmlns:p14="http://schemas.microsoft.com/office/powerpoint/2010/main" val="1285680816"/>
              </p:ext>
            </p:extLst>
          </p:nvPr>
        </p:nvGraphicFramePr>
        <p:xfrm>
          <a:off x="2693772" y="2746175"/>
          <a:ext cx="5377936" cy="2966720"/>
        </p:xfrm>
        <a:graphic>
          <a:graphicData uri="http://schemas.openxmlformats.org/drawingml/2006/table">
            <a:tbl>
              <a:tblPr firstRow="1" bandRow="1">
                <a:tableStyleId>{5C22544A-7EE6-4342-B048-85BDC9FD1C3A}</a:tableStyleId>
              </a:tblPr>
              <a:tblGrid>
                <a:gridCol w="2688968">
                  <a:extLst>
                    <a:ext uri="{9D8B030D-6E8A-4147-A177-3AD203B41FA5}">
                      <a16:colId xmlns:a16="http://schemas.microsoft.com/office/drawing/2014/main" val="807149882"/>
                    </a:ext>
                  </a:extLst>
                </a:gridCol>
                <a:gridCol w="2688968">
                  <a:extLst>
                    <a:ext uri="{9D8B030D-6E8A-4147-A177-3AD203B41FA5}">
                      <a16:colId xmlns:a16="http://schemas.microsoft.com/office/drawing/2014/main" val="1708225014"/>
                    </a:ext>
                  </a:extLst>
                </a:gridCol>
              </a:tblGrid>
              <a:tr h="370840">
                <a:tc>
                  <a:txBody>
                    <a:bodyPr/>
                    <a:lstStyle/>
                    <a:p>
                      <a:r>
                        <a:rPr lang="en-US" sz="1600" dirty="0" smtClean="0">
                          <a:latin typeface="Times New Roman" panose="02020603050405020304" pitchFamily="18" charset="0"/>
                          <a:cs typeface="Times New Roman" panose="02020603050405020304" pitchFamily="18" charset="0"/>
                        </a:rPr>
                        <a:t>Comparison keyword</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Description</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007014"/>
                  </a:ext>
                </a:extLst>
              </a:tr>
              <a:tr h="370840">
                <a:tc>
                  <a:txBody>
                    <a:bodyPr/>
                    <a:lstStyle/>
                    <a:p>
                      <a:r>
                        <a:rPr lang="en-US" sz="1600" dirty="0" smtClean="0">
                          <a:latin typeface="Times New Roman" panose="02020603050405020304" pitchFamily="18" charset="0"/>
                          <a:cs typeface="Times New Roman" panose="02020603050405020304" pitchFamily="18" charset="0"/>
                        </a:rPr>
                        <a:t>LIKE</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Column value</a:t>
                      </a:r>
                      <a:r>
                        <a:rPr lang="en-US" sz="1600" baseline="0" dirty="0" smtClean="0">
                          <a:latin typeface="Times New Roman" panose="02020603050405020304" pitchFamily="18" charset="0"/>
                          <a:cs typeface="Times New Roman" panose="02020603050405020304" pitchFamily="18" charset="0"/>
                        </a:rPr>
                        <a:t> is similar to specified character(s)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98101265"/>
                  </a:ext>
                </a:extLst>
              </a:tr>
              <a:tr h="370840">
                <a:tc>
                  <a:txBody>
                    <a:bodyPr/>
                    <a:lstStyle/>
                    <a:p>
                      <a:r>
                        <a:rPr lang="en-US" sz="1600" dirty="0" smtClean="0">
                          <a:latin typeface="Times New Roman" panose="02020603050405020304" pitchFamily="18" charset="0"/>
                          <a:cs typeface="Times New Roman" panose="02020603050405020304" pitchFamily="18" charset="0"/>
                        </a:rPr>
                        <a:t>IN</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Column value is equal to</a:t>
                      </a:r>
                      <a:r>
                        <a:rPr lang="en-US" sz="1600" baseline="0" dirty="0" smtClean="0">
                          <a:latin typeface="Times New Roman" panose="02020603050405020304" pitchFamily="18" charset="0"/>
                          <a:cs typeface="Times New Roman" panose="02020603050405020304" pitchFamily="18" charset="0"/>
                        </a:rPr>
                        <a:t> any one of a specified set of values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18540377"/>
                  </a:ext>
                </a:extLst>
              </a:tr>
              <a:tr h="370840">
                <a:tc>
                  <a:txBody>
                    <a:bodyPr/>
                    <a:lstStyle/>
                    <a:p>
                      <a:r>
                        <a:rPr lang="en-US" sz="1600" dirty="0" smtClean="0">
                          <a:latin typeface="Times New Roman" panose="02020603050405020304" pitchFamily="18" charset="0"/>
                          <a:cs typeface="Times New Roman" panose="02020603050405020304" pitchFamily="18" charset="0"/>
                        </a:rPr>
                        <a:t>BETWEEN …AND</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Column value is between two values, including the end values specified in the range</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94315219"/>
                  </a:ext>
                </a:extLst>
              </a:tr>
              <a:tr h="370840">
                <a:tc>
                  <a:txBody>
                    <a:bodyPr/>
                    <a:lstStyle/>
                    <a:p>
                      <a:r>
                        <a:rPr lang="en-US" sz="1600" dirty="0" smtClean="0">
                          <a:latin typeface="Times New Roman" panose="02020603050405020304" pitchFamily="18" charset="0"/>
                          <a:cs typeface="Times New Roman" panose="02020603050405020304" pitchFamily="18" charset="0"/>
                        </a:rPr>
                        <a:t>IS NULL</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Column value does</a:t>
                      </a:r>
                      <a:r>
                        <a:rPr lang="en-US" sz="1600" baseline="0" dirty="0" smtClean="0">
                          <a:latin typeface="Times New Roman" panose="02020603050405020304" pitchFamily="18" charset="0"/>
                          <a:cs typeface="Times New Roman" panose="02020603050405020304" pitchFamily="18" charset="0"/>
                        </a:rPr>
                        <a:t> not exist</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4704850"/>
                  </a:ext>
                </a:extLst>
              </a:tr>
            </a:tbl>
          </a:graphicData>
        </a:graphic>
      </p:graphicFrame>
    </p:spTree>
    <p:extLst>
      <p:ext uri="{BB962C8B-B14F-4D97-AF65-F5344CB8AC3E}">
        <p14:creationId xmlns:p14="http://schemas.microsoft.com/office/powerpoint/2010/main" val="36755179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81666" y="1878227"/>
            <a:ext cx="10008972" cy="3416320"/>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LIKE operator is used to list all rows in a table whose column values </a:t>
            </a:r>
            <a:r>
              <a:rPr lang="en-US" dirty="0" smtClean="0">
                <a:latin typeface="Calibri" panose="020F0502020204030204" pitchFamily="34" charset="0"/>
                <a:cs typeface="Calibri" panose="020F0502020204030204" pitchFamily="34" charset="0"/>
              </a:rPr>
              <a:t>that match </a:t>
            </a:r>
            <a:r>
              <a:rPr lang="en-US" dirty="0">
                <a:latin typeface="Calibri" panose="020F0502020204030204" pitchFamily="34" charset="0"/>
                <a:cs typeface="Calibri" panose="020F0502020204030204" pitchFamily="34" charset="0"/>
              </a:rPr>
              <a:t>a specified pattern. </a:t>
            </a:r>
            <a:endParaRPr lang="en-US" dirty="0" smtClean="0">
              <a:latin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It </a:t>
            </a:r>
            <a:r>
              <a:rPr lang="en-US" dirty="0">
                <a:latin typeface="Calibri" panose="020F0502020204030204" pitchFamily="34" charset="0"/>
                <a:cs typeface="Calibri" panose="020F0502020204030204" pitchFamily="34" charset="0"/>
              </a:rPr>
              <a:t>is useful when </a:t>
            </a:r>
            <a:r>
              <a:rPr lang="en-US" dirty="0" smtClean="0">
                <a:latin typeface="Calibri" panose="020F0502020204030204" pitchFamily="34" charset="0"/>
                <a:cs typeface="Calibri" panose="020F0502020204030204" pitchFamily="34" charset="0"/>
              </a:rPr>
              <a:t>one wants </a:t>
            </a:r>
            <a:r>
              <a:rPr lang="en-US" dirty="0">
                <a:latin typeface="Calibri" panose="020F0502020204030204" pitchFamily="34" charset="0"/>
                <a:cs typeface="Calibri" panose="020F0502020204030204" pitchFamily="34" charset="0"/>
              </a:rPr>
              <a:t>to search rows </a:t>
            </a:r>
            <a:r>
              <a:rPr lang="en-US" dirty="0" smtClean="0">
                <a:latin typeface="Calibri" panose="020F0502020204030204" pitchFamily="34" charset="0"/>
                <a:cs typeface="Calibri" panose="020F0502020204030204" pitchFamily="34" charset="0"/>
              </a:rPr>
              <a:t>that match </a:t>
            </a:r>
            <a:r>
              <a:rPr lang="en-US" dirty="0">
                <a:latin typeface="Calibri" panose="020F0502020204030204" pitchFamily="34" charset="0"/>
                <a:cs typeface="Calibri" panose="020F0502020204030204" pitchFamily="34" charset="0"/>
              </a:rPr>
              <a:t>a specific pattern, or when you do not know the entire value. </a:t>
            </a:r>
            <a:endParaRPr lang="en-US" dirty="0" smtClean="0">
              <a:latin typeface="Calibri" panose="020F0502020204030204" pitchFamily="34" charset="0"/>
              <a:cs typeface="Calibri" panose="020F0502020204030204" pitchFamily="34" charset="0"/>
            </a:endParaRPr>
          </a:p>
          <a:p>
            <a:pPr marL="285750" indent="-285750">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For </a:t>
            </a:r>
            <a:r>
              <a:rPr lang="en-US" dirty="0">
                <a:latin typeface="Calibri" panose="020F0502020204030204" pitchFamily="34" charset="0"/>
                <a:cs typeface="Calibri" panose="020F0502020204030204" pitchFamily="34" charset="0"/>
              </a:rPr>
              <a:t>this purpose we use a wildcard character '%'.</a:t>
            </a:r>
          </a:p>
          <a:p>
            <a:pPr>
              <a:lnSpc>
                <a:spcPct val="15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To select all the students whose name begins with </a:t>
            </a:r>
            <a:r>
              <a:rPr lang="en-US" dirty="0" smtClean="0">
                <a:latin typeface="Calibri" panose="020F0502020204030204" pitchFamily="34" charset="0"/>
                <a:cs typeface="Calibri" panose="020F0502020204030204" pitchFamily="34" charset="0"/>
              </a:rPr>
              <a:t>'S‘</a:t>
            </a:r>
          </a:p>
          <a:p>
            <a:pPr>
              <a:lnSpc>
                <a:spcPct val="15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LIKE 'S</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Rectangle 2"/>
          <p:cNvSpPr/>
          <p:nvPr/>
        </p:nvSpPr>
        <p:spPr>
          <a:xfrm>
            <a:off x="4288950" y="745695"/>
            <a:ext cx="1919308" cy="464871"/>
          </a:xfrm>
          <a:prstGeom prst="rect">
            <a:avLst/>
          </a:prstGeom>
        </p:spPr>
        <p:txBody>
          <a:bodyPr wrap="none">
            <a:spAutoFit/>
          </a:bodyPr>
          <a:lstStyle/>
          <a:p>
            <a:pPr>
              <a:lnSpc>
                <a:spcPct val="150000"/>
              </a:lnSpc>
            </a:pPr>
            <a:r>
              <a:rPr lang="en-US" b="1" dirty="0">
                <a:latin typeface="Calibri" panose="020F0502020204030204" pitchFamily="34" charset="0"/>
                <a:cs typeface="Calibri" panose="020F0502020204030204" pitchFamily="34" charset="0"/>
              </a:rPr>
              <a:t>SQL LIKE Operator</a:t>
            </a:r>
          </a:p>
        </p:txBody>
      </p:sp>
    </p:spTree>
    <p:extLst>
      <p:ext uri="{BB962C8B-B14F-4D97-AF65-F5344CB8AC3E}">
        <p14:creationId xmlns:p14="http://schemas.microsoft.com/office/powerpoint/2010/main" val="39942170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4529" y="1643449"/>
            <a:ext cx="8896865" cy="3831818"/>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other </a:t>
            </a:r>
            <a:r>
              <a:rPr lang="en-US" dirty="0">
                <a:latin typeface="Calibri" panose="020F0502020204030204" pitchFamily="34" charset="0"/>
                <a:cs typeface="Calibri" panose="020F0502020204030204" pitchFamily="34" charset="0"/>
              </a:rPr>
              <a:t>wildcard character </a:t>
            </a:r>
            <a:r>
              <a:rPr lang="en-US" dirty="0" smtClean="0">
                <a:latin typeface="Calibri" panose="020F0502020204030204" pitchFamily="34" charset="0"/>
                <a:cs typeface="Calibri" panose="020F0502020204030204" pitchFamily="34" charset="0"/>
              </a:rPr>
              <a:t>one can </a:t>
            </a:r>
            <a:r>
              <a:rPr lang="en-US" dirty="0">
                <a:latin typeface="Calibri" panose="020F0502020204030204" pitchFamily="34" charset="0"/>
                <a:cs typeface="Calibri" panose="020F0502020204030204" pitchFamily="34" charset="0"/>
              </a:rPr>
              <a:t>use with LIKE </a:t>
            </a:r>
            <a:r>
              <a:rPr lang="en-US" dirty="0" smtClean="0">
                <a:latin typeface="Calibri" panose="020F0502020204030204" pitchFamily="34" charset="0"/>
                <a:cs typeface="Calibri" panose="020F0502020204030204" pitchFamily="34" charset="0"/>
              </a:rPr>
              <a:t>operator is </a:t>
            </a:r>
            <a:r>
              <a:rPr lang="en-US" dirty="0">
                <a:latin typeface="Calibri" panose="020F0502020204030204" pitchFamily="34" charset="0"/>
                <a:cs typeface="Calibri" panose="020F0502020204030204" pitchFamily="34" charset="0"/>
              </a:rPr>
              <a:t>the underscore character, ' _ ' . In a search string, the underscore signifies a single character</a:t>
            </a:r>
            <a:r>
              <a:rPr lang="en-US" dirty="0" smtClean="0">
                <a:latin typeface="Calibri" panose="020F0502020204030204" pitchFamily="34" charset="0"/>
                <a:cs typeface="Calibri" panose="020F0502020204030204" pitchFamily="34" charset="0"/>
              </a:rPr>
              <a:t>.</a:t>
            </a:r>
          </a:p>
          <a:p>
            <a:pPr>
              <a:lnSpc>
                <a:spcPct val="15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to display all the names with 'a' second character</a:t>
            </a:r>
            <a:r>
              <a:rPr lang="en-US" dirty="0" smtClean="0">
                <a:latin typeface="Calibri" panose="020F0502020204030204" pitchFamily="34" charset="0"/>
                <a:cs typeface="Calibri" panose="020F0502020204030204" pitchFamily="34" charset="0"/>
              </a:rPr>
              <a:t>,</a:t>
            </a:r>
          </a:p>
          <a:p>
            <a:pPr>
              <a:lnSpc>
                <a:spcPct val="15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LIKE '_a</a:t>
            </a:r>
            <a:r>
              <a:rPr lang="en-US" dirty="0" smtClean="0">
                <a:latin typeface="Calibri" panose="020F0502020204030204" pitchFamily="34" charset="0"/>
                <a:cs typeface="Calibri" panose="020F0502020204030204" pitchFamily="34" charset="0"/>
              </a:rPr>
              <a:t>%';</a:t>
            </a:r>
          </a:p>
          <a:p>
            <a:pPr>
              <a:lnSpc>
                <a:spcPct val="150000"/>
              </a:lnSpc>
            </a:pPr>
            <a:r>
              <a:rPr lang="en-US" b="1" dirty="0">
                <a:latin typeface="Calibri" panose="020F0502020204030204" pitchFamily="34" charset="0"/>
                <a:cs typeface="Calibri" panose="020F0502020204030204" pitchFamily="34" charset="0"/>
              </a:rPr>
              <a:t>NOTE</a:t>
            </a:r>
            <a:r>
              <a:rPr lang="en-US" b="1" dirty="0" smtClean="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Each </a:t>
            </a:r>
            <a:r>
              <a:rPr lang="en-US" dirty="0">
                <a:latin typeface="Calibri" panose="020F0502020204030204" pitchFamily="34" charset="0"/>
                <a:cs typeface="Calibri" panose="020F0502020204030204" pitchFamily="34" charset="0"/>
              </a:rPr>
              <a:t>underscore act as a placeholder for only one character. So you can use more than one underscore. </a:t>
            </a: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 __</a:t>
            </a:r>
            <a:r>
              <a:rPr lang="en-US" dirty="0" err="1">
                <a:latin typeface="Calibri" panose="020F0502020204030204" pitchFamily="34" charset="0"/>
                <a:cs typeface="Calibri" panose="020F0502020204030204" pitchFamily="34" charset="0"/>
              </a:rPr>
              <a:t>i</a:t>
            </a:r>
            <a:r>
              <a:rPr lang="en-US" dirty="0">
                <a:latin typeface="Calibri" panose="020F0502020204030204" pitchFamily="34" charset="0"/>
                <a:cs typeface="Calibri" panose="020F0502020204030204" pitchFamily="34" charset="0"/>
              </a:rPr>
              <a:t>% '-this has two underscores towards the left, '</a:t>
            </a:r>
            <a:r>
              <a:rPr lang="en-US" dirty="0" err="1">
                <a:latin typeface="Calibri" panose="020F0502020204030204" pitchFamily="34" charset="0"/>
                <a:cs typeface="Calibri" panose="020F0502020204030204" pitchFamily="34" charset="0"/>
              </a:rPr>
              <a:t>S__j</a:t>
            </a:r>
            <a:r>
              <a:rPr lang="en-US" dirty="0">
                <a:latin typeface="Calibri" panose="020F0502020204030204" pitchFamily="34" charset="0"/>
                <a:cs typeface="Calibri" panose="020F0502020204030204" pitchFamily="34" charset="0"/>
              </a:rPr>
              <a:t>%' - this has two underscores between character 'S' and '</a:t>
            </a:r>
            <a:r>
              <a:rPr lang="en-US" dirty="0" err="1">
                <a:latin typeface="Calibri" panose="020F0502020204030204" pitchFamily="34" charset="0"/>
                <a:cs typeface="Calibri" panose="020F0502020204030204" pitchFamily="34" charset="0"/>
              </a:rPr>
              <a:t>i</a:t>
            </a:r>
            <a:r>
              <a:rPr lang="en-US" dirty="0">
                <a:latin typeface="Calibri" panose="020F0502020204030204" pitchFamily="34" charset="0"/>
                <a:cs typeface="Calibri" panose="020F0502020204030204" pitchFamily="34" charset="0"/>
              </a:rPr>
              <a:t>'.</a:t>
            </a:r>
          </a:p>
        </p:txBody>
      </p:sp>
      <p:sp>
        <p:nvSpPr>
          <p:cNvPr id="3" name="Rectangle 2"/>
          <p:cNvSpPr/>
          <p:nvPr/>
        </p:nvSpPr>
        <p:spPr>
          <a:xfrm>
            <a:off x="3646399" y="634485"/>
            <a:ext cx="1919308" cy="464871"/>
          </a:xfrm>
          <a:prstGeom prst="rect">
            <a:avLst/>
          </a:prstGeom>
        </p:spPr>
        <p:txBody>
          <a:bodyPr wrap="none">
            <a:spAutoFit/>
          </a:bodyPr>
          <a:lstStyle/>
          <a:p>
            <a:pPr>
              <a:lnSpc>
                <a:spcPct val="150000"/>
              </a:lnSpc>
            </a:pPr>
            <a:r>
              <a:rPr lang="en-US" b="1" dirty="0">
                <a:latin typeface="Calibri" panose="020F0502020204030204" pitchFamily="34" charset="0"/>
                <a:cs typeface="Calibri" panose="020F0502020204030204" pitchFamily="34" charset="0"/>
              </a:rPr>
              <a:t>SQL LIKE Operator</a:t>
            </a:r>
          </a:p>
        </p:txBody>
      </p:sp>
    </p:spTree>
    <p:extLst>
      <p:ext uri="{BB962C8B-B14F-4D97-AF65-F5344CB8AC3E}">
        <p14:creationId xmlns:p14="http://schemas.microsoft.com/office/powerpoint/2010/main" val="17265336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32237" y="1964725"/>
            <a:ext cx="9613558" cy="3416320"/>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operator BETWEEN and </a:t>
            </a:r>
            <a:r>
              <a:rPr lang="en-US" dirty="0" err="1">
                <a:latin typeface="Calibri" panose="020F0502020204030204" pitchFamily="34" charset="0"/>
                <a:cs typeface="Calibri" panose="020F0502020204030204" pitchFamily="34" charset="0"/>
              </a:rPr>
              <a:t>AND</a:t>
            </a:r>
            <a:r>
              <a:rPr lang="en-US" dirty="0">
                <a:latin typeface="Calibri" panose="020F0502020204030204" pitchFamily="34" charset="0"/>
                <a:cs typeface="Calibri" panose="020F0502020204030204" pitchFamily="34" charset="0"/>
              </a:rPr>
              <a:t>, are used to compare data for a range of values.</a:t>
            </a:r>
          </a:p>
          <a:p>
            <a:pPr>
              <a:lnSpc>
                <a:spcPct val="20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To </a:t>
            </a:r>
            <a:r>
              <a:rPr lang="en-US" dirty="0">
                <a:latin typeface="Calibri" panose="020F0502020204030204" pitchFamily="34" charset="0"/>
                <a:cs typeface="Calibri" panose="020F0502020204030204" pitchFamily="34" charset="0"/>
              </a:rPr>
              <a:t>find the names of the students between age 10 to 15 years, the query would be like,</a:t>
            </a:r>
          </a:p>
          <a:p>
            <a:pPr>
              <a:lnSpc>
                <a:spcPct val="20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age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age BETWEEN 10 AND </a:t>
            </a:r>
            <a:r>
              <a:rPr lang="en-US" dirty="0" smtClean="0">
                <a:latin typeface="Calibri" panose="020F0502020204030204" pitchFamily="34" charset="0"/>
                <a:cs typeface="Calibri" panose="020F0502020204030204" pitchFamily="34" charset="0"/>
              </a:rPr>
              <a:t>15;</a:t>
            </a:r>
          </a:p>
          <a:p>
            <a:pPr>
              <a:lnSpc>
                <a:spcPct val="200000"/>
              </a:lnSpc>
            </a:pPr>
            <a:endParaRPr lang="en-US" dirty="0">
              <a:latin typeface="Calibri" panose="020F0502020204030204" pitchFamily="34" charset="0"/>
              <a:cs typeface="Calibri" panose="020F0502020204030204" pitchFamily="34" charset="0"/>
            </a:endParaRPr>
          </a:p>
        </p:txBody>
      </p:sp>
      <p:sp>
        <p:nvSpPr>
          <p:cNvPr id="3" name="Rectangle 2"/>
          <p:cNvSpPr/>
          <p:nvPr/>
        </p:nvSpPr>
        <p:spPr>
          <a:xfrm>
            <a:off x="3658756" y="720982"/>
            <a:ext cx="3190489" cy="464871"/>
          </a:xfrm>
          <a:prstGeom prst="rect">
            <a:avLst/>
          </a:prstGeom>
        </p:spPr>
        <p:txBody>
          <a:bodyPr wrap="none">
            <a:spAutoFit/>
          </a:bodyPr>
          <a:lstStyle/>
          <a:p>
            <a:pPr>
              <a:lnSpc>
                <a:spcPct val="150000"/>
              </a:lnSpc>
            </a:pPr>
            <a:r>
              <a:rPr lang="en-US" b="1" dirty="0">
                <a:latin typeface="Calibri" panose="020F0502020204030204" pitchFamily="34" charset="0"/>
                <a:cs typeface="Calibri" panose="020F0502020204030204" pitchFamily="34" charset="0"/>
              </a:rPr>
              <a:t>SQL BETWEEN ... AND Operator</a:t>
            </a:r>
          </a:p>
        </p:txBody>
      </p:sp>
    </p:spTree>
    <p:extLst>
      <p:ext uri="{BB962C8B-B14F-4D97-AF65-F5344CB8AC3E}">
        <p14:creationId xmlns:p14="http://schemas.microsoft.com/office/powerpoint/2010/main" val="23493756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9686" y="1266204"/>
            <a:ext cx="10552671" cy="5078313"/>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IN operator is used when you want to compare a column with more than one value. It is similar to an OR condition.</a:t>
            </a:r>
          </a:p>
          <a:p>
            <a:pPr>
              <a:lnSpc>
                <a:spcPct val="20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If you want to find the names of students who are studying either </a:t>
            </a:r>
            <a:r>
              <a:rPr lang="en-US" dirty="0" err="1">
                <a:latin typeface="Calibri" panose="020F0502020204030204" pitchFamily="34" charset="0"/>
                <a:cs typeface="Calibri" panose="020F0502020204030204" pitchFamily="34" charset="0"/>
              </a:rPr>
              <a:t>Maths</a:t>
            </a:r>
            <a:r>
              <a:rPr lang="en-US" dirty="0">
                <a:latin typeface="Calibri" panose="020F0502020204030204" pitchFamily="34" charset="0"/>
                <a:cs typeface="Calibri" panose="020F0502020204030204" pitchFamily="34" charset="0"/>
              </a:rPr>
              <a:t> or Science, the query would be like</a:t>
            </a:r>
            <a:r>
              <a:rPr lang="en-US" dirty="0" smtClean="0">
                <a:latin typeface="Calibri" panose="020F0502020204030204" pitchFamily="34" charset="0"/>
                <a:cs typeface="Calibri" panose="020F0502020204030204" pitchFamily="34" charset="0"/>
              </a:rPr>
              <a:t>,</a:t>
            </a:r>
          </a:p>
          <a:p>
            <a:pPr>
              <a:lnSpc>
                <a:spcPct val="20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subject</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subject IN ('</a:t>
            </a:r>
            <a:r>
              <a:rPr lang="en-US" dirty="0" err="1">
                <a:latin typeface="Calibri" panose="020F0502020204030204" pitchFamily="34" charset="0"/>
                <a:cs typeface="Calibri" panose="020F0502020204030204" pitchFamily="34" charset="0"/>
              </a:rPr>
              <a:t>Maths</a:t>
            </a:r>
            <a:r>
              <a:rPr lang="en-US" dirty="0">
                <a:latin typeface="Calibri" panose="020F0502020204030204" pitchFamily="34" charset="0"/>
                <a:cs typeface="Calibri" panose="020F0502020204030204" pitchFamily="34" charset="0"/>
              </a:rPr>
              <a:t>', 'Science</a:t>
            </a:r>
            <a:r>
              <a:rPr lang="en-US" dirty="0" smtClean="0">
                <a:latin typeface="Calibri" panose="020F0502020204030204" pitchFamily="34" charset="0"/>
                <a:cs typeface="Calibri" panose="020F0502020204030204" pitchFamily="34" charset="0"/>
              </a:rPr>
              <a:t>');</a:t>
            </a:r>
          </a:p>
          <a:p>
            <a:pPr>
              <a:lnSpc>
                <a:spcPct val="200000"/>
              </a:lnSpc>
            </a:pPr>
            <a:r>
              <a:rPr lang="en-US" dirty="0">
                <a:latin typeface="Calibri" panose="020F0502020204030204" pitchFamily="34" charset="0"/>
                <a:cs typeface="Calibri" panose="020F0502020204030204" pitchFamily="34" charset="0"/>
              </a:rPr>
              <a:t>You can include more subjects in the list like ('</a:t>
            </a:r>
            <a:r>
              <a:rPr lang="en-US" dirty="0" err="1">
                <a:latin typeface="Calibri" panose="020F0502020204030204" pitchFamily="34" charset="0"/>
                <a:cs typeface="Calibri" panose="020F0502020204030204" pitchFamily="34" charset="0"/>
              </a:rPr>
              <a:t>maths</a:t>
            </a:r>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science','history</a:t>
            </a:r>
            <a:r>
              <a:rPr lang="en-US" dirty="0">
                <a:latin typeface="Calibri" panose="020F0502020204030204" pitchFamily="34" charset="0"/>
                <a:cs typeface="Calibri" panose="020F0502020204030204" pitchFamily="34" charset="0"/>
              </a:rPr>
              <a:t>')</a:t>
            </a:r>
          </a:p>
          <a:p>
            <a:pPr>
              <a:lnSpc>
                <a:spcPct val="200000"/>
              </a:lnSpc>
            </a:pPr>
            <a:r>
              <a:rPr lang="en-US" b="1" dirty="0" err="1">
                <a:latin typeface="Calibri" panose="020F0502020204030204" pitchFamily="34" charset="0"/>
                <a:cs typeface="Calibri" panose="020F0502020204030204" pitchFamily="34" charset="0"/>
              </a:rPr>
              <a:t>NOTE:</a:t>
            </a:r>
            <a:r>
              <a:rPr lang="en-US" dirty="0" err="1">
                <a:latin typeface="Calibri" panose="020F0502020204030204" pitchFamily="34" charset="0"/>
                <a:cs typeface="Calibri" panose="020F0502020204030204" pitchFamily="34" charset="0"/>
              </a:rPr>
              <a:t>The</a:t>
            </a:r>
            <a:r>
              <a:rPr lang="en-US" dirty="0">
                <a:latin typeface="Calibri" panose="020F0502020204030204" pitchFamily="34" charset="0"/>
                <a:cs typeface="Calibri" panose="020F0502020204030204" pitchFamily="34" charset="0"/>
              </a:rPr>
              <a:t> data used to compare is case sensitive</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Rectangle 2"/>
          <p:cNvSpPr/>
          <p:nvPr/>
        </p:nvSpPr>
        <p:spPr>
          <a:xfrm>
            <a:off x="4253620" y="592522"/>
            <a:ext cx="1799082" cy="464871"/>
          </a:xfrm>
          <a:prstGeom prst="rect">
            <a:avLst/>
          </a:prstGeom>
        </p:spPr>
        <p:txBody>
          <a:bodyPr wrap="none">
            <a:spAutoFit/>
          </a:bodyPr>
          <a:lstStyle/>
          <a:p>
            <a:pPr>
              <a:lnSpc>
                <a:spcPct val="150000"/>
              </a:lnSpc>
            </a:pPr>
            <a:r>
              <a:rPr lang="en-US" b="1" dirty="0">
                <a:latin typeface="Calibri" panose="020F0502020204030204" pitchFamily="34" charset="0"/>
                <a:cs typeface="Calibri" panose="020F0502020204030204" pitchFamily="34" charset="0"/>
              </a:rPr>
              <a:t>SQL IN Operator:</a:t>
            </a:r>
          </a:p>
        </p:txBody>
      </p:sp>
    </p:spTree>
    <p:extLst>
      <p:ext uri="{BB962C8B-B14F-4D97-AF65-F5344CB8AC3E}">
        <p14:creationId xmlns:p14="http://schemas.microsoft.com/office/powerpoint/2010/main" val="12378355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3319" y="1668163"/>
            <a:ext cx="9947189" cy="3970318"/>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column value is NULL if it does not exist. The IS NULL operator is used to display all the rows for columns that do not have a value.</a:t>
            </a:r>
          </a:p>
          <a:p>
            <a:pPr>
              <a:lnSpc>
                <a:spcPct val="20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If you want to find the names of students who do not participate in any games, the query would be as given below</a:t>
            </a:r>
          </a:p>
          <a:p>
            <a:pPr>
              <a:lnSpc>
                <a:spcPct val="200000"/>
              </a:lnSpc>
            </a:pPr>
            <a:r>
              <a:rPr lang="en-US" dirty="0">
                <a:latin typeface="Calibri" panose="020F0502020204030204" pitchFamily="34" charset="0"/>
                <a:cs typeface="Calibri" panose="020F0502020204030204" pitchFamily="34" charset="0"/>
              </a:rPr>
              <a:t>SELECT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student_details</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WHERE games IS NULL</a:t>
            </a:r>
          </a:p>
        </p:txBody>
      </p:sp>
      <p:sp>
        <p:nvSpPr>
          <p:cNvPr id="3" name="Rectangle 2"/>
          <p:cNvSpPr/>
          <p:nvPr/>
        </p:nvSpPr>
        <p:spPr>
          <a:xfrm>
            <a:off x="3787788" y="555452"/>
            <a:ext cx="2243115" cy="568745"/>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IS NULL Operator</a:t>
            </a:r>
          </a:p>
        </p:txBody>
      </p:sp>
    </p:spTree>
    <p:extLst>
      <p:ext uri="{BB962C8B-B14F-4D97-AF65-F5344CB8AC3E}">
        <p14:creationId xmlns:p14="http://schemas.microsoft.com/office/powerpoint/2010/main" val="284674321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6756" y="1544594"/>
            <a:ext cx="10960444" cy="3970318"/>
          </a:xfrm>
          <a:prstGeom prst="rect">
            <a:avLst/>
          </a:prstGeom>
          <a:noFill/>
        </p:spPr>
        <p:txBody>
          <a:bodyPr wrap="square" rtlCol="0">
            <a:spAutoFit/>
          </a:bodyPr>
          <a:lstStyle/>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ORDER BY clause is used in a SELECT statement to sort results either in ascending or descending order. Oracle sorts query results in ascending order by default.</a:t>
            </a:r>
          </a:p>
          <a:p>
            <a:pPr>
              <a:lnSpc>
                <a:spcPct val="200000"/>
              </a:lnSpc>
            </a:pPr>
            <a:r>
              <a:rPr lang="en-US" b="1" dirty="0">
                <a:latin typeface="Calibri" panose="020F0502020204030204" pitchFamily="34" charset="0"/>
                <a:cs typeface="Calibri" panose="020F0502020204030204" pitchFamily="34" charset="0"/>
              </a:rPr>
              <a:t>Syntax for using SQL ORDER BY clause to sort data is:</a:t>
            </a:r>
          </a:p>
          <a:p>
            <a:pPr>
              <a:lnSpc>
                <a:spcPct val="200000"/>
              </a:lnSpc>
            </a:pPr>
            <a:r>
              <a:rPr lang="en-US" dirty="0">
                <a:latin typeface="Calibri" panose="020F0502020204030204" pitchFamily="34" charset="0"/>
                <a:cs typeface="Calibri" panose="020F0502020204030204" pitchFamily="34" charset="0"/>
              </a:rPr>
              <a:t>SELECT column-list</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FROM </a:t>
            </a:r>
            <a:r>
              <a:rPr lang="en-US" dirty="0" err="1">
                <a:latin typeface="Calibri" panose="020F0502020204030204" pitchFamily="34" charset="0"/>
                <a:cs typeface="Calibri" panose="020F0502020204030204" pitchFamily="34" charset="0"/>
              </a:rPr>
              <a:t>table_name</a:t>
            </a:r>
            <a:r>
              <a:rPr lang="en-US" dirty="0">
                <a:latin typeface="Calibri" panose="020F0502020204030204" pitchFamily="34" charset="0"/>
                <a:cs typeface="Calibri" panose="020F0502020204030204" pitchFamily="34" charset="0"/>
              </a:rPr>
              <a:t> [WHERE condition]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[ORDER BY column1 [, column2, .. </a:t>
            </a:r>
            <a:r>
              <a:rPr lang="en-US" dirty="0" err="1">
                <a:latin typeface="Calibri" panose="020F0502020204030204" pitchFamily="34" charset="0"/>
                <a:cs typeface="Calibri" panose="020F0502020204030204" pitchFamily="34" charset="0"/>
              </a:rPr>
              <a:t>columnN</a:t>
            </a:r>
            <a:r>
              <a:rPr lang="en-US" dirty="0">
                <a:latin typeface="Calibri" panose="020F0502020204030204" pitchFamily="34" charset="0"/>
                <a:cs typeface="Calibri" panose="020F0502020204030204" pitchFamily="34" charset="0"/>
              </a:rPr>
              <a:t>] [DESC</a:t>
            </a:r>
            <a:r>
              <a:rPr lang="en-US" dirty="0" smtClean="0">
                <a:latin typeface="Calibri" panose="020F0502020204030204" pitchFamily="34" charset="0"/>
                <a:cs typeface="Calibri" panose="020F0502020204030204" pitchFamily="34" charset="0"/>
              </a:rPr>
              <a:t>]];</a:t>
            </a:r>
          </a:p>
          <a:p>
            <a:pPr>
              <a:lnSpc>
                <a:spcPct val="200000"/>
              </a:lnSpc>
            </a:pPr>
            <a:endParaRPr lang="en-US" dirty="0">
              <a:latin typeface="Calibri" panose="020F0502020204030204" pitchFamily="34" charset="0"/>
              <a:cs typeface="Calibri" panose="020F0502020204030204" pitchFamily="34" charset="0"/>
            </a:endParaRPr>
          </a:p>
        </p:txBody>
      </p:sp>
      <p:sp>
        <p:nvSpPr>
          <p:cNvPr id="4" name="Rectangle 3"/>
          <p:cNvSpPr/>
          <p:nvPr/>
        </p:nvSpPr>
        <p:spPr>
          <a:xfrm>
            <a:off x="3825264" y="523273"/>
            <a:ext cx="1571392" cy="568745"/>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ORDER BY</a:t>
            </a:r>
          </a:p>
        </p:txBody>
      </p:sp>
    </p:spTree>
    <p:extLst>
      <p:ext uri="{BB962C8B-B14F-4D97-AF65-F5344CB8AC3E}">
        <p14:creationId xmlns:p14="http://schemas.microsoft.com/office/powerpoint/2010/main" val="17863798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44595" y="2766232"/>
            <a:ext cx="4119934" cy="2683097"/>
          </a:xfrm>
          <a:prstGeom prst="rect">
            <a:avLst/>
          </a:prstGeom>
        </p:spPr>
      </p:pic>
      <p:sp>
        <p:nvSpPr>
          <p:cNvPr id="5" name="TextBox 4"/>
          <p:cNvSpPr txBox="1"/>
          <p:nvPr/>
        </p:nvSpPr>
        <p:spPr>
          <a:xfrm>
            <a:off x="1124465" y="1458097"/>
            <a:ext cx="10083113" cy="923330"/>
          </a:xfrm>
          <a:prstGeom prst="rect">
            <a:avLst/>
          </a:prstGeom>
          <a:noFill/>
        </p:spPr>
        <p:txBody>
          <a:bodyPr wrap="square" rtlCol="0">
            <a:spAutoFit/>
          </a:bodyPr>
          <a:lstStyle/>
          <a:p>
            <a:pPr>
              <a:lnSpc>
                <a:spcPct val="150000"/>
              </a:lnSpc>
            </a:pPr>
            <a:r>
              <a:rPr lang="en-US" b="1" dirty="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T</a:t>
            </a:r>
            <a:r>
              <a:rPr lang="en-US" dirty="0" smtClean="0">
                <a:latin typeface="Calibri" panose="020F0502020204030204" pitchFamily="34" charset="0"/>
                <a:cs typeface="Calibri" panose="020F0502020204030204" pitchFamily="34" charset="0"/>
              </a:rPr>
              <a:t>o </a:t>
            </a:r>
            <a:r>
              <a:rPr lang="en-US" dirty="0">
                <a:latin typeface="Calibri" panose="020F0502020204030204" pitchFamily="34" charset="0"/>
                <a:cs typeface="Calibri" panose="020F0502020204030204" pitchFamily="34" charset="0"/>
              </a:rPr>
              <a:t>sort the employee table by salary of the employee, the </a:t>
            </a:r>
            <a:r>
              <a:rPr lang="en-US" dirty="0" smtClean="0">
                <a:latin typeface="Calibri" panose="020F0502020204030204" pitchFamily="34" charset="0"/>
                <a:cs typeface="Calibri" panose="020F0502020204030204" pitchFamily="34" charset="0"/>
              </a:rPr>
              <a:t>SQL </a:t>
            </a:r>
            <a:r>
              <a:rPr lang="en-US" dirty="0">
                <a:latin typeface="Calibri" panose="020F0502020204030204" pitchFamily="34" charset="0"/>
                <a:cs typeface="Calibri" panose="020F0502020204030204" pitchFamily="34" charset="0"/>
              </a:rPr>
              <a:t>query would </a:t>
            </a:r>
            <a:r>
              <a:rPr lang="en-US" dirty="0" smtClean="0">
                <a:latin typeface="Calibri" panose="020F0502020204030204" pitchFamily="34" charset="0"/>
                <a:cs typeface="Calibri" panose="020F0502020204030204" pitchFamily="34" charset="0"/>
              </a:rPr>
              <a:t>be</a:t>
            </a:r>
          </a:p>
          <a:p>
            <a:pPr>
              <a:lnSpc>
                <a:spcPct val="150000"/>
              </a:lnSpc>
            </a:pPr>
            <a:r>
              <a:rPr lang="en-US" dirty="0">
                <a:latin typeface="Calibri" panose="020F0502020204030204" pitchFamily="34" charset="0"/>
                <a:cs typeface="Calibri" panose="020F0502020204030204" pitchFamily="34" charset="0"/>
              </a:rPr>
              <a:t>SELECT name, salary FROM employee ORDER BY </a:t>
            </a:r>
            <a:r>
              <a:rPr lang="en-US" dirty="0" smtClean="0">
                <a:latin typeface="Calibri" panose="020F0502020204030204" pitchFamily="34" charset="0"/>
                <a:cs typeface="Calibri" panose="020F0502020204030204" pitchFamily="34" charset="0"/>
              </a:rPr>
              <a:t>salary DESC;</a:t>
            </a:r>
            <a:endParaRPr lang="en-US"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3"/>
          <a:stretch>
            <a:fillRect/>
          </a:stretch>
        </p:blipFill>
        <p:spPr>
          <a:xfrm>
            <a:off x="7271695" y="3193197"/>
            <a:ext cx="2267719" cy="1996642"/>
          </a:xfrm>
          <a:prstGeom prst="rect">
            <a:avLst/>
          </a:prstGeom>
        </p:spPr>
      </p:pic>
      <p:sp>
        <p:nvSpPr>
          <p:cNvPr id="7" name="Rectangle 6"/>
          <p:cNvSpPr/>
          <p:nvPr/>
        </p:nvSpPr>
        <p:spPr>
          <a:xfrm>
            <a:off x="3825264" y="523273"/>
            <a:ext cx="1571392" cy="568745"/>
          </a:xfrm>
          <a:prstGeom prst="rect">
            <a:avLst/>
          </a:prstGeom>
        </p:spPr>
        <p:txBody>
          <a:bodyPr wrap="none">
            <a:spAutoFit/>
          </a:bodyPr>
          <a:lstStyle/>
          <a:p>
            <a:pPr>
              <a:lnSpc>
                <a:spcPct val="200000"/>
              </a:lnSpc>
            </a:pPr>
            <a:r>
              <a:rPr lang="en-US" b="1" dirty="0">
                <a:latin typeface="Calibri" panose="020F0502020204030204" pitchFamily="34" charset="0"/>
                <a:cs typeface="Calibri" panose="020F0502020204030204" pitchFamily="34" charset="0"/>
              </a:rPr>
              <a:t>SQL ORDER BY</a:t>
            </a:r>
          </a:p>
        </p:txBody>
      </p:sp>
    </p:spTree>
    <p:extLst>
      <p:ext uri="{BB962C8B-B14F-4D97-AF65-F5344CB8AC3E}">
        <p14:creationId xmlns:p14="http://schemas.microsoft.com/office/powerpoint/2010/main" val="2357038622"/>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1272</TotalTime>
  <Words>3411</Words>
  <Application>Microsoft Office PowerPoint</Application>
  <PresentationFormat>Widescreen</PresentationFormat>
  <Paragraphs>230</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Century Gothic</vt:lpstr>
      <vt:lpstr>Times New Roman</vt:lpstr>
      <vt:lpstr>Wingdings</vt:lpstr>
      <vt:lpstr>Wingdings 3</vt:lpstr>
      <vt:lpstr>Wisp</vt:lpstr>
      <vt:lpstr>Database systems I</vt:lpstr>
      <vt:lpstr>STRUCTURED QUERY LANGUAGE (SQL)</vt:lpstr>
      <vt:lpstr>Advantages of SQL</vt:lpstr>
      <vt:lpstr>SQL COMMANDS and Categories</vt:lpstr>
      <vt:lpstr>SQL COMMANDS and Categories</vt:lpstr>
      <vt:lpstr>SQL COMMANDS and Categories</vt:lpstr>
      <vt:lpstr>Data types</vt:lpstr>
      <vt:lpstr>Data types</vt:lpstr>
      <vt:lpstr>Data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polin mwkx</dc:creator>
  <cp:lastModifiedBy>polin mwkx</cp:lastModifiedBy>
  <cp:revision>153</cp:revision>
  <dcterms:created xsi:type="dcterms:W3CDTF">2022-02-01T12:03:15Z</dcterms:created>
  <dcterms:modified xsi:type="dcterms:W3CDTF">2022-11-01T10:18:00Z</dcterms:modified>
</cp:coreProperties>
</file>