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7" r:id="rId2"/>
    <p:sldId id="261" r:id="rId3"/>
    <p:sldId id="262" r:id="rId4"/>
    <p:sldId id="263" r:id="rId5"/>
    <p:sldId id="264" r:id="rId6"/>
    <p:sldId id="265" r:id="rId7"/>
    <p:sldId id="286" r:id="rId8"/>
    <p:sldId id="266" r:id="rId9"/>
    <p:sldId id="287" r:id="rId10"/>
    <p:sldId id="267" r:id="rId11"/>
    <p:sldId id="269" r:id="rId12"/>
    <p:sldId id="288" r:id="rId13"/>
    <p:sldId id="270" r:id="rId14"/>
    <p:sldId id="271" r:id="rId15"/>
    <p:sldId id="272" r:id="rId16"/>
    <p:sldId id="289" r:id="rId17"/>
    <p:sldId id="290"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25" autoAdjust="0"/>
    <p:restoredTop sz="94660"/>
  </p:normalViewPr>
  <p:slideViewPr>
    <p:cSldViewPr snapToGrid="0">
      <p:cViewPr varScale="1">
        <p:scale>
          <a:sx n="78" d="100"/>
          <a:sy n="78" d="100"/>
        </p:scale>
        <p:origin x="2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10/25/2022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10/25/2022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10/25/2022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10/25/2022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10/25/2022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10/25/2022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10/25/2022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10/25/2022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10/25/2022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10/25/2022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10/25/2022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10/25/2022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10/25/2022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10/25/2022</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8238" y="2273643"/>
            <a:ext cx="5053914" cy="674938"/>
          </a:xfrm>
        </p:spPr>
        <p:txBody>
          <a:bodyPr>
            <a:normAutofit fontScale="90000"/>
          </a:bodyPr>
          <a:lstStyle/>
          <a:p>
            <a:r>
              <a:rPr lang="en-US" dirty="0" smtClean="0">
                <a:latin typeface="Calibri" panose="020F0502020204030204" pitchFamily="34" charset="0"/>
                <a:cs typeface="Calibri" panose="020F0502020204030204" pitchFamily="34" charset="0"/>
              </a:rPr>
              <a:t>Database systems </a:t>
            </a:r>
            <a:r>
              <a:rPr lang="en-US" dirty="0">
                <a:latin typeface="Calibri" panose="020F0502020204030204" pitchFamily="34" charset="0"/>
                <a:cs typeface="Calibri" panose="020F0502020204030204" pitchFamily="34" charset="0"/>
              </a:rPr>
              <a:t>I</a:t>
            </a:r>
          </a:p>
        </p:txBody>
      </p:sp>
      <p:sp>
        <p:nvSpPr>
          <p:cNvPr id="3" name="Subtitle 2"/>
          <p:cNvSpPr>
            <a:spLocks noGrp="1"/>
          </p:cNvSpPr>
          <p:nvPr>
            <p:ph type="subTitle" idx="1"/>
          </p:nvPr>
        </p:nvSpPr>
        <p:spPr>
          <a:xfrm>
            <a:off x="1970501" y="3356354"/>
            <a:ext cx="8825658" cy="861420"/>
          </a:xfrm>
        </p:spPr>
        <p:txBody>
          <a:bodyPr>
            <a:normAutofit/>
          </a:bodyPr>
          <a:lstStyle/>
          <a:p>
            <a:pPr algn="ctr"/>
            <a:r>
              <a:rPr lang="en-US" sz="3600" dirty="0" smtClean="0">
                <a:latin typeface="Calibri" panose="020F0502020204030204" pitchFamily="34" charset="0"/>
                <a:cs typeface="Calibri" panose="020F0502020204030204" pitchFamily="34" charset="0"/>
              </a:rPr>
              <a:t>Lecture FOUR</a:t>
            </a:r>
            <a:endParaRPr lang="en-US" sz="36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225570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1092" y="525256"/>
            <a:ext cx="6808573" cy="710420"/>
          </a:xfrm>
        </p:spPr>
        <p:txBody>
          <a:bodyPr/>
          <a:lstStyle/>
          <a:p>
            <a:pPr algn="ctr"/>
            <a:r>
              <a:rPr lang="en-US" dirty="0" smtClean="0">
                <a:latin typeface="Calibri" panose="020F0502020204030204" pitchFamily="34" charset="0"/>
                <a:cs typeface="Calibri" panose="020F0502020204030204" pitchFamily="34" charset="0"/>
              </a:rPr>
              <a:t>Database indexing</a:t>
            </a:r>
            <a:endParaRPr lang="en-US"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1482809" y="1631092"/>
            <a:ext cx="9292283" cy="3867665"/>
          </a:xfrm>
        </p:spPr>
        <p:txBody>
          <a:bodyPr>
            <a:noAutofit/>
          </a:bodyPr>
          <a:lstStyle/>
          <a:p>
            <a:pPr>
              <a:lnSpc>
                <a:spcPct val="200000"/>
              </a:lnSpc>
            </a:pPr>
            <a:r>
              <a:rPr lang="en-US" sz="2000" dirty="0" smtClean="0">
                <a:latin typeface="Calibri" panose="020F0502020204030204" pitchFamily="34" charset="0"/>
                <a:cs typeface="Calibri" panose="020F0502020204030204" pitchFamily="34" charset="0"/>
              </a:rPr>
              <a:t>Data is </a:t>
            </a:r>
            <a:r>
              <a:rPr lang="en-US" sz="2000" dirty="0">
                <a:latin typeface="Calibri" panose="020F0502020204030204" pitchFamily="34" charset="0"/>
                <a:cs typeface="Calibri" panose="020F0502020204030204" pitchFamily="34" charset="0"/>
              </a:rPr>
              <a:t>stored in the form of records. Every record has a key field, which helps </a:t>
            </a:r>
            <a:r>
              <a:rPr lang="en-US" sz="2000" dirty="0" smtClean="0">
                <a:latin typeface="Calibri" panose="020F0502020204030204" pitchFamily="34" charset="0"/>
                <a:cs typeface="Calibri" panose="020F0502020204030204" pitchFamily="34" charset="0"/>
              </a:rPr>
              <a:t>to recognize it </a:t>
            </a:r>
            <a:r>
              <a:rPr lang="en-US" sz="2000" dirty="0">
                <a:latin typeface="Calibri" panose="020F0502020204030204" pitchFamily="34" charset="0"/>
                <a:cs typeface="Calibri" panose="020F0502020204030204" pitchFamily="34" charset="0"/>
              </a:rPr>
              <a:t>uniquely.</a:t>
            </a:r>
          </a:p>
          <a:p>
            <a:pPr>
              <a:lnSpc>
                <a:spcPct val="200000"/>
              </a:lnSpc>
            </a:pPr>
            <a:r>
              <a:rPr lang="en-US" sz="2000" dirty="0">
                <a:latin typeface="Calibri" panose="020F0502020204030204" pitchFamily="34" charset="0"/>
                <a:cs typeface="Calibri" panose="020F0502020204030204" pitchFamily="34" charset="0"/>
              </a:rPr>
              <a:t>Indexing is a data structure technique to efficiently retrieve records from the database files based on some attributes on which the indexing has been done. </a:t>
            </a:r>
            <a:endParaRPr lang="en-US" sz="2000" dirty="0" smtClean="0">
              <a:latin typeface="Calibri" panose="020F0502020204030204" pitchFamily="34" charset="0"/>
              <a:cs typeface="Calibri" panose="020F0502020204030204" pitchFamily="34" charset="0"/>
            </a:endParaRPr>
          </a:p>
          <a:p>
            <a:pPr>
              <a:lnSpc>
                <a:spcPct val="200000"/>
              </a:lnSpc>
            </a:pPr>
            <a:r>
              <a:rPr lang="en-US" sz="2000" dirty="0" smtClean="0">
                <a:latin typeface="Calibri" panose="020F0502020204030204" pitchFamily="34" charset="0"/>
                <a:cs typeface="Calibri" panose="020F0502020204030204" pitchFamily="34" charset="0"/>
              </a:rPr>
              <a:t>Indexing </a:t>
            </a:r>
            <a:r>
              <a:rPr lang="en-US" sz="2000" dirty="0">
                <a:latin typeface="Calibri" panose="020F0502020204030204" pitchFamily="34" charset="0"/>
                <a:cs typeface="Calibri" panose="020F0502020204030204" pitchFamily="34" charset="0"/>
              </a:rPr>
              <a:t>in database systems is similar to what we see in books</a:t>
            </a:r>
          </a:p>
        </p:txBody>
      </p:sp>
    </p:spTree>
    <p:extLst>
      <p:ext uri="{BB962C8B-B14F-4D97-AF65-F5344CB8AC3E}">
        <p14:creationId xmlns:p14="http://schemas.microsoft.com/office/powerpoint/2010/main" val="13362124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26508" y="636467"/>
            <a:ext cx="7389812" cy="574495"/>
          </a:xfrm>
        </p:spPr>
        <p:txBody>
          <a:bodyPr/>
          <a:lstStyle/>
          <a:p>
            <a:pPr algn="ctr"/>
            <a:r>
              <a:rPr lang="en-US" sz="2000" b="1" dirty="0" smtClean="0"/>
              <a:t>Database indexing types</a:t>
            </a:r>
            <a:endParaRPr lang="en-US" sz="2000" dirty="0"/>
          </a:p>
        </p:txBody>
      </p:sp>
      <p:sp>
        <p:nvSpPr>
          <p:cNvPr id="3" name="Content Placeholder 2"/>
          <p:cNvSpPr>
            <a:spLocks noGrp="1"/>
          </p:cNvSpPr>
          <p:nvPr>
            <p:ph idx="1"/>
          </p:nvPr>
        </p:nvSpPr>
        <p:spPr>
          <a:xfrm>
            <a:off x="1186250" y="1371600"/>
            <a:ext cx="10404388" cy="4782065"/>
          </a:xfrm>
        </p:spPr>
        <p:txBody>
          <a:bodyPr>
            <a:noAutofit/>
          </a:bodyPr>
          <a:lstStyle/>
          <a:p>
            <a:pPr>
              <a:lnSpc>
                <a:spcPct val="200000"/>
              </a:lnSpc>
              <a:buFont typeface="Wingdings" panose="05000000000000000000" pitchFamily="2" charset="2"/>
              <a:buChar char="v"/>
            </a:pPr>
            <a:r>
              <a:rPr lang="en-US" sz="1900" dirty="0">
                <a:latin typeface="Calibri" panose="020F0502020204030204" pitchFamily="34" charset="0"/>
                <a:cs typeface="Calibri" panose="020F0502020204030204" pitchFamily="34" charset="0"/>
              </a:rPr>
              <a:t>Indexing is defined based on its indexing attributes. </a:t>
            </a:r>
            <a:r>
              <a:rPr lang="en-US" sz="1900" dirty="0" smtClean="0">
                <a:latin typeface="Calibri" panose="020F0502020204030204" pitchFamily="34" charset="0"/>
                <a:cs typeface="Calibri" panose="020F0502020204030204" pitchFamily="34" charset="0"/>
              </a:rPr>
              <a:t>It </a:t>
            </a:r>
            <a:r>
              <a:rPr lang="en-US" sz="1900" dirty="0">
                <a:latin typeface="Calibri" panose="020F0502020204030204" pitchFamily="34" charset="0"/>
                <a:cs typeface="Calibri" panose="020F0502020204030204" pitchFamily="34" charset="0"/>
              </a:rPr>
              <a:t>can be of the following </a:t>
            </a:r>
            <a:r>
              <a:rPr lang="en-US" sz="1900" dirty="0" smtClean="0">
                <a:latin typeface="Calibri" panose="020F0502020204030204" pitchFamily="34" charset="0"/>
                <a:cs typeface="Calibri" panose="020F0502020204030204" pitchFamily="34" charset="0"/>
              </a:rPr>
              <a:t>types</a:t>
            </a:r>
            <a:endParaRPr lang="en-US" sz="1900" dirty="0">
              <a:latin typeface="Calibri" panose="020F0502020204030204" pitchFamily="34" charset="0"/>
              <a:cs typeface="Calibri" panose="020F0502020204030204" pitchFamily="34" charset="0"/>
            </a:endParaRPr>
          </a:p>
          <a:p>
            <a:pPr>
              <a:lnSpc>
                <a:spcPct val="200000"/>
              </a:lnSpc>
              <a:buAutoNum type="arabicPeriod"/>
            </a:pPr>
            <a:r>
              <a:rPr lang="en-US" sz="1900" b="1" dirty="0" smtClean="0">
                <a:latin typeface="Calibri" panose="020F0502020204030204" pitchFamily="34" charset="0"/>
                <a:cs typeface="Calibri" panose="020F0502020204030204" pitchFamily="34" charset="0"/>
              </a:rPr>
              <a:t>Primary </a:t>
            </a:r>
            <a:r>
              <a:rPr lang="en-US" sz="1900" b="1" dirty="0">
                <a:latin typeface="Calibri" panose="020F0502020204030204" pitchFamily="34" charset="0"/>
                <a:cs typeface="Calibri" panose="020F0502020204030204" pitchFamily="34" charset="0"/>
              </a:rPr>
              <a:t>Index</a:t>
            </a:r>
            <a:r>
              <a:rPr lang="en-US" sz="1900" dirty="0">
                <a:latin typeface="Calibri" panose="020F0502020204030204" pitchFamily="34" charset="0"/>
                <a:cs typeface="Calibri" panose="020F0502020204030204" pitchFamily="34" charset="0"/>
              </a:rPr>
              <a:t> </a:t>
            </a:r>
            <a:endParaRPr lang="en-US" sz="1900" dirty="0" smtClean="0">
              <a:latin typeface="Calibri" panose="020F0502020204030204" pitchFamily="34" charset="0"/>
              <a:cs typeface="Calibri" panose="020F0502020204030204" pitchFamily="34" charset="0"/>
            </a:endParaRPr>
          </a:p>
          <a:p>
            <a:pPr>
              <a:lnSpc>
                <a:spcPct val="200000"/>
              </a:lnSpc>
              <a:buFont typeface="Wingdings" panose="05000000000000000000" pitchFamily="2" charset="2"/>
              <a:buChar char="v"/>
            </a:pPr>
            <a:r>
              <a:rPr lang="en-US" sz="1900" dirty="0" smtClean="0">
                <a:latin typeface="Calibri" panose="020F0502020204030204" pitchFamily="34" charset="0"/>
                <a:cs typeface="Calibri" panose="020F0502020204030204" pitchFamily="34" charset="0"/>
              </a:rPr>
              <a:t>Primary </a:t>
            </a:r>
            <a:r>
              <a:rPr lang="en-US" sz="1900" dirty="0">
                <a:latin typeface="Calibri" panose="020F0502020204030204" pitchFamily="34" charset="0"/>
                <a:cs typeface="Calibri" panose="020F0502020204030204" pitchFamily="34" charset="0"/>
              </a:rPr>
              <a:t>index is defined on an ordered data file. The data file is ordered </a:t>
            </a:r>
            <a:r>
              <a:rPr lang="en-US" sz="1900" dirty="0" smtClean="0">
                <a:latin typeface="Calibri" panose="020F0502020204030204" pitchFamily="34" charset="0"/>
                <a:cs typeface="Calibri" panose="020F0502020204030204" pitchFamily="34" charset="0"/>
              </a:rPr>
              <a:t>on the primary key</a:t>
            </a:r>
            <a:r>
              <a:rPr lang="en-US" sz="1900" b="1" dirty="0" smtClean="0">
                <a:latin typeface="Calibri" panose="020F0502020204030204" pitchFamily="34" charset="0"/>
                <a:cs typeface="Calibri" panose="020F0502020204030204" pitchFamily="34" charset="0"/>
              </a:rPr>
              <a:t> </a:t>
            </a:r>
            <a:r>
              <a:rPr lang="en-US" sz="1900" b="1" dirty="0">
                <a:latin typeface="Calibri" panose="020F0502020204030204" pitchFamily="34" charset="0"/>
                <a:cs typeface="Calibri" panose="020F0502020204030204" pitchFamily="34" charset="0"/>
              </a:rPr>
              <a:t>field</a:t>
            </a:r>
            <a:r>
              <a:rPr lang="en-US" sz="1900" dirty="0">
                <a:latin typeface="Calibri" panose="020F0502020204030204" pitchFamily="34" charset="0"/>
                <a:cs typeface="Calibri" panose="020F0502020204030204" pitchFamily="34" charset="0"/>
              </a:rPr>
              <a:t>. </a:t>
            </a:r>
          </a:p>
          <a:p>
            <a:pPr>
              <a:lnSpc>
                <a:spcPct val="200000"/>
              </a:lnSpc>
              <a:buFont typeface="Wingdings" panose="05000000000000000000" pitchFamily="2" charset="2"/>
              <a:buChar char="v"/>
            </a:pPr>
            <a:r>
              <a:rPr lang="en-US" sz="1900" dirty="0" smtClean="0">
                <a:latin typeface="Calibri" panose="020F0502020204030204" pitchFamily="34" charset="0"/>
                <a:cs typeface="Calibri" panose="020F0502020204030204" pitchFamily="34" charset="0"/>
              </a:rPr>
              <a:t>In </a:t>
            </a:r>
            <a:r>
              <a:rPr lang="en-US" sz="1900" dirty="0">
                <a:latin typeface="Calibri" panose="020F0502020204030204" pitchFamily="34" charset="0"/>
                <a:cs typeface="Calibri" panose="020F0502020204030204" pitchFamily="34" charset="0"/>
              </a:rPr>
              <a:t>the primary index there is a one-to-one relationship between the entries in the index table and records in the main table. </a:t>
            </a:r>
            <a:endParaRPr lang="en-US" sz="1900" dirty="0" smtClean="0">
              <a:latin typeface="Calibri" panose="020F0502020204030204" pitchFamily="34" charset="0"/>
              <a:cs typeface="Calibri" panose="020F0502020204030204" pitchFamily="34" charset="0"/>
            </a:endParaRPr>
          </a:p>
          <a:p>
            <a:pPr>
              <a:lnSpc>
                <a:spcPct val="200000"/>
              </a:lnSpc>
              <a:buFont typeface="Wingdings" panose="05000000000000000000" pitchFamily="2" charset="2"/>
              <a:buChar char="v"/>
            </a:pPr>
            <a:r>
              <a:rPr lang="en-US" sz="1900" dirty="0" smtClean="0">
                <a:latin typeface="Calibri" panose="020F0502020204030204" pitchFamily="34" charset="0"/>
                <a:cs typeface="Calibri" panose="020F0502020204030204" pitchFamily="34" charset="0"/>
              </a:rPr>
              <a:t>Primary </a:t>
            </a:r>
            <a:r>
              <a:rPr lang="en-US" sz="1900" dirty="0">
                <a:latin typeface="Calibri" panose="020F0502020204030204" pitchFamily="34" charset="0"/>
                <a:cs typeface="Calibri" panose="020F0502020204030204" pitchFamily="34" charset="0"/>
              </a:rPr>
              <a:t>index is used on a primary key</a:t>
            </a:r>
            <a:r>
              <a:rPr lang="en-US" sz="1900" dirty="0" smtClean="0">
                <a:latin typeface="Calibri" panose="020F0502020204030204" pitchFamily="34" charset="0"/>
                <a:cs typeface="Calibri" panose="020F0502020204030204" pitchFamily="34" charset="0"/>
              </a:rPr>
              <a:t>.</a:t>
            </a:r>
          </a:p>
          <a:p>
            <a:pPr>
              <a:lnSpc>
                <a:spcPct val="200000"/>
              </a:lnSpc>
              <a:buFont typeface="Wingdings" panose="05000000000000000000" pitchFamily="2" charset="2"/>
              <a:buChar char="v"/>
            </a:pPr>
            <a:r>
              <a:rPr lang="en-US" sz="1900" dirty="0" smtClean="0">
                <a:latin typeface="Calibri" panose="020F0502020204030204" pitchFamily="34" charset="0"/>
                <a:cs typeface="Calibri" panose="020F0502020204030204" pitchFamily="34" charset="0"/>
              </a:rPr>
              <a:t>There are two types of primary index: dense and sparse indexes</a:t>
            </a:r>
          </a:p>
        </p:txBody>
      </p:sp>
    </p:spTree>
    <p:extLst>
      <p:ext uri="{BB962C8B-B14F-4D97-AF65-F5344CB8AC3E}">
        <p14:creationId xmlns:p14="http://schemas.microsoft.com/office/powerpoint/2010/main" val="129788480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6" y="624110"/>
            <a:ext cx="5525464" cy="463285"/>
          </a:xfrm>
        </p:spPr>
        <p:txBody>
          <a:bodyPr/>
          <a:lstStyle/>
          <a:p>
            <a:pPr algn="ctr"/>
            <a:r>
              <a:rPr lang="en-US" sz="2000" b="1" dirty="0" smtClean="0"/>
              <a:t>Primary index</a:t>
            </a:r>
            <a:endParaRPr lang="en-US" sz="2000" dirty="0"/>
          </a:p>
        </p:txBody>
      </p:sp>
      <p:sp>
        <p:nvSpPr>
          <p:cNvPr id="3" name="Content Placeholder 2"/>
          <p:cNvSpPr>
            <a:spLocks noGrp="1"/>
          </p:cNvSpPr>
          <p:nvPr>
            <p:ph idx="1"/>
          </p:nvPr>
        </p:nvSpPr>
        <p:spPr>
          <a:xfrm>
            <a:off x="679623" y="1556951"/>
            <a:ext cx="7006281" cy="4596714"/>
          </a:xfrm>
        </p:spPr>
        <p:txBody>
          <a:bodyPr>
            <a:noAutofit/>
          </a:bodyPr>
          <a:lstStyle/>
          <a:p>
            <a:pPr marL="0" indent="0">
              <a:lnSpc>
                <a:spcPct val="200000"/>
              </a:lnSpc>
              <a:buNone/>
            </a:pPr>
            <a:r>
              <a:rPr lang="en-US" b="1" dirty="0" smtClean="0">
                <a:latin typeface="Calibri" panose="020F0502020204030204" pitchFamily="34" charset="0"/>
                <a:cs typeface="Calibri" panose="020F0502020204030204" pitchFamily="34" charset="0"/>
              </a:rPr>
              <a:t>a.  Dense </a:t>
            </a:r>
            <a:r>
              <a:rPr lang="en-US" b="1" dirty="0">
                <a:latin typeface="Calibri" panose="020F0502020204030204" pitchFamily="34" charset="0"/>
                <a:cs typeface="Calibri" panose="020F0502020204030204" pitchFamily="34" charset="0"/>
              </a:rPr>
              <a:t>Index</a:t>
            </a:r>
          </a:p>
          <a:p>
            <a:pPr>
              <a:lnSpc>
                <a:spcPct val="200000"/>
              </a:lnSpc>
              <a:buFont typeface="Wingdings" panose="05000000000000000000" pitchFamily="2" charset="2"/>
              <a:buChar char="v"/>
            </a:pPr>
            <a:r>
              <a:rPr lang="en-US" dirty="0">
                <a:latin typeface="Calibri" panose="020F0502020204030204" pitchFamily="34" charset="0"/>
                <a:cs typeface="Calibri" panose="020F0502020204030204" pitchFamily="34" charset="0"/>
              </a:rPr>
              <a:t>In a dense index, a record is created for every search key valued in the database. </a:t>
            </a:r>
            <a:endParaRPr lang="en-US" dirty="0" smtClean="0">
              <a:latin typeface="Calibri" panose="020F0502020204030204" pitchFamily="34" charset="0"/>
              <a:cs typeface="Calibri" panose="020F0502020204030204" pitchFamily="34" charset="0"/>
            </a:endParaRPr>
          </a:p>
          <a:p>
            <a:pPr>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This </a:t>
            </a:r>
            <a:r>
              <a:rPr lang="en-US" dirty="0">
                <a:latin typeface="Calibri" panose="020F0502020204030204" pitchFamily="34" charset="0"/>
                <a:cs typeface="Calibri" panose="020F0502020204030204" pitchFamily="34" charset="0"/>
              </a:rPr>
              <a:t>helps you to search faster but needs more space to store index records. </a:t>
            </a:r>
            <a:endParaRPr lang="en-US" dirty="0" smtClean="0">
              <a:latin typeface="Calibri" panose="020F0502020204030204" pitchFamily="34" charset="0"/>
              <a:cs typeface="Calibri" panose="020F0502020204030204" pitchFamily="34" charset="0"/>
            </a:endParaRPr>
          </a:p>
          <a:p>
            <a:pPr>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In </a:t>
            </a:r>
            <a:r>
              <a:rPr lang="en-US" dirty="0">
                <a:latin typeface="Calibri" panose="020F0502020204030204" pitchFamily="34" charset="0"/>
                <a:cs typeface="Calibri" panose="020F0502020204030204" pitchFamily="34" charset="0"/>
              </a:rPr>
              <a:t>this Indexing, method records contain search key value and points to the real record on the disk.</a:t>
            </a:r>
          </a:p>
        </p:txBody>
      </p:sp>
      <p:pic>
        <p:nvPicPr>
          <p:cNvPr id="5" name="Picture 4"/>
          <p:cNvPicPr>
            <a:picLocks noChangeAspect="1"/>
          </p:cNvPicPr>
          <p:nvPr/>
        </p:nvPicPr>
        <p:blipFill>
          <a:blip r:embed="rId2"/>
          <a:stretch>
            <a:fillRect/>
          </a:stretch>
        </p:blipFill>
        <p:spPr>
          <a:xfrm>
            <a:off x="8014010" y="2094004"/>
            <a:ext cx="3553321" cy="2991267"/>
          </a:xfrm>
          <a:prstGeom prst="rect">
            <a:avLst/>
          </a:prstGeom>
        </p:spPr>
      </p:pic>
    </p:spTree>
    <p:extLst>
      <p:ext uri="{BB962C8B-B14F-4D97-AF65-F5344CB8AC3E}">
        <p14:creationId xmlns:p14="http://schemas.microsoft.com/office/powerpoint/2010/main" val="263527133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52119" y="673537"/>
            <a:ext cx="4980244" cy="463285"/>
          </a:xfrm>
        </p:spPr>
        <p:txBody>
          <a:bodyPr/>
          <a:lstStyle/>
          <a:p>
            <a:pPr algn="ctr"/>
            <a:r>
              <a:rPr lang="en-US" sz="2000" b="1" dirty="0" smtClean="0"/>
              <a:t>Primary index</a:t>
            </a:r>
            <a:endParaRPr lang="en-US" sz="2000" dirty="0"/>
          </a:p>
        </p:txBody>
      </p:sp>
      <p:sp>
        <p:nvSpPr>
          <p:cNvPr id="3" name="Content Placeholder 2"/>
          <p:cNvSpPr>
            <a:spLocks noGrp="1"/>
          </p:cNvSpPr>
          <p:nvPr>
            <p:ph idx="1"/>
          </p:nvPr>
        </p:nvSpPr>
        <p:spPr>
          <a:xfrm>
            <a:off x="469558" y="1198605"/>
            <a:ext cx="7772400" cy="5548184"/>
          </a:xfrm>
        </p:spPr>
        <p:txBody>
          <a:bodyPr>
            <a:noAutofit/>
          </a:bodyPr>
          <a:lstStyle/>
          <a:p>
            <a:pPr marL="0" indent="0">
              <a:lnSpc>
                <a:spcPct val="200000"/>
              </a:lnSpc>
              <a:buNone/>
            </a:pPr>
            <a:r>
              <a:rPr lang="en-US" b="1" dirty="0">
                <a:latin typeface="Calibri" panose="020F0502020204030204" pitchFamily="34" charset="0"/>
                <a:cs typeface="Calibri" panose="020F0502020204030204" pitchFamily="34" charset="0"/>
              </a:rPr>
              <a:t>b</a:t>
            </a:r>
            <a:r>
              <a:rPr lang="en-US" b="1" dirty="0" smtClean="0">
                <a:latin typeface="Calibri" panose="020F0502020204030204" pitchFamily="34" charset="0"/>
                <a:cs typeface="Calibri" panose="020F0502020204030204" pitchFamily="34" charset="0"/>
              </a:rPr>
              <a:t>. Sparse </a:t>
            </a:r>
            <a:r>
              <a:rPr lang="en-US" b="1" dirty="0">
                <a:latin typeface="Calibri" panose="020F0502020204030204" pitchFamily="34" charset="0"/>
                <a:cs typeface="Calibri" panose="020F0502020204030204" pitchFamily="34" charset="0"/>
              </a:rPr>
              <a:t>Index</a:t>
            </a:r>
          </a:p>
          <a:p>
            <a:pPr>
              <a:lnSpc>
                <a:spcPct val="200000"/>
              </a:lnSpc>
              <a:buFont typeface="Wingdings" panose="05000000000000000000" pitchFamily="2" charset="2"/>
              <a:buChar char="v"/>
            </a:pPr>
            <a:r>
              <a:rPr lang="en-US" dirty="0">
                <a:latin typeface="Calibri" panose="020F0502020204030204" pitchFamily="34" charset="0"/>
                <a:cs typeface="Calibri" panose="020F0502020204030204" pitchFamily="34" charset="0"/>
              </a:rPr>
              <a:t>It is an index record that appears for only some of the values in the file. </a:t>
            </a:r>
            <a:endParaRPr lang="en-US" dirty="0" smtClean="0">
              <a:latin typeface="Calibri" panose="020F0502020204030204" pitchFamily="34" charset="0"/>
              <a:cs typeface="Calibri" panose="020F0502020204030204" pitchFamily="34" charset="0"/>
            </a:endParaRPr>
          </a:p>
          <a:p>
            <a:pPr>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Sparse </a:t>
            </a:r>
            <a:r>
              <a:rPr lang="en-US" dirty="0">
                <a:latin typeface="Calibri" panose="020F0502020204030204" pitchFamily="34" charset="0"/>
                <a:cs typeface="Calibri" panose="020F0502020204030204" pitchFamily="34" charset="0"/>
              </a:rPr>
              <a:t>Index helps you to resolve the issues of dense Indexing in DBMS. </a:t>
            </a:r>
            <a:endParaRPr lang="en-US" dirty="0" smtClean="0">
              <a:latin typeface="Calibri" panose="020F0502020204030204" pitchFamily="34" charset="0"/>
              <a:cs typeface="Calibri" panose="020F0502020204030204" pitchFamily="34" charset="0"/>
            </a:endParaRPr>
          </a:p>
          <a:p>
            <a:pPr>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In </a:t>
            </a:r>
            <a:r>
              <a:rPr lang="en-US" dirty="0">
                <a:latin typeface="Calibri" panose="020F0502020204030204" pitchFamily="34" charset="0"/>
                <a:cs typeface="Calibri" panose="020F0502020204030204" pitchFamily="34" charset="0"/>
              </a:rPr>
              <a:t>this method of indexing technique, a range of index columns stores the same data block </a:t>
            </a:r>
            <a:r>
              <a:rPr lang="en-US" dirty="0" smtClean="0">
                <a:latin typeface="Calibri" panose="020F0502020204030204" pitchFamily="34" charset="0"/>
                <a:cs typeface="Calibri" panose="020F0502020204030204" pitchFamily="34" charset="0"/>
              </a:rPr>
              <a:t>address.</a:t>
            </a:r>
          </a:p>
          <a:p>
            <a:pPr>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To </a:t>
            </a:r>
            <a:r>
              <a:rPr lang="en-US" dirty="0">
                <a:latin typeface="Calibri" panose="020F0502020204030204" pitchFamily="34" charset="0"/>
                <a:cs typeface="Calibri" panose="020F0502020204030204" pitchFamily="34" charset="0"/>
              </a:rPr>
              <a:t>search a record, we first proceed by index record and reach at the actual location of the data. If the data we are looking for is not where we directly reach by following the index, then the system starts sequential search until the desired data is found</a:t>
            </a:r>
            <a:r>
              <a:rPr lang="en-US" dirty="0" smtClean="0">
                <a:latin typeface="Calibri" panose="020F0502020204030204" pitchFamily="34" charset="0"/>
                <a:cs typeface="Calibri" panose="020F0502020204030204" pitchFamily="34" charset="0"/>
              </a:rPr>
              <a:t>.</a:t>
            </a:r>
            <a:endParaRPr lang="en-US" dirty="0">
              <a:latin typeface="Calibri" panose="020F0502020204030204" pitchFamily="34" charset="0"/>
              <a:cs typeface="Calibri" panose="020F0502020204030204" pitchFamily="34" charset="0"/>
            </a:endParaRPr>
          </a:p>
        </p:txBody>
      </p:sp>
      <p:pic>
        <p:nvPicPr>
          <p:cNvPr id="4" name="Picture 3"/>
          <p:cNvPicPr>
            <a:picLocks noChangeAspect="1"/>
          </p:cNvPicPr>
          <p:nvPr/>
        </p:nvPicPr>
        <p:blipFill>
          <a:blip r:embed="rId2"/>
          <a:stretch>
            <a:fillRect/>
          </a:stretch>
        </p:blipFill>
        <p:spPr>
          <a:xfrm>
            <a:off x="8322168" y="2817340"/>
            <a:ext cx="3478535" cy="3253717"/>
          </a:xfrm>
          <a:prstGeom prst="rect">
            <a:avLst/>
          </a:prstGeom>
        </p:spPr>
      </p:pic>
    </p:spTree>
    <p:extLst>
      <p:ext uri="{BB962C8B-B14F-4D97-AF65-F5344CB8AC3E}">
        <p14:creationId xmlns:p14="http://schemas.microsoft.com/office/powerpoint/2010/main" val="153827873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4660" y="685893"/>
            <a:ext cx="7352742" cy="450928"/>
          </a:xfrm>
        </p:spPr>
        <p:txBody>
          <a:bodyPr/>
          <a:lstStyle/>
          <a:p>
            <a:pPr algn="ctr"/>
            <a:r>
              <a:rPr lang="en-US" sz="2000" b="1" dirty="0" smtClean="0"/>
              <a:t>2. Secondary index</a:t>
            </a:r>
            <a:endParaRPr lang="en-US" sz="2000" dirty="0"/>
          </a:p>
        </p:txBody>
      </p:sp>
      <p:sp>
        <p:nvSpPr>
          <p:cNvPr id="3" name="Content Placeholder 2"/>
          <p:cNvSpPr>
            <a:spLocks noGrp="1"/>
          </p:cNvSpPr>
          <p:nvPr>
            <p:ph idx="1"/>
          </p:nvPr>
        </p:nvSpPr>
        <p:spPr>
          <a:xfrm>
            <a:off x="1124466" y="1606378"/>
            <a:ext cx="10046041" cy="4176583"/>
          </a:xfrm>
        </p:spPr>
        <p:txBody>
          <a:bodyPr>
            <a:noAutofit/>
          </a:bodyPr>
          <a:lstStyle/>
          <a:p>
            <a:pPr>
              <a:lnSpc>
                <a:spcPct val="200000"/>
              </a:lnSpc>
              <a:buFont typeface="Wingdings" panose="05000000000000000000" pitchFamily="2" charset="2"/>
              <a:buChar char="v"/>
            </a:pPr>
            <a:r>
              <a:rPr lang="en-US" dirty="0">
                <a:latin typeface="Calibri" panose="020F0502020204030204" pitchFamily="34" charset="0"/>
                <a:cs typeface="Calibri" panose="020F0502020204030204" pitchFamily="34" charset="0"/>
              </a:rPr>
              <a:t>In secondary indexing, to reduce the size of mapping, another level of indexing is introduced. </a:t>
            </a:r>
            <a:endParaRPr lang="en-US" dirty="0" smtClean="0">
              <a:latin typeface="Calibri" panose="020F0502020204030204" pitchFamily="34" charset="0"/>
              <a:cs typeface="Calibri" panose="020F0502020204030204" pitchFamily="34" charset="0"/>
            </a:endParaRPr>
          </a:p>
          <a:p>
            <a:pPr>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In </a:t>
            </a:r>
            <a:r>
              <a:rPr lang="en-US" dirty="0">
                <a:latin typeface="Calibri" panose="020F0502020204030204" pitchFamily="34" charset="0"/>
                <a:cs typeface="Calibri" panose="020F0502020204030204" pitchFamily="34" charset="0"/>
              </a:rPr>
              <a:t>this method, the huge range for the columns is selected initially so that the mapping size of the first level becomes small. </a:t>
            </a:r>
            <a:endParaRPr lang="en-US" dirty="0" smtClean="0">
              <a:latin typeface="Calibri" panose="020F0502020204030204" pitchFamily="34" charset="0"/>
              <a:cs typeface="Calibri" panose="020F0502020204030204" pitchFamily="34" charset="0"/>
            </a:endParaRPr>
          </a:p>
          <a:p>
            <a:pPr>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Then </a:t>
            </a:r>
            <a:r>
              <a:rPr lang="en-US" dirty="0">
                <a:latin typeface="Calibri" panose="020F0502020204030204" pitchFamily="34" charset="0"/>
                <a:cs typeface="Calibri" panose="020F0502020204030204" pitchFamily="34" charset="0"/>
              </a:rPr>
              <a:t>each range is further divided </a:t>
            </a:r>
            <a:r>
              <a:rPr lang="en-US" dirty="0" smtClean="0">
                <a:latin typeface="Calibri" panose="020F0502020204030204" pitchFamily="34" charset="0"/>
                <a:cs typeface="Calibri" panose="020F0502020204030204" pitchFamily="34" charset="0"/>
              </a:rPr>
              <a:t>into </a:t>
            </a:r>
            <a:r>
              <a:rPr lang="en-US" dirty="0">
                <a:latin typeface="Calibri" panose="020F0502020204030204" pitchFamily="34" charset="0"/>
                <a:cs typeface="Calibri" panose="020F0502020204030204" pitchFamily="34" charset="0"/>
              </a:rPr>
              <a:t>smaller ranges. </a:t>
            </a:r>
            <a:endParaRPr lang="en-US" dirty="0" smtClean="0">
              <a:latin typeface="Calibri" panose="020F0502020204030204" pitchFamily="34" charset="0"/>
              <a:cs typeface="Calibri" panose="020F0502020204030204" pitchFamily="34" charset="0"/>
            </a:endParaRPr>
          </a:p>
          <a:p>
            <a:pPr>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The </a:t>
            </a:r>
            <a:r>
              <a:rPr lang="en-US" dirty="0">
                <a:latin typeface="Calibri" panose="020F0502020204030204" pitchFamily="34" charset="0"/>
                <a:cs typeface="Calibri" panose="020F0502020204030204" pitchFamily="34" charset="0"/>
              </a:rPr>
              <a:t>mapping of the first level is stored in the primary memory, so that address fetch is faster. </a:t>
            </a:r>
            <a:endParaRPr lang="en-US" dirty="0" smtClean="0">
              <a:latin typeface="Calibri" panose="020F0502020204030204" pitchFamily="34" charset="0"/>
              <a:cs typeface="Calibri" panose="020F0502020204030204" pitchFamily="34" charset="0"/>
            </a:endParaRPr>
          </a:p>
          <a:p>
            <a:pPr>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The </a:t>
            </a:r>
            <a:r>
              <a:rPr lang="en-US" dirty="0">
                <a:latin typeface="Calibri" panose="020F0502020204030204" pitchFamily="34" charset="0"/>
                <a:cs typeface="Calibri" panose="020F0502020204030204" pitchFamily="34" charset="0"/>
              </a:rPr>
              <a:t>mapping of the second level and actual data are stored in the secondary memory (hard disk).</a:t>
            </a:r>
            <a:endParaRPr lang="en-US" sz="17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5228249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4660" y="685893"/>
            <a:ext cx="7352742" cy="450928"/>
          </a:xfrm>
        </p:spPr>
        <p:txBody>
          <a:bodyPr/>
          <a:lstStyle/>
          <a:p>
            <a:pPr algn="ctr"/>
            <a:r>
              <a:rPr lang="en-US" sz="2000" b="1" dirty="0" smtClean="0"/>
              <a:t>2. Secondary index</a:t>
            </a:r>
            <a:endParaRPr lang="en-US" sz="2000" dirty="0"/>
          </a:p>
        </p:txBody>
      </p:sp>
      <p:pic>
        <p:nvPicPr>
          <p:cNvPr id="5" name="Picture 4"/>
          <p:cNvPicPr>
            <a:picLocks noChangeAspect="1"/>
          </p:cNvPicPr>
          <p:nvPr/>
        </p:nvPicPr>
        <p:blipFill>
          <a:blip r:embed="rId2"/>
          <a:stretch>
            <a:fillRect/>
          </a:stretch>
        </p:blipFill>
        <p:spPr>
          <a:xfrm>
            <a:off x="2545494" y="1652472"/>
            <a:ext cx="6452144" cy="4600047"/>
          </a:xfrm>
          <a:prstGeom prst="rect">
            <a:avLst/>
          </a:prstGeom>
        </p:spPr>
      </p:pic>
    </p:spTree>
    <p:extLst>
      <p:ext uri="{BB962C8B-B14F-4D97-AF65-F5344CB8AC3E}">
        <p14:creationId xmlns:p14="http://schemas.microsoft.com/office/powerpoint/2010/main" val="196062650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7146" y="648823"/>
            <a:ext cx="6092353" cy="364431"/>
          </a:xfrm>
        </p:spPr>
        <p:txBody>
          <a:bodyPr>
            <a:normAutofit fontScale="90000"/>
          </a:bodyPr>
          <a:lstStyle/>
          <a:p>
            <a:pPr algn="ctr"/>
            <a:r>
              <a:rPr lang="en-US" sz="2000" b="1" dirty="0"/>
              <a:t>3</a:t>
            </a:r>
            <a:r>
              <a:rPr lang="en-US" sz="2000" b="1" dirty="0" smtClean="0"/>
              <a:t>. Clustered Index</a:t>
            </a:r>
            <a:endParaRPr lang="en-US" sz="2000" dirty="0"/>
          </a:p>
        </p:txBody>
      </p:sp>
      <p:sp>
        <p:nvSpPr>
          <p:cNvPr id="3" name="Content Placeholder 2"/>
          <p:cNvSpPr>
            <a:spLocks noGrp="1"/>
          </p:cNvSpPr>
          <p:nvPr>
            <p:ph idx="1"/>
          </p:nvPr>
        </p:nvSpPr>
        <p:spPr>
          <a:xfrm>
            <a:off x="1482811" y="1668161"/>
            <a:ext cx="9378777" cy="3904736"/>
          </a:xfrm>
        </p:spPr>
        <p:txBody>
          <a:bodyPr>
            <a:noAutofit/>
          </a:bodyPr>
          <a:lstStyle/>
          <a:p>
            <a:pPr>
              <a:lnSpc>
                <a:spcPct val="200000"/>
              </a:lnSpc>
            </a:pPr>
            <a:r>
              <a:rPr lang="en-US" dirty="0">
                <a:latin typeface="Calibri" panose="020F0502020204030204" pitchFamily="34" charset="0"/>
                <a:cs typeface="Calibri" panose="020F0502020204030204" pitchFamily="34" charset="0"/>
              </a:rPr>
              <a:t>A clustered index can be defined </a:t>
            </a:r>
            <a:r>
              <a:rPr lang="en-US" dirty="0" smtClean="0">
                <a:latin typeface="Calibri" panose="020F0502020204030204" pitchFamily="34" charset="0"/>
                <a:cs typeface="Calibri" panose="020F0502020204030204" pitchFamily="34" charset="0"/>
              </a:rPr>
              <a:t>on</a:t>
            </a:r>
            <a:r>
              <a:rPr lang="en-US" dirty="0" smtClean="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an ordered data file. Sometimes the index is created on non-primary key columns which may not be unique for each record.</a:t>
            </a:r>
          </a:p>
          <a:p>
            <a:pPr>
              <a:lnSpc>
                <a:spcPct val="200000"/>
              </a:lnSpc>
            </a:pPr>
            <a:r>
              <a:rPr lang="en-US" dirty="0">
                <a:latin typeface="Calibri" panose="020F0502020204030204" pitchFamily="34" charset="0"/>
                <a:cs typeface="Calibri" panose="020F0502020204030204" pitchFamily="34" charset="0"/>
              </a:rPr>
              <a:t>In this case, to identify the record faster, we will group two or more columns to get the unique value and create index out of them. This method is called a clustering index.</a:t>
            </a:r>
          </a:p>
          <a:p>
            <a:pPr>
              <a:lnSpc>
                <a:spcPct val="200000"/>
              </a:lnSpc>
            </a:pPr>
            <a:r>
              <a:rPr lang="en-US" dirty="0">
                <a:latin typeface="Calibri" panose="020F0502020204030204" pitchFamily="34" charset="0"/>
                <a:cs typeface="Calibri" panose="020F0502020204030204" pitchFamily="34" charset="0"/>
              </a:rPr>
              <a:t>The records which have similar characteristics are grouped, and indexes are created for these group</a:t>
            </a:r>
          </a:p>
        </p:txBody>
      </p:sp>
    </p:spTree>
    <p:extLst>
      <p:ext uri="{BB962C8B-B14F-4D97-AF65-F5344CB8AC3E}">
        <p14:creationId xmlns:p14="http://schemas.microsoft.com/office/powerpoint/2010/main" val="164054983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2000" b="1" dirty="0"/>
              <a:t>3</a:t>
            </a:r>
            <a:r>
              <a:rPr lang="en-US" sz="2000" b="1" dirty="0" smtClean="0"/>
              <a:t>. Clustered Index</a:t>
            </a:r>
            <a:endParaRPr lang="en-US" sz="2000" dirty="0"/>
          </a:p>
        </p:txBody>
      </p:sp>
      <p:pic>
        <p:nvPicPr>
          <p:cNvPr id="4" name="Picture 3"/>
          <p:cNvPicPr>
            <a:picLocks noChangeAspect="1"/>
          </p:cNvPicPr>
          <p:nvPr/>
        </p:nvPicPr>
        <p:blipFill>
          <a:blip r:embed="rId2"/>
          <a:stretch>
            <a:fillRect/>
          </a:stretch>
        </p:blipFill>
        <p:spPr>
          <a:xfrm>
            <a:off x="2360142" y="1161535"/>
            <a:ext cx="7663694" cy="5486399"/>
          </a:xfrm>
          <a:prstGeom prst="rect">
            <a:avLst/>
          </a:prstGeom>
        </p:spPr>
      </p:pic>
    </p:spTree>
    <p:extLst>
      <p:ext uri="{BB962C8B-B14F-4D97-AF65-F5344CB8AC3E}">
        <p14:creationId xmlns:p14="http://schemas.microsoft.com/office/powerpoint/2010/main" val="394943135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813" y="661179"/>
            <a:ext cx="6934134" cy="525068"/>
          </a:xfrm>
        </p:spPr>
        <p:txBody>
          <a:bodyPr/>
          <a:lstStyle/>
          <a:p>
            <a:pPr algn="ctr"/>
            <a:r>
              <a:rPr lang="en-US" sz="2000" b="1" dirty="0" smtClean="0"/>
              <a:t>Advantages of using indexes in SQL language</a:t>
            </a:r>
            <a:endParaRPr lang="en-US" sz="2000" dirty="0"/>
          </a:p>
        </p:txBody>
      </p:sp>
      <p:sp>
        <p:nvSpPr>
          <p:cNvPr id="3" name="Content Placeholder 2"/>
          <p:cNvSpPr>
            <a:spLocks noGrp="1"/>
          </p:cNvSpPr>
          <p:nvPr>
            <p:ph idx="1"/>
          </p:nvPr>
        </p:nvSpPr>
        <p:spPr>
          <a:xfrm>
            <a:off x="1927654" y="1878226"/>
            <a:ext cx="8513805" cy="3682313"/>
          </a:xfrm>
        </p:spPr>
        <p:txBody>
          <a:bodyPr>
            <a:noAutofit/>
          </a:bodyPr>
          <a:lstStyle/>
          <a:p>
            <a:pPr lvl="0">
              <a:lnSpc>
                <a:spcPct val="200000"/>
              </a:lnSpc>
            </a:pPr>
            <a:r>
              <a:rPr lang="en-US" dirty="0">
                <a:latin typeface="Calibri" panose="020F0502020204030204" pitchFamily="34" charset="0"/>
                <a:cs typeface="Calibri" panose="020F0502020204030204" pitchFamily="34" charset="0"/>
              </a:rPr>
              <a:t>Their use in queries usually results in much better performance.</a:t>
            </a:r>
          </a:p>
          <a:p>
            <a:pPr lvl="0">
              <a:lnSpc>
                <a:spcPct val="200000"/>
              </a:lnSpc>
            </a:pPr>
            <a:r>
              <a:rPr lang="en-US" dirty="0">
                <a:latin typeface="Calibri" panose="020F0502020204030204" pitchFamily="34" charset="0"/>
                <a:cs typeface="Calibri" panose="020F0502020204030204" pitchFamily="34" charset="0"/>
              </a:rPr>
              <a:t>They make it possible to quickly retrieve (fetch) data.</a:t>
            </a:r>
          </a:p>
          <a:p>
            <a:pPr lvl="0">
              <a:lnSpc>
                <a:spcPct val="200000"/>
              </a:lnSpc>
            </a:pPr>
            <a:r>
              <a:rPr lang="en-US" dirty="0">
                <a:latin typeface="Calibri" panose="020F0502020204030204" pitchFamily="34" charset="0"/>
                <a:cs typeface="Calibri" panose="020F0502020204030204" pitchFamily="34" charset="0"/>
              </a:rPr>
              <a:t>They can be used for sorting. A post-fetch-sort operation can be eliminated.</a:t>
            </a:r>
          </a:p>
          <a:p>
            <a:pPr lvl="0">
              <a:lnSpc>
                <a:spcPct val="200000"/>
              </a:lnSpc>
            </a:pPr>
            <a:r>
              <a:rPr lang="en-US" dirty="0">
                <a:latin typeface="Calibri" panose="020F0502020204030204" pitchFamily="34" charset="0"/>
                <a:cs typeface="Calibri" panose="020F0502020204030204" pitchFamily="34" charset="0"/>
              </a:rPr>
              <a:t>Unique indexes guarantee uniquely identifiable records in the database</a:t>
            </a:r>
          </a:p>
        </p:txBody>
      </p:sp>
    </p:spTree>
    <p:extLst>
      <p:ext uri="{BB962C8B-B14F-4D97-AF65-F5344CB8AC3E}">
        <p14:creationId xmlns:p14="http://schemas.microsoft.com/office/powerpoint/2010/main" val="322239895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103" y="747678"/>
            <a:ext cx="4362407" cy="500355"/>
          </a:xfrm>
        </p:spPr>
        <p:txBody>
          <a:bodyPr/>
          <a:lstStyle/>
          <a:p>
            <a:pPr algn="ctr"/>
            <a:r>
              <a:rPr lang="en-US" sz="2000" b="1" dirty="0" smtClean="0"/>
              <a:t>Transactions</a:t>
            </a:r>
            <a:endParaRPr lang="en-US" sz="2000" dirty="0"/>
          </a:p>
        </p:txBody>
      </p:sp>
      <p:sp>
        <p:nvSpPr>
          <p:cNvPr id="3" name="Content Placeholder 2"/>
          <p:cNvSpPr>
            <a:spLocks noGrp="1"/>
          </p:cNvSpPr>
          <p:nvPr>
            <p:ph idx="1"/>
          </p:nvPr>
        </p:nvSpPr>
        <p:spPr>
          <a:xfrm>
            <a:off x="1519881" y="1495167"/>
            <a:ext cx="9329351" cy="4584357"/>
          </a:xfrm>
        </p:spPr>
        <p:txBody>
          <a:bodyPr>
            <a:noAutofit/>
          </a:bodyPr>
          <a:lstStyle/>
          <a:p>
            <a:pPr>
              <a:lnSpc>
                <a:spcPct val="200000"/>
              </a:lnSpc>
              <a:buFont typeface="Wingdings" panose="05000000000000000000" pitchFamily="2" charset="2"/>
              <a:buChar char="v"/>
            </a:pPr>
            <a:r>
              <a:rPr lang="en-US" dirty="0">
                <a:latin typeface="Calibri" panose="020F0502020204030204" pitchFamily="34" charset="0"/>
                <a:cs typeface="Calibri" panose="020F0502020204030204" pitchFamily="34" charset="0"/>
              </a:rPr>
              <a:t>The concept of a transaction has become central to many database applications. </a:t>
            </a:r>
            <a:endParaRPr lang="en-US" dirty="0" smtClean="0">
              <a:latin typeface="Calibri" panose="020F0502020204030204" pitchFamily="34" charset="0"/>
              <a:cs typeface="Calibri" panose="020F0502020204030204" pitchFamily="34" charset="0"/>
            </a:endParaRPr>
          </a:p>
          <a:p>
            <a:pPr>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A </a:t>
            </a:r>
            <a:r>
              <a:rPr lang="en-US" dirty="0">
                <a:latin typeface="Calibri" panose="020F0502020204030204" pitchFamily="34" charset="0"/>
                <a:cs typeface="Calibri" panose="020F0502020204030204" pitchFamily="34" charset="0"/>
              </a:rPr>
              <a:t>transaction is an executing program or process that includes one or more database accesses, such as reading or updating of database records. Each transaction is supposed to execute a logically correct database access if executed in its entirety without interference from other transactions. </a:t>
            </a:r>
            <a:endParaRPr lang="en-US" dirty="0" smtClean="0">
              <a:latin typeface="Calibri" panose="020F0502020204030204" pitchFamily="34" charset="0"/>
              <a:cs typeface="Calibri" panose="020F0502020204030204" pitchFamily="34" charset="0"/>
            </a:endParaRPr>
          </a:p>
          <a:p>
            <a:pPr>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The </a:t>
            </a:r>
            <a:r>
              <a:rPr lang="en-US" dirty="0">
                <a:latin typeface="Calibri" panose="020F0502020204030204" pitchFamily="34" charset="0"/>
                <a:cs typeface="Calibri" panose="020F0502020204030204" pitchFamily="34" charset="0"/>
              </a:rPr>
              <a:t>DBMS must enforce several transaction properties</a:t>
            </a:r>
            <a:r>
              <a:rPr lang="en-US" dirty="0" smtClean="0">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334743602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09568" y="747678"/>
            <a:ext cx="4362407" cy="500355"/>
          </a:xfrm>
        </p:spPr>
        <p:txBody>
          <a:bodyPr/>
          <a:lstStyle/>
          <a:p>
            <a:pPr algn="ctr"/>
            <a:r>
              <a:rPr lang="en-US" sz="2000" b="1" dirty="0" smtClean="0"/>
              <a:t>Transactions</a:t>
            </a:r>
            <a:endParaRPr lang="en-US" sz="2000" dirty="0"/>
          </a:p>
        </p:txBody>
      </p:sp>
      <p:sp>
        <p:nvSpPr>
          <p:cNvPr id="3" name="Content Placeholder 2"/>
          <p:cNvSpPr>
            <a:spLocks noGrp="1"/>
          </p:cNvSpPr>
          <p:nvPr>
            <p:ph idx="1"/>
          </p:nvPr>
        </p:nvSpPr>
        <p:spPr>
          <a:xfrm>
            <a:off x="1173892" y="1507524"/>
            <a:ext cx="10083112" cy="4695567"/>
          </a:xfrm>
        </p:spPr>
        <p:txBody>
          <a:bodyPr>
            <a:noAutofit/>
          </a:bodyPr>
          <a:lstStyle/>
          <a:p>
            <a:pPr>
              <a:lnSpc>
                <a:spcPct val="200000"/>
              </a:lnSpc>
              <a:buFont typeface="Wingdings" panose="05000000000000000000" pitchFamily="2" charset="2"/>
              <a:buChar char="v"/>
            </a:pPr>
            <a:r>
              <a:rPr lang="en-US" dirty="0">
                <a:latin typeface="Calibri" panose="020F0502020204030204" pitchFamily="34" charset="0"/>
                <a:cs typeface="Calibri" panose="020F0502020204030204" pitchFamily="34" charset="0"/>
              </a:rPr>
              <a:t>A simple example of a transaction will be </a:t>
            </a:r>
            <a:r>
              <a:rPr lang="en-US" b="1" dirty="0">
                <a:latin typeface="Calibri" panose="020F0502020204030204" pitchFamily="34" charset="0"/>
                <a:cs typeface="Calibri" panose="020F0502020204030204" pitchFamily="34" charset="0"/>
              </a:rPr>
              <a:t>dealing with the bank accounts of two users</a:t>
            </a:r>
            <a:r>
              <a:rPr lang="en-US" dirty="0">
                <a:latin typeface="Calibri" panose="020F0502020204030204" pitchFamily="34" charset="0"/>
                <a:cs typeface="Calibri" panose="020F0502020204030204" pitchFamily="34" charset="0"/>
              </a:rPr>
              <a:t>, let say </a:t>
            </a:r>
            <a:r>
              <a:rPr lang="en-US" dirty="0" err="1">
                <a:latin typeface="Calibri" panose="020F0502020204030204" pitchFamily="34" charset="0"/>
                <a:cs typeface="Calibri" panose="020F0502020204030204" pitchFamily="34" charset="0"/>
              </a:rPr>
              <a:t>Karlos</a:t>
            </a:r>
            <a:r>
              <a:rPr lang="en-US" dirty="0">
                <a:latin typeface="Calibri" panose="020F0502020204030204" pitchFamily="34" charset="0"/>
                <a:cs typeface="Calibri" panose="020F0502020204030204" pitchFamily="34" charset="0"/>
              </a:rPr>
              <a:t> and Ray. </a:t>
            </a:r>
            <a:endParaRPr lang="en-US" dirty="0" smtClean="0">
              <a:latin typeface="Calibri" panose="020F0502020204030204" pitchFamily="34" charset="0"/>
              <a:cs typeface="Calibri" panose="020F0502020204030204" pitchFamily="34" charset="0"/>
            </a:endParaRPr>
          </a:p>
          <a:p>
            <a:pPr>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A </a:t>
            </a:r>
            <a:r>
              <a:rPr lang="en-US" dirty="0">
                <a:latin typeface="Calibri" panose="020F0502020204030204" pitchFamily="34" charset="0"/>
                <a:cs typeface="Calibri" panose="020F0502020204030204" pitchFamily="34" charset="0"/>
              </a:rPr>
              <a:t>simple transaction of moving an amount of 5000 from </a:t>
            </a:r>
            <a:r>
              <a:rPr lang="en-US" dirty="0" err="1">
                <a:latin typeface="Calibri" panose="020F0502020204030204" pitchFamily="34" charset="0"/>
                <a:cs typeface="Calibri" panose="020F0502020204030204" pitchFamily="34" charset="0"/>
              </a:rPr>
              <a:t>Karlos</a:t>
            </a:r>
            <a:r>
              <a:rPr lang="en-US" dirty="0">
                <a:latin typeface="Calibri" panose="020F0502020204030204" pitchFamily="34" charset="0"/>
                <a:cs typeface="Calibri" panose="020F0502020204030204" pitchFamily="34" charset="0"/>
              </a:rPr>
              <a:t> to Ray engages many low-level jobs.</a:t>
            </a:r>
          </a:p>
          <a:p>
            <a:pPr>
              <a:lnSpc>
                <a:spcPct val="200000"/>
              </a:lnSpc>
              <a:buFont typeface="Wingdings" panose="05000000000000000000" pitchFamily="2" charset="2"/>
              <a:buChar char="v"/>
            </a:pPr>
            <a:r>
              <a:rPr lang="en-US" dirty="0">
                <a:latin typeface="Calibri" panose="020F0502020204030204" pitchFamily="34" charset="0"/>
                <a:cs typeface="Calibri" panose="020F0502020204030204" pitchFamily="34" charset="0"/>
              </a:rPr>
              <a:t> As the amount of </a:t>
            </a:r>
            <a:r>
              <a:rPr lang="en-US" dirty="0" err="1" smtClean="0">
                <a:latin typeface="Calibri" panose="020F0502020204030204" pitchFamily="34" charset="0"/>
                <a:cs typeface="Calibri" panose="020F0502020204030204" pitchFamily="34" charset="0"/>
              </a:rPr>
              <a:t>Ksh</a:t>
            </a:r>
            <a:r>
              <a:rPr lang="en-US" dirty="0" smtClean="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5000 gets transferred from the </a:t>
            </a:r>
            <a:r>
              <a:rPr lang="en-US" dirty="0" err="1">
                <a:latin typeface="Calibri" panose="020F0502020204030204" pitchFamily="34" charset="0"/>
                <a:cs typeface="Calibri" panose="020F0502020204030204" pitchFamily="34" charset="0"/>
              </a:rPr>
              <a:t>Karlos's</a:t>
            </a:r>
            <a:r>
              <a:rPr lang="en-US" dirty="0">
                <a:latin typeface="Calibri" panose="020F0502020204030204" pitchFamily="34" charset="0"/>
                <a:cs typeface="Calibri" panose="020F0502020204030204" pitchFamily="34" charset="0"/>
              </a:rPr>
              <a:t> account to Ray's account, a series of tasks gets performed in the background of the screen.</a:t>
            </a:r>
          </a:p>
        </p:txBody>
      </p:sp>
    </p:spTree>
    <p:extLst>
      <p:ext uri="{BB962C8B-B14F-4D97-AF65-F5344CB8AC3E}">
        <p14:creationId xmlns:p14="http://schemas.microsoft.com/office/powerpoint/2010/main" val="206252249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19632" y="710607"/>
            <a:ext cx="5981142" cy="487998"/>
          </a:xfrm>
        </p:spPr>
        <p:txBody>
          <a:bodyPr/>
          <a:lstStyle/>
          <a:p>
            <a:pPr algn="ctr"/>
            <a:r>
              <a:rPr lang="en-US" sz="2000" b="1" dirty="0" smtClean="0"/>
              <a:t>ACID properties of a transaction</a:t>
            </a:r>
            <a:endParaRPr lang="en-US" sz="2000" dirty="0"/>
          </a:p>
        </p:txBody>
      </p:sp>
      <p:sp>
        <p:nvSpPr>
          <p:cNvPr id="3" name="Content Placeholder 2"/>
          <p:cNvSpPr>
            <a:spLocks noGrp="1"/>
          </p:cNvSpPr>
          <p:nvPr>
            <p:ph idx="1"/>
          </p:nvPr>
        </p:nvSpPr>
        <p:spPr>
          <a:xfrm>
            <a:off x="1297460" y="1556951"/>
            <a:ext cx="9428203" cy="4757350"/>
          </a:xfrm>
        </p:spPr>
        <p:txBody>
          <a:bodyPr>
            <a:noAutofit/>
          </a:bodyPr>
          <a:lstStyle/>
          <a:p>
            <a:pPr>
              <a:lnSpc>
                <a:spcPct val="200000"/>
              </a:lnSpc>
              <a:buFont typeface="Wingdings" panose="05000000000000000000" pitchFamily="2" charset="2"/>
              <a:buChar char="v"/>
            </a:pPr>
            <a:r>
              <a:rPr lang="en-US" dirty="0">
                <a:latin typeface="Calibri" panose="020F0502020204030204" pitchFamily="34" charset="0"/>
                <a:cs typeface="Calibri" panose="020F0502020204030204" pitchFamily="34" charset="0"/>
              </a:rPr>
              <a:t>A transaction in a database system must maintain </a:t>
            </a:r>
            <a:r>
              <a:rPr lang="en-US" b="1" dirty="0">
                <a:latin typeface="Calibri" panose="020F0502020204030204" pitchFamily="34" charset="0"/>
                <a:cs typeface="Calibri" panose="020F0502020204030204" pitchFamily="34" charset="0"/>
              </a:rPr>
              <a:t>A</a:t>
            </a:r>
            <a:r>
              <a:rPr lang="en-US" dirty="0">
                <a:latin typeface="Calibri" panose="020F0502020204030204" pitchFamily="34" charset="0"/>
                <a:cs typeface="Calibri" panose="020F0502020204030204" pitchFamily="34" charset="0"/>
              </a:rPr>
              <a:t>tomicity, </a:t>
            </a:r>
            <a:r>
              <a:rPr lang="en-US" b="1" dirty="0">
                <a:latin typeface="Calibri" panose="020F0502020204030204" pitchFamily="34" charset="0"/>
                <a:cs typeface="Calibri" panose="020F0502020204030204" pitchFamily="34" charset="0"/>
              </a:rPr>
              <a:t>C</a:t>
            </a:r>
            <a:r>
              <a:rPr lang="en-US" dirty="0">
                <a:latin typeface="Calibri" panose="020F0502020204030204" pitchFamily="34" charset="0"/>
                <a:cs typeface="Calibri" panose="020F0502020204030204" pitchFamily="34" charset="0"/>
              </a:rPr>
              <a:t>onsistency, </a:t>
            </a:r>
            <a:r>
              <a:rPr lang="en-US" b="1" dirty="0">
                <a:latin typeface="Calibri" panose="020F0502020204030204" pitchFamily="34" charset="0"/>
                <a:cs typeface="Calibri" panose="020F0502020204030204" pitchFamily="34" charset="0"/>
              </a:rPr>
              <a:t>I</a:t>
            </a:r>
            <a:r>
              <a:rPr lang="en-US" dirty="0">
                <a:latin typeface="Calibri" panose="020F0502020204030204" pitchFamily="34" charset="0"/>
                <a:cs typeface="Calibri" panose="020F0502020204030204" pitchFamily="34" charset="0"/>
              </a:rPr>
              <a:t>solation, and </a:t>
            </a:r>
            <a:r>
              <a:rPr lang="en-US" b="1" dirty="0">
                <a:latin typeface="Calibri" panose="020F0502020204030204" pitchFamily="34" charset="0"/>
                <a:cs typeface="Calibri" panose="020F0502020204030204" pitchFamily="34" charset="0"/>
              </a:rPr>
              <a:t>D</a:t>
            </a:r>
            <a:r>
              <a:rPr lang="en-US" dirty="0">
                <a:latin typeface="Calibri" panose="020F0502020204030204" pitchFamily="34" charset="0"/>
                <a:cs typeface="Calibri" panose="020F0502020204030204" pitchFamily="34" charset="0"/>
              </a:rPr>
              <a:t>urability − commonly known as ACID properties − in order to ensure accuracy, completeness, and data integrity.</a:t>
            </a:r>
          </a:p>
          <a:p>
            <a:pPr lvl="0">
              <a:lnSpc>
                <a:spcPct val="200000"/>
              </a:lnSpc>
              <a:buFont typeface="Wingdings" panose="05000000000000000000" pitchFamily="2" charset="2"/>
              <a:buChar char="v"/>
            </a:pPr>
            <a:r>
              <a:rPr lang="en-US" b="1" dirty="0">
                <a:latin typeface="Calibri" panose="020F0502020204030204" pitchFamily="34" charset="0"/>
                <a:cs typeface="Calibri" panose="020F0502020204030204" pitchFamily="34" charset="0"/>
              </a:rPr>
              <a:t>Atomicity</a:t>
            </a:r>
            <a:r>
              <a:rPr lang="en-US" dirty="0">
                <a:latin typeface="Calibri" panose="020F0502020204030204" pitchFamily="34" charset="0"/>
                <a:cs typeface="Calibri" panose="020F0502020204030204" pitchFamily="34" charset="0"/>
              </a:rPr>
              <a:t> − This property states that a transaction must be treated as an atomic unit, that is, either all of its operations are executed or none. There must be no state in a database where a transaction is left partially completed. States should be defined either before the execution of the transaction or after the execution/abortion/failure of the transaction.</a:t>
            </a:r>
          </a:p>
        </p:txBody>
      </p:sp>
    </p:spTree>
    <p:extLst>
      <p:ext uri="{BB962C8B-B14F-4D97-AF65-F5344CB8AC3E}">
        <p14:creationId xmlns:p14="http://schemas.microsoft.com/office/powerpoint/2010/main" val="94933193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5298" y="698250"/>
            <a:ext cx="6055282" cy="500355"/>
          </a:xfrm>
        </p:spPr>
        <p:txBody>
          <a:bodyPr/>
          <a:lstStyle/>
          <a:p>
            <a:pPr algn="ctr"/>
            <a:r>
              <a:rPr lang="en-US" sz="2000" b="1" dirty="0" smtClean="0"/>
              <a:t>ACID properties</a:t>
            </a:r>
            <a:endParaRPr lang="en-US" sz="2000" dirty="0"/>
          </a:p>
        </p:txBody>
      </p:sp>
      <p:sp>
        <p:nvSpPr>
          <p:cNvPr id="3" name="Content Placeholder 2"/>
          <p:cNvSpPr>
            <a:spLocks noGrp="1"/>
          </p:cNvSpPr>
          <p:nvPr>
            <p:ph idx="1"/>
          </p:nvPr>
        </p:nvSpPr>
        <p:spPr>
          <a:xfrm>
            <a:off x="1210962" y="1421028"/>
            <a:ext cx="9786552" cy="5251620"/>
          </a:xfrm>
        </p:spPr>
        <p:txBody>
          <a:bodyPr>
            <a:noAutofit/>
          </a:bodyPr>
          <a:lstStyle/>
          <a:p>
            <a:pPr lvl="0">
              <a:lnSpc>
                <a:spcPct val="200000"/>
              </a:lnSpc>
              <a:buFont typeface="Wingdings" panose="05000000000000000000" pitchFamily="2" charset="2"/>
              <a:buChar char="v"/>
            </a:pPr>
            <a:r>
              <a:rPr lang="en-US" b="1" dirty="0">
                <a:latin typeface="Calibri" panose="020F0502020204030204" pitchFamily="34" charset="0"/>
                <a:cs typeface="Calibri" panose="020F0502020204030204" pitchFamily="34" charset="0"/>
              </a:rPr>
              <a:t>Consistency</a:t>
            </a:r>
            <a:r>
              <a:rPr lang="en-US" dirty="0">
                <a:latin typeface="Calibri" panose="020F0502020204030204" pitchFamily="34" charset="0"/>
                <a:cs typeface="Calibri" panose="020F0502020204030204" pitchFamily="34" charset="0"/>
              </a:rPr>
              <a:t> − The database must remain in a consistent state after any transaction. No transaction should have any adverse effect on the data residing in the database. If the database was in a consistent state before the execution of a transaction, it must remain consistent after the execution of the transaction as well.</a:t>
            </a:r>
          </a:p>
          <a:p>
            <a:pPr lvl="0">
              <a:lnSpc>
                <a:spcPct val="200000"/>
              </a:lnSpc>
              <a:buFont typeface="Wingdings" panose="05000000000000000000" pitchFamily="2" charset="2"/>
              <a:buChar char="v"/>
            </a:pPr>
            <a:r>
              <a:rPr lang="en-US" b="1" dirty="0">
                <a:latin typeface="Calibri" panose="020F0502020204030204" pitchFamily="34" charset="0"/>
                <a:cs typeface="Calibri" panose="020F0502020204030204" pitchFamily="34" charset="0"/>
              </a:rPr>
              <a:t>Durability</a:t>
            </a:r>
            <a:r>
              <a:rPr lang="en-US" dirty="0">
                <a:latin typeface="Calibri" panose="020F0502020204030204" pitchFamily="34" charset="0"/>
                <a:cs typeface="Calibri" panose="020F0502020204030204" pitchFamily="34" charset="0"/>
              </a:rPr>
              <a:t> − The database should be durable enough to hold all its latest updates even if the system fails or restarts. If a transaction updates a chunk of data in a database and commits, then the database will hold the modified data. If a transaction commits but the system fails before the data could be written on to the disk, then that data will be updated once the system springs back into action.</a:t>
            </a:r>
          </a:p>
        </p:txBody>
      </p:sp>
    </p:spTree>
    <p:extLst>
      <p:ext uri="{BB962C8B-B14F-4D97-AF65-F5344CB8AC3E}">
        <p14:creationId xmlns:p14="http://schemas.microsoft.com/office/powerpoint/2010/main" val="325867494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10714" y="611753"/>
            <a:ext cx="5079098" cy="512712"/>
          </a:xfrm>
        </p:spPr>
        <p:txBody>
          <a:bodyPr/>
          <a:lstStyle/>
          <a:p>
            <a:pPr algn="ctr"/>
            <a:r>
              <a:rPr lang="en-US" sz="2000" b="1" dirty="0" smtClean="0"/>
              <a:t>ACID properties</a:t>
            </a:r>
            <a:endParaRPr lang="en-US" sz="2000" dirty="0"/>
          </a:p>
        </p:txBody>
      </p:sp>
      <p:sp>
        <p:nvSpPr>
          <p:cNvPr id="3" name="Content Placeholder 2"/>
          <p:cNvSpPr>
            <a:spLocks noGrp="1"/>
          </p:cNvSpPr>
          <p:nvPr>
            <p:ph idx="1"/>
          </p:nvPr>
        </p:nvSpPr>
        <p:spPr>
          <a:xfrm>
            <a:off x="1408670" y="1618734"/>
            <a:ext cx="9403492" cy="3595817"/>
          </a:xfrm>
        </p:spPr>
        <p:txBody>
          <a:bodyPr>
            <a:noAutofit/>
          </a:bodyPr>
          <a:lstStyle/>
          <a:p>
            <a:pPr lvl="0">
              <a:lnSpc>
                <a:spcPct val="200000"/>
              </a:lnSpc>
              <a:buFont typeface="Wingdings" panose="05000000000000000000" pitchFamily="2" charset="2"/>
              <a:buChar char="v"/>
            </a:pPr>
            <a:r>
              <a:rPr lang="en-US" sz="2000" b="1" dirty="0">
                <a:latin typeface="Calibri" panose="020F0502020204030204" pitchFamily="34" charset="0"/>
                <a:cs typeface="Calibri" panose="020F0502020204030204" pitchFamily="34" charset="0"/>
              </a:rPr>
              <a:t>Isolation</a:t>
            </a:r>
            <a:r>
              <a:rPr lang="en-US" sz="2000" dirty="0">
                <a:latin typeface="Calibri" panose="020F0502020204030204" pitchFamily="34" charset="0"/>
                <a:cs typeface="Calibri" panose="020F0502020204030204" pitchFamily="34" charset="0"/>
              </a:rPr>
              <a:t> − In a database system where more than one transaction are being executed simultaneously and in parallel, the property of isolation states that all the transactions will be carried out and executed as if it is the only transaction in the system. No transaction will affect the existence of any other transaction.</a:t>
            </a:r>
          </a:p>
        </p:txBody>
      </p:sp>
    </p:spTree>
    <p:extLst>
      <p:ext uri="{BB962C8B-B14F-4D97-AF65-F5344CB8AC3E}">
        <p14:creationId xmlns:p14="http://schemas.microsoft.com/office/powerpoint/2010/main" val="413394482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10465" y="537613"/>
            <a:ext cx="5079098" cy="512712"/>
          </a:xfrm>
        </p:spPr>
        <p:txBody>
          <a:bodyPr/>
          <a:lstStyle/>
          <a:p>
            <a:pPr algn="ctr"/>
            <a:r>
              <a:rPr lang="en-US" sz="2000" b="1" dirty="0"/>
              <a:t>Application of </a:t>
            </a:r>
            <a:r>
              <a:rPr lang="en-US" sz="2000" b="1" dirty="0" smtClean="0"/>
              <a:t>Databases</a:t>
            </a:r>
            <a:endParaRPr lang="en-US" sz="2000" dirty="0"/>
          </a:p>
        </p:txBody>
      </p:sp>
      <p:sp>
        <p:nvSpPr>
          <p:cNvPr id="3" name="Content Placeholder 2"/>
          <p:cNvSpPr>
            <a:spLocks noGrp="1"/>
          </p:cNvSpPr>
          <p:nvPr>
            <p:ph idx="1"/>
          </p:nvPr>
        </p:nvSpPr>
        <p:spPr>
          <a:xfrm>
            <a:off x="1235676" y="1149180"/>
            <a:ext cx="10305535" cy="5474042"/>
          </a:xfrm>
        </p:spPr>
        <p:txBody>
          <a:bodyPr>
            <a:noAutofit/>
          </a:bodyPr>
          <a:lstStyle/>
          <a:p>
            <a:pPr lvl="0">
              <a:lnSpc>
                <a:spcPct val="200000"/>
              </a:lnSpc>
              <a:buFont typeface="Wingdings" panose="05000000000000000000" pitchFamily="2" charset="2"/>
              <a:buChar char="v"/>
            </a:pPr>
            <a:r>
              <a:rPr lang="en-US" dirty="0">
                <a:latin typeface="Calibri" panose="020F0502020204030204" pitchFamily="34" charset="0"/>
                <a:cs typeface="Calibri" panose="020F0502020204030204" pitchFamily="34" charset="0"/>
              </a:rPr>
              <a:t>Banking: For customer information, accounts, loans, and banking transactions. </a:t>
            </a:r>
          </a:p>
          <a:p>
            <a:pPr lvl="0">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Credit </a:t>
            </a:r>
            <a:r>
              <a:rPr lang="en-US" dirty="0">
                <a:latin typeface="Calibri" panose="020F0502020204030204" pitchFamily="34" charset="0"/>
                <a:cs typeface="Calibri" panose="020F0502020204030204" pitchFamily="34" charset="0"/>
              </a:rPr>
              <a:t>card transactions: For purchases on credit cards and generation of monthly </a:t>
            </a:r>
            <a:r>
              <a:rPr lang="en-US" dirty="0" smtClean="0">
                <a:latin typeface="Calibri" panose="020F0502020204030204" pitchFamily="34" charset="0"/>
                <a:cs typeface="Calibri" panose="020F0502020204030204" pitchFamily="34" charset="0"/>
              </a:rPr>
              <a:t>statements.</a:t>
            </a:r>
          </a:p>
          <a:p>
            <a:pPr lvl="0">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Finance</a:t>
            </a:r>
            <a:r>
              <a:rPr lang="en-US" dirty="0">
                <a:latin typeface="Calibri" panose="020F0502020204030204" pitchFamily="34" charset="0"/>
                <a:cs typeface="Calibri" panose="020F0502020204030204" pitchFamily="34" charset="0"/>
              </a:rPr>
              <a:t>: For storing information about holdings, sales, and purchases of financial instruments such as stocks and bonds; also for storing real-time market data to enable online trading by customers and automated trading by the </a:t>
            </a:r>
            <a:r>
              <a:rPr lang="en-US" dirty="0" smtClean="0">
                <a:latin typeface="Calibri" panose="020F0502020204030204" pitchFamily="34" charset="0"/>
                <a:cs typeface="Calibri" panose="020F0502020204030204" pitchFamily="34" charset="0"/>
              </a:rPr>
              <a:t>firm.</a:t>
            </a:r>
          </a:p>
          <a:p>
            <a:pPr lvl="0">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Universities</a:t>
            </a:r>
            <a:r>
              <a:rPr lang="en-US" dirty="0">
                <a:latin typeface="Calibri" panose="020F0502020204030204" pitchFamily="34" charset="0"/>
                <a:cs typeface="Calibri" panose="020F0502020204030204" pitchFamily="34" charset="0"/>
              </a:rPr>
              <a:t>: For student information, course registrations, and grades (in addition to standard enterprise information such as human resources and accounting). </a:t>
            </a:r>
          </a:p>
          <a:p>
            <a:pPr lvl="0">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Airlines</a:t>
            </a:r>
            <a:r>
              <a:rPr lang="en-US" dirty="0">
                <a:latin typeface="Calibri" panose="020F0502020204030204" pitchFamily="34" charset="0"/>
                <a:cs typeface="Calibri" panose="020F0502020204030204" pitchFamily="34" charset="0"/>
              </a:rPr>
              <a:t>: For reservations and schedule information. Airlines were among the first to use databases in a geographically distributed </a:t>
            </a:r>
            <a:r>
              <a:rPr lang="en-US" dirty="0" smtClean="0">
                <a:latin typeface="Calibri" panose="020F0502020204030204" pitchFamily="34" charset="0"/>
                <a:cs typeface="Calibri" panose="020F0502020204030204" pitchFamily="34" charset="0"/>
              </a:rPr>
              <a:t>manner</a:t>
            </a: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3839114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35178" y="624109"/>
            <a:ext cx="5079098" cy="512712"/>
          </a:xfrm>
        </p:spPr>
        <p:txBody>
          <a:bodyPr/>
          <a:lstStyle/>
          <a:p>
            <a:pPr algn="ctr"/>
            <a:r>
              <a:rPr lang="en-US" sz="2000" b="1" dirty="0"/>
              <a:t>Application of </a:t>
            </a:r>
            <a:r>
              <a:rPr lang="en-US" sz="2000" b="1" dirty="0" smtClean="0"/>
              <a:t>Databases</a:t>
            </a:r>
            <a:endParaRPr lang="en-US" sz="2000" dirty="0"/>
          </a:p>
        </p:txBody>
      </p:sp>
      <p:sp>
        <p:nvSpPr>
          <p:cNvPr id="3" name="Content Placeholder 2"/>
          <p:cNvSpPr>
            <a:spLocks noGrp="1"/>
          </p:cNvSpPr>
          <p:nvPr>
            <p:ph idx="1"/>
          </p:nvPr>
        </p:nvSpPr>
        <p:spPr>
          <a:xfrm>
            <a:off x="1087394" y="1235677"/>
            <a:ext cx="10305535" cy="5474042"/>
          </a:xfrm>
        </p:spPr>
        <p:txBody>
          <a:bodyPr>
            <a:noAutofit/>
          </a:bodyPr>
          <a:lstStyle/>
          <a:p>
            <a:pPr lvl="0">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Telecommunication</a:t>
            </a:r>
            <a:r>
              <a:rPr lang="en-US" dirty="0">
                <a:latin typeface="Calibri" panose="020F0502020204030204" pitchFamily="34" charset="0"/>
                <a:cs typeface="Calibri" panose="020F0502020204030204" pitchFamily="34" charset="0"/>
              </a:rPr>
              <a:t>: For keeping records of calls made, generating monthly bills, maintaining balances on prepaid calling cards, and storing information about the communication networks</a:t>
            </a:r>
            <a:r>
              <a:rPr lang="en-US" dirty="0" smtClean="0">
                <a:latin typeface="Calibri" panose="020F0502020204030204" pitchFamily="34" charset="0"/>
                <a:cs typeface="Calibri" panose="020F0502020204030204" pitchFamily="34" charset="0"/>
              </a:rPr>
              <a:t>.</a:t>
            </a:r>
          </a:p>
          <a:p>
            <a:pPr lvl="0">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Sales</a:t>
            </a:r>
            <a:r>
              <a:rPr lang="en-US" dirty="0">
                <a:latin typeface="Calibri" panose="020F0502020204030204" pitchFamily="34" charset="0"/>
                <a:cs typeface="Calibri" panose="020F0502020204030204" pitchFamily="34" charset="0"/>
              </a:rPr>
              <a:t>: For customer, product, and purchase information. </a:t>
            </a:r>
          </a:p>
          <a:p>
            <a:pPr lvl="0">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Accounting</a:t>
            </a:r>
            <a:r>
              <a:rPr lang="en-US" dirty="0">
                <a:latin typeface="Calibri" panose="020F0502020204030204" pitchFamily="34" charset="0"/>
                <a:cs typeface="Calibri" panose="020F0502020204030204" pitchFamily="34" charset="0"/>
              </a:rPr>
              <a:t>: For payments, receipts, account balances, assets and other accounting </a:t>
            </a:r>
            <a:r>
              <a:rPr lang="en-US" dirty="0" smtClean="0">
                <a:latin typeface="Calibri" panose="020F0502020204030204" pitchFamily="34" charset="0"/>
                <a:cs typeface="Calibri" panose="020F0502020204030204" pitchFamily="34" charset="0"/>
              </a:rPr>
              <a:t>information.</a:t>
            </a:r>
          </a:p>
          <a:p>
            <a:pPr lvl="0">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Human </a:t>
            </a:r>
            <a:r>
              <a:rPr lang="en-US" dirty="0">
                <a:latin typeface="Calibri" panose="020F0502020204030204" pitchFamily="34" charset="0"/>
                <a:cs typeface="Calibri" panose="020F0502020204030204" pitchFamily="34" charset="0"/>
              </a:rPr>
              <a:t>resources: For information about employees, salaries, payroll taxes, and benefits, and for generation of paychecks. </a:t>
            </a:r>
          </a:p>
          <a:p>
            <a:pPr lvl="0">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Manufacturing</a:t>
            </a:r>
            <a:r>
              <a:rPr lang="en-US" dirty="0">
                <a:latin typeface="Calibri" panose="020F0502020204030204" pitchFamily="34" charset="0"/>
                <a:cs typeface="Calibri" panose="020F0502020204030204" pitchFamily="34" charset="0"/>
              </a:rPr>
              <a:t>: For management of the supply chain and for tracking production of items in factories, inventories of items </a:t>
            </a:r>
            <a:r>
              <a:rPr lang="en-US" dirty="0" smtClean="0">
                <a:latin typeface="Calibri" panose="020F0502020204030204" pitchFamily="34" charset="0"/>
                <a:cs typeface="Calibri" panose="020F0502020204030204" pitchFamily="34" charset="0"/>
              </a:rPr>
              <a:t>in warehouses </a:t>
            </a:r>
            <a:r>
              <a:rPr lang="en-US" dirty="0">
                <a:latin typeface="Calibri" panose="020F0502020204030204" pitchFamily="34" charset="0"/>
                <a:cs typeface="Calibri" panose="020F0502020204030204" pitchFamily="34" charset="0"/>
              </a:rPr>
              <a:t>and stores, and orders for items. </a:t>
            </a:r>
          </a:p>
        </p:txBody>
      </p:sp>
    </p:spTree>
    <p:extLst>
      <p:ext uri="{BB962C8B-B14F-4D97-AF65-F5344CB8AC3E}">
        <p14:creationId xmlns:p14="http://schemas.microsoft.com/office/powerpoint/2010/main" val="3374852467"/>
      </p:ext>
    </p:extLst>
  </p:cSld>
  <p:clrMapOvr>
    <a:masterClrMapping/>
  </p:clrMapOvr>
  <p:timing>
    <p:tnLst>
      <p:par>
        <p:cTn id="1" dur="indefinite" restart="never" nodeType="tmRoot"/>
      </p:par>
    </p:tn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54F6613E-5ED7-40ED-90A8-F639BE712C0E}"/>
    </a:ext>
  </a:extLst>
</a:theme>
</file>

<file path=docProps/app.xml><?xml version="1.0" encoding="utf-8"?>
<Properties xmlns="http://schemas.openxmlformats.org/officeDocument/2006/extended-properties" xmlns:vt="http://schemas.openxmlformats.org/officeDocument/2006/docPropsVTypes">
  <Template>Wisp</Template>
  <TotalTime>1142</TotalTime>
  <Words>1244</Words>
  <Application>Microsoft Office PowerPoint</Application>
  <PresentationFormat>Widescreen</PresentationFormat>
  <Paragraphs>69</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Century Gothic</vt:lpstr>
      <vt:lpstr>Wingdings</vt:lpstr>
      <vt:lpstr>Wingdings 3</vt:lpstr>
      <vt:lpstr>Wisp</vt:lpstr>
      <vt:lpstr>Database systems I</vt:lpstr>
      <vt:lpstr>Database indexing</vt:lpstr>
      <vt:lpstr>Database indexing types</vt:lpstr>
      <vt:lpstr>Primary index</vt:lpstr>
      <vt:lpstr>Primary index</vt:lpstr>
      <vt:lpstr>2. Secondary index</vt:lpstr>
      <vt:lpstr>2. Secondary index</vt:lpstr>
      <vt:lpstr>3. Clustered Index</vt:lpstr>
      <vt:lpstr>3. Clustered Index</vt:lpstr>
      <vt:lpstr>Advantages of using indexes in SQL language</vt:lpstr>
      <vt:lpstr>Transactions</vt:lpstr>
      <vt:lpstr>Transactions</vt:lpstr>
      <vt:lpstr>ACID properties of a transaction</vt:lpstr>
      <vt:lpstr>ACID properties</vt:lpstr>
      <vt:lpstr>ACID properties</vt:lpstr>
      <vt:lpstr>Application of Databases</vt:lpstr>
      <vt:lpstr>Application of Databases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polin mwkx</dc:creator>
  <cp:lastModifiedBy>polin mwkx</cp:lastModifiedBy>
  <cp:revision>99</cp:revision>
  <dcterms:created xsi:type="dcterms:W3CDTF">2022-02-01T12:03:15Z</dcterms:created>
  <dcterms:modified xsi:type="dcterms:W3CDTF">2022-10-25T10:24:03Z</dcterms:modified>
</cp:coreProperties>
</file>