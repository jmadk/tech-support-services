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71" r:id="rId3"/>
    <p:sldId id="269" r:id="rId4"/>
    <p:sldId id="279" r:id="rId5"/>
    <p:sldId id="280" r:id="rId6"/>
    <p:sldId id="288" r:id="rId7"/>
    <p:sldId id="289" r:id="rId8"/>
    <p:sldId id="292" r:id="rId9"/>
    <p:sldId id="258" r:id="rId10"/>
    <p:sldId id="263" r:id="rId11"/>
    <p:sldId id="293" r:id="rId12"/>
    <p:sldId id="294" r:id="rId13"/>
    <p:sldId id="295" r:id="rId14"/>
    <p:sldId id="296" r:id="rId15"/>
    <p:sldId id="272" r:id="rId16"/>
    <p:sldId id="273" r:id="rId17"/>
    <p:sldId id="259" r:id="rId18"/>
    <p:sldId id="264" r:id="rId19"/>
    <p:sldId id="274" r:id="rId20"/>
    <p:sldId id="261" r:id="rId21"/>
    <p:sldId id="262" r:id="rId22"/>
    <p:sldId id="290" r:id="rId23"/>
    <p:sldId id="291" r:id="rId24"/>
    <p:sldId id="278" r:id="rId25"/>
    <p:sldId id="260" r:id="rId26"/>
    <p:sldId id="267" r:id="rId27"/>
    <p:sldId id="281" r:id="rId28"/>
    <p:sldId id="282" r:id="rId29"/>
    <p:sldId id="266" r:id="rId30"/>
    <p:sldId id="286" r:id="rId31"/>
    <p:sldId id="283" r:id="rId32"/>
    <p:sldId id="265" r:id="rId33"/>
    <p:sldId id="284" r:id="rId34"/>
    <p:sldId id="285" r:id="rId35"/>
    <p:sldId id="275" r:id="rId36"/>
    <p:sldId id="276" r:id="rId37"/>
    <p:sldId id="287" r:id="rId38"/>
    <p:sldId id="277" r:id="rId39"/>
    <p:sldId id="268" r:id="rId40"/>
    <p:sldId id="270"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15" autoAdjust="0"/>
    <p:restoredTop sz="94660"/>
  </p:normalViewPr>
  <p:slideViewPr>
    <p:cSldViewPr snapToGrid="0" showGuides="1">
      <p:cViewPr varScale="1">
        <p:scale>
          <a:sx n="67" d="100"/>
          <a:sy n="67" d="100"/>
        </p:scale>
        <p:origin x="528" y="4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32d7de6691735fcc" providerId="LiveId" clId="{F679CE5C-CA5C-4B00-8C3B-F98C01E0603D}"/>
  </pc:docChgLst>
  <pc:docChgLst>
    <pc:chgData userId="32d7de6691735fcc" providerId="LiveId" clId="{DBEF4429-1EF1-4A93-ACEB-066D578DC20A}"/>
    <pc:docChg chg="custSel addSld delSld modSld">
      <pc:chgData name="" userId="32d7de6691735fcc" providerId="LiveId" clId="{DBEF4429-1EF1-4A93-ACEB-066D578DC20A}" dt="2024-10-09T09:42:54.829" v="19"/>
      <pc:docMkLst>
        <pc:docMk/>
      </pc:docMkLst>
      <pc:sldChg chg="modSp">
        <pc:chgData name="" userId="32d7de6691735fcc" providerId="LiveId" clId="{DBEF4429-1EF1-4A93-ACEB-066D578DC20A}" dt="2024-10-09T09:41:25.571" v="16" actId="20577"/>
        <pc:sldMkLst>
          <pc:docMk/>
          <pc:sldMk cId="0" sldId="258"/>
        </pc:sldMkLst>
        <pc:spChg chg="mod">
          <ac:chgData name="" userId="32d7de6691735fcc" providerId="LiveId" clId="{DBEF4429-1EF1-4A93-ACEB-066D578DC20A}" dt="2024-10-09T09:41:25.571" v="16" actId="20577"/>
          <ac:spMkLst>
            <pc:docMk/>
            <pc:sldMk cId="0" sldId="258"/>
            <ac:spMk id="2" creationId="{00000000-0000-0000-0000-000000000000}"/>
          </ac:spMkLst>
        </pc:spChg>
      </pc:sldChg>
      <pc:sldChg chg="del">
        <pc:chgData name="" userId="32d7de6691735fcc" providerId="LiveId" clId="{DBEF4429-1EF1-4A93-ACEB-066D578DC20A}" dt="2024-10-09T09:42:25.514" v="17" actId="2696"/>
        <pc:sldMkLst>
          <pc:docMk/>
          <pc:sldMk cId="3401409733" sldId="290"/>
        </pc:sldMkLst>
      </pc:sldChg>
      <pc:sldChg chg="add">
        <pc:chgData name="" userId="32d7de6691735fcc" providerId="LiveId" clId="{DBEF4429-1EF1-4A93-ACEB-066D578DC20A}" dt="2024-10-09T09:42:54.829" v="19"/>
        <pc:sldMkLst>
          <pc:docMk/>
          <pc:sldMk cId="3401409733" sldId="290"/>
        </pc:sldMkLst>
      </pc:sldChg>
      <pc:sldChg chg="del">
        <pc:chgData name="" userId="32d7de6691735fcc" providerId="LiveId" clId="{DBEF4429-1EF1-4A93-ACEB-066D578DC20A}" dt="2024-10-09T09:42:25.529" v="18" actId="2696"/>
        <pc:sldMkLst>
          <pc:docMk/>
          <pc:sldMk cId="3922176891" sldId="291"/>
        </pc:sldMkLst>
      </pc:sldChg>
      <pc:sldChg chg="add">
        <pc:chgData name="" userId="32d7de6691735fcc" providerId="LiveId" clId="{DBEF4429-1EF1-4A93-ACEB-066D578DC20A}" dt="2024-10-09T09:42:54.829" v="19"/>
        <pc:sldMkLst>
          <pc:docMk/>
          <pc:sldMk cId="3922176891" sldId="291"/>
        </pc:sldMkLst>
      </pc:sldChg>
    </pc:docChg>
  </pc:docChgLst>
  <pc:docChgLst>
    <pc:chgData userId="32d7de6691735fcc" providerId="LiveId" clId="{871190BA-E37E-429C-ABC4-82C0118F5530}"/>
    <pc:docChg chg="custSel addSld delSld modSld">
      <pc:chgData name="" userId="32d7de6691735fcc" providerId="LiveId" clId="{871190BA-E37E-429C-ABC4-82C0118F5530}" dt="2024-10-30T09:29:40.479" v="1"/>
      <pc:docMkLst>
        <pc:docMk/>
      </pc:docMkLst>
      <pc:sldChg chg="del">
        <pc:chgData name="" userId="32d7de6691735fcc" providerId="LiveId" clId="{871190BA-E37E-429C-ABC4-82C0118F5530}" dt="2024-10-30T09:29:27.254" v="0" actId="2696"/>
        <pc:sldMkLst>
          <pc:docMk/>
          <pc:sldMk cId="0" sldId="278"/>
        </pc:sldMkLst>
      </pc:sldChg>
      <pc:sldChg chg="add">
        <pc:chgData name="" userId="32d7de6691735fcc" providerId="LiveId" clId="{871190BA-E37E-429C-ABC4-82C0118F5530}" dt="2024-10-30T09:29:40.479" v="1"/>
        <pc:sldMkLst>
          <pc:docMk/>
          <pc:sldMk cId="925404408" sldId="278"/>
        </pc:sldMkLst>
      </pc:sldChg>
    </pc:docChg>
  </pc:docChgLst>
  <pc:docChgLst>
    <pc:chgData name="Nancy Muthui" userId="32d7de6691735fcc" providerId="Windows Live" clId="Web-{6B001946-BE2C-4078-BC4A-5A0810F35D11}"/>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A419B57-F188-48CF-A417-3ED778B28D0A}" type="datetimeFigureOut">
              <a:rPr lang="en-US" smtClean="0"/>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27142B-52A4-47C2-BFDD-A64DDF14AA5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A419B57-F188-48CF-A417-3ED778B28D0A}" type="datetimeFigureOut">
              <a:rPr lang="en-US" smtClean="0"/>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27142B-52A4-47C2-BFDD-A64DDF14AA5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419B57-F188-48CF-A417-3ED778B28D0A}" type="datetimeFigureOut">
              <a:rPr lang="en-US" smtClean="0"/>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27142B-52A4-47C2-BFDD-A64DDF14AA5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A419B57-F188-48CF-A417-3ED778B28D0A}" type="datetimeFigureOut">
              <a:rPr lang="en-US" smtClean="0"/>
              <a:t>10/30/2024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27142B-52A4-47C2-BFDD-A64DDF14AA5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A419B57-F188-48CF-A417-3ED778B28D0A}" type="datetimeFigureOut">
              <a:rPr lang="en-US" smtClean="0"/>
              <a:t>10/30/2024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27142B-52A4-47C2-BFDD-A64DDF14AA5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A419B57-F188-48CF-A417-3ED778B28D0A}" type="datetimeFigureOut">
              <a:rPr lang="en-US" smtClean="0"/>
              <a:t>10/30/2024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27142B-52A4-47C2-BFDD-A64DDF14AA5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419B57-F188-48CF-A417-3ED778B28D0A}" type="datetimeFigureOut">
              <a:rPr lang="en-US" smtClean="0"/>
              <a:t>10/30/2024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27142B-52A4-47C2-BFDD-A64DDF14AA5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419B57-F188-48CF-A417-3ED778B28D0A}" type="datetimeFigureOut">
              <a:rPr lang="en-US" smtClean="0"/>
              <a:t>10/30/2024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27142B-52A4-47C2-BFDD-A64DDF14AA5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419B57-F188-48CF-A417-3ED778B28D0A}" type="datetimeFigureOut">
              <a:rPr lang="en-US" smtClean="0"/>
              <a:t>10/30/2024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27142B-52A4-47C2-BFDD-A64DDF14AA5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A419B57-F188-48CF-A417-3ED778B28D0A}" type="datetimeFigureOut">
              <a:rPr lang="en-US" smtClean="0"/>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27142B-52A4-47C2-BFDD-A64DDF14AA5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A419B57-F188-48CF-A417-3ED778B28D0A}" type="datetimeFigureOut">
              <a:rPr lang="en-US" smtClean="0"/>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27142B-52A4-47C2-BFDD-A64DDF14AA5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419B57-F188-48CF-A417-3ED778B28D0A}" type="datetimeFigureOut">
              <a:rPr lang="en-US" smtClean="0"/>
              <a:t>10/30/2024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27142B-52A4-47C2-BFDD-A64DDF14AA5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geeksforgeeks.org/token-ring-frame-format/"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geeksforgeeks.org/local-area-network-lan-technologies/"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geeksforgeeks.org/network-devices-hub-repeater-bridge-switch-router-gateways/" TargetMode="External"/><Relationship Id="rId2" Type="http://schemas.openxmlformats.org/officeDocument/2006/relationships/hyperlink" Target="https://www.geeksforgeeks.org/types-of-network-topology/"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Computer networks</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 computer network is a group of two or more computer systems linked together.</a:t>
            </a:r>
          </a:p>
          <a:p>
            <a:pPr algn="just"/>
            <a:r>
              <a:rPr lang="en-US" dirty="0">
                <a:latin typeface="Times New Roman" panose="02020603050405020304" pitchFamily="18" charset="0"/>
                <a:cs typeface="Times New Roman" panose="02020603050405020304" pitchFamily="18" charset="0"/>
              </a:rPr>
              <a:t>The connections between computers in a network are usually made using physical wires or cables</a:t>
            </a:r>
          </a:p>
          <a:p>
            <a:pPr algn="just"/>
            <a:r>
              <a:rPr lang="en-US" dirty="0">
                <a:latin typeface="Times New Roman" panose="02020603050405020304" pitchFamily="18" charset="0"/>
                <a:cs typeface="Times New Roman" panose="02020603050405020304" pitchFamily="18" charset="0"/>
              </a:rPr>
              <a:t>Generally, networks are distinguished based on their geographical span. </a:t>
            </a:r>
          </a:p>
          <a:p>
            <a:pPr algn="just"/>
            <a:r>
              <a:rPr lang="en-US" dirty="0" err="1">
                <a:latin typeface="Times New Roman" panose="02020603050405020304" pitchFamily="18" charset="0"/>
                <a:cs typeface="Times New Roman" panose="02020603050405020304" pitchFamily="18" charset="0"/>
              </a:rPr>
              <a:t>E.g</a:t>
            </a:r>
            <a:r>
              <a:rPr lang="en-US" dirty="0">
                <a:latin typeface="Times New Roman" panose="02020603050405020304" pitchFamily="18" charset="0"/>
                <a:cs typeface="Times New Roman" panose="02020603050405020304" pitchFamily="18" charset="0"/>
              </a:rPr>
              <a:t> A network can be as small as distance between your mobile phone and its Bluetooth headphone and as large as the internet itself, covering the whole geographical world.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ADVANTAGES OF NETWORKS</a:t>
            </a:r>
          </a:p>
        </p:txBody>
      </p:sp>
      <p:sp>
        <p:nvSpPr>
          <p:cNvPr id="3" name="Content Placeholder 2"/>
          <p:cNvSpPr>
            <a:spLocks noGrp="1"/>
          </p:cNvSpPr>
          <p:nvPr>
            <p:ph idx="1"/>
          </p:nvPr>
        </p:nvSpPr>
        <p:spPr/>
        <p:txBody>
          <a:bodyPr>
            <a:noAutofit/>
          </a:bodyPr>
          <a:lstStyle/>
          <a:p>
            <a:pPr marL="571500" indent="-571500" algn="just">
              <a:buFont typeface="+mj-lt"/>
              <a:buAutoNum type="romanLcPeriod"/>
            </a:pPr>
            <a:r>
              <a:rPr lang="en-US" sz="2000" dirty="0">
                <a:latin typeface="Times New Roman" panose="02020603050405020304" pitchFamily="18" charset="0"/>
                <a:cs typeface="Times New Roman" panose="02020603050405020304" pitchFamily="18" charset="0"/>
              </a:rPr>
              <a:t>Speed: sharing and transferring files within networks are very rapid. Thus saving time, while maintaining the integrity of the file.</a:t>
            </a:r>
          </a:p>
          <a:p>
            <a:pPr marL="571500" indent="-571500" algn="just">
              <a:buFont typeface="+mj-lt"/>
              <a:buAutoNum type="romanLcPeriod"/>
            </a:pPr>
            <a:r>
              <a:rPr lang="en-US" sz="2000" dirty="0">
                <a:latin typeface="Times New Roman" panose="02020603050405020304" pitchFamily="18" charset="0"/>
                <a:cs typeface="Times New Roman" panose="02020603050405020304" pitchFamily="18" charset="0"/>
              </a:rPr>
              <a:t>Cost: Individually licensed copies of many popular software programs can be costly. Shared programs on a network allows for easier upgrading of the program on the single file server, instead of upgrading individual workstations.</a:t>
            </a:r>
          </a:p>
          <a:p>
            <a:pPr marL="571500" indent="-571500" algn="just">
              <a:buFont typeface="+mj-lt"/>
              <a:buAutoNum type="romanLcPeriod"/>
            </a:pPr>
            <a:r>
              <a:rPr lang="en-US" sz="2000" dirty="0">
                <a:latin typeface="Times New Roman" panose="02020603050405020304" pitchFamily="18" charset="0"/>
                <a:cs typeface="Times New Roman" panose="02020603050405020304" pitchFamily="18" charset="0"/>
              </a:rPr>
              <a:t>Security: sensitive files and programs on a network are password protected .</a:t>
            </a:r>
          </a:p>
          <a:p>
            <a:pPr marL="571500" indent="-571500" algn="just">
              <a:buFont typeface="+mj-lt"/>
              <a:buAutoNum type="romanLcPeriod"/>
            </a:pPr>
            <a:r>
              <a:rPr lang="en-US" sz="2000" dirty="0">
                <a:latin typeface="Times New Roman" panose="02020603050405020304" pitchFamily="18" charset="0"/>
                <a:cs typeface="Times New Roman" panose="02020603050405020304" pitchFamily="18" charset="0"/>
              </a:rPr>
              <a:t>Centralized software management: software can be loaded on one computer (the file server) eliminating the need to spend time and energy installing updates and tracking files on independent computers throughout the building.</a:t>
            </a:r>
          </a:p>
          <a:p>
            <a:pPr marL="571500" indent="-571500" algn="just">
              <a:buFont typeface="+mj-lt"/>
              <a:buAutoNum type="romanLcPeriod"/>
            </a:pPr>
            <a:r>
              <a:rPr lang="en-US" sz="2000" dirty="0">
                <a:latin typeface="Times New Roman" panose="02020603050405020304" pitchFamily="18" charset="0"/>
                <a:cs typeface="Times New Roman" panose="02020603050405020304" pitchFamily="18" charset="0"/>
              </a:rPr>
              <a:t>Resource sharing</a:t>
            </a:r>
          </a:p>
          <a:p>
            <a:pPr marL="571500" indent="-571500" algn="just">
              <a:buFont typeface="+mj-lt"/>
              <a:buAutoNum type="romanLcPeriod"/>
            </a:pPr>
            <a:r>
              <a:rPr lang="en-US" sz="2000" dirty="0">
                <a:latin typeface="Times New Roman" panose="02020603050405020304" pitchFamily="18" charset="0"/>
                <a:cs typeface="Times New Roman" panose="02020603050405020304" pitchFamily="18" charset="0"/>
              </a:rPr>
              <a:t>Flexible access: access their files from computers throughout the firm.</a:t>
            </a:r>
          </a:p>
          <a:p>
            <a:pPr marL="571500" indent="-571500" algn="just">
              <a:buFont typeface="+mj-lt"/>
              <a:buAutoNum type="romanLcPeriod"/>
            </a:pPr>
            <a:r>
              <a:rPr lang="en-US" sz="2000" dirty="0">
                <a:latin typeface="Times New Roman" panose="02020603050405020304" pitchFamily="18" charset="0"/>
                <a:cs typeface="Times New Roman" panose="02020603050405020304" pitchFamily="18" charset="0"/>
              </a:rPr>
              <a:t>Workgroup computing: workgroup software allows many users to work on a document or project concurrently.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Importance of Computer Networks</a:t>
            </a:r>
          </a:p>
        </p:txBody>
      </p:sp>
      <p:sp>
        <p:nvSpPr>
          <p:cNvPr id="3" name="Content Placeholder 2"/>
          <p:cNvSpPr>
            <a:spLocks noGrp="1"/>
          </p:cNvSpPr>
          <p:nvPr>
            <p:ph idx="1"/>
          </p:nvPr>
        </p:nvSpPr>
        <p:spPr/>
        <p:txBody>
          <a:bodyPr>
            <a:normAutofit lnSpcReduction="10000"/>
          </a:bodyPr>
          <a:lstStyle/>
          <a:p>
            <a:pPr algn="just"/>
            <a:r>
              <a:rPr lang="en-US" b="1" dirty="0">
                <a:latin typeface="Times New Roman" panose="02020603050405020304" pitchFamily="18" charset="0"/>
                <a:cs typeface="Times New Roman" panose="02020603050405020304" pitchFamily="18" charset="0"/>
              </a:rPr>
              <a:t>Facilitating communications:</a:t>
            </a:r>
            <a:r>
              <a:rPr lang="en-US" dirty="0">
                <a:latin typeface="Times New Roman" panose="02020603050405020304" pitchFamily="18" charset="0"/>
                <a:cs typeface="Times New Roman" panose="02020603050405020304" pitchFamily="18" charset="0"/>
              </a:rPr>
              <a:t> Using a network, people can communicate efficiently and easily via email, instant massaging, chat rooms, telephone, etc.</a:t>
            </a:r>
          </a:p>
          <a:p>
            <a:pPr algn="just"/>
            <a:r>
              <a:rPr lang="en-US" b="1" dirty="0">
                <a:latin typeface="Times New Roman" panose="02020603050405020304" pitchFamily="18" charset="0"/>
                <a:cs typeface="Times New Roman" panose="02020603050405020304" pitchFamily="18" charset="0"/>
              </a:rPr>
              <a:t>Sharing hardware: </a:t>
            </a:r>
            <a:r>
              <a:rPr lang="en-US" dirty="0">
                <a:latin typeface="Times New Roman" panose="02020603050405020304" pitchFamily="18" charset="0"/>
                <a:cs typeface="Times New Roman" panose="02020603050405020304" pitchFamily="18" charset="0"/>
              </a:rPr>
              <a:t>In a networked environment, each computer on a network may access and use hardware resources on the network, such as  printing a document on a shared network printer. </a:t>
            </a:r>
          </a:p>
          <a:p>
            <a:pPr algn="just"/>
            <a:r>
              <a:rPr lang="en-US" b="1" dirty="0">
                <a:latin typeface="Times New Roman" panose="02020603050405020304" pitchFamily="18" charset="0"/>
                <a:cs typeface="Times New Roman" panose="02020603050405020304" pitchFamily="18" charset="0"/>
              </a:rPr>
              <a:t>Sharing files, data and information: </a:t>
            </a:r>
            <a:r>
              <a:rPr lang="en-US" dirty="0">
                <a:latin typeface="Times New Roman" panose="02020603050405020304" pitchFamily="18" charset="0"/>
                <a:cs typeface="Times New Roman" panose="02020603050405020304" pitchFamily="18" charset="0"/>
              </a:rPr>
              <a:t>In a networked environment, authorized users may access data and information stored on other computers on the network.</a:t>
            </a:r>
          </a:p>
          <a:p>
            <a:pPr algn="just"/>
            <a:r>
              <a:rPr lang="en-US" b="1" dirty="0">
                <a:latin typeface="Times New Roman" panose="02020603050405020304" pitchFamily="18" charset="0"/>
                <a:cs typeface="Times New Roman" panose="02020603050405020304" pitchFamily="18" charset="0"/>
              </a:rPr>
              <a:t>Sharing software: </a:t>
            </a:r>
            <a:r>
              <a:rPr lang="en-US" dirty="0">
                <a:latin typeface="Times New Roman" panose="02020603050405020304" pitchFamily="18" charset="0"/>
                <a:cs typeface="Times New Roman" panose="02020603050405020304" pitchFamily="18" charset="0"/>
              </a:rPr>
              <a:t>Users connected to a network may run application programs on remote computers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75846"/>
          </a:xfrm>
        </p:spPr>
        <p:txBody>
          <a:bodyPr/>
          <a:lstStyle/>
          <a:p>
            <a:pPr algn="ctr"/>
            <a:r>
              <a:rPr lang="en-US" b="1" dirty="0">
                <a:latin typeface="Times New Roman" panose="02020603050405020304" pitchFamily="18" charset="0"/>
                <a:cs typeface="Times New Roman" panose="02020603050405020304" pitchFamily="18" charset="0"/>
              </a:rPr>
              <a:t>NETWORK CRITERIA</a:t>
            </a:r>
            <a:endParaRPr lang="en-GB"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36914"/>
            <a:ext cx="10515600" cy="4740049"/>
          </a:xfrm>
        </p:spPr>
        <p:txBody>
          <a:bodyPr>
            <a:normAutofit/>
          </a:bodyPr>
          <a:lstStyle/>
          <a:p>
            <a:r>
              <a:rPr lang="en-US" dirty="0"/>
              <a:t>A good network must meet the following 3 criteria's:</a:t>
            </a:r>
          </a:p>
          <a:p>
            <a:pPr marL="571500" indent="-571500">
              <a:buFont typeface="+mj-lt"/>
              <a:buAutoNum type="romanLcPeriod"/>
            </a:pPr>
            <a:r>
              <a:rPr lang="en-US" b="1" dirty="0"/>
              <a:t>Performance</a:t>
            </a:r>
          </a:p>
          <a:p>
            <a:pPr>
              <a:buFont typeface="Wingdings" panose="05000000000000000000" pitchFamily="2" charset="2"/>
              <a:buChar char="ü"/>
            </a:pPr>
            <a:r>
              <a:rPr lang="en-US" dirty="0"/>
              <a:t>Performance can be measured using:</a:t>
            </a:r>
          </a:p>
          <a:p>
            <a:pPr marL="971550" lvl="1" indent="-514350">
              <a:buFont typeface="+mj-lt"/>
              <a:buAutoNum type="alphaLcParenR"/>
            </a:pPr>
            <a:r>
              <a:rPr lang="en-US" dirty="0"/>
              <a:t>Transit time- time taken to travel a message from one device to another</a:t>
            </a:r>
          </a:p>
          <a:p>
            <a:pPr marL="971550" lvl="1" indent="-514350">
              <a:buFont typeface="+mj-lt"/>
              <a:buAutoNum type="alphaLcParenR"/>
            </a:pPr>
            <a:r>
              <a:rPr lang="en-US" dirty="0"/>
              <a:t>Response time – time elapsed between enquiry and response</a:t>
            </a:r>
          </a:p>
          <a:p>
            <a:pPr marL="0" lvl="1" indent="-514350">
              <a:buFont typeface="Wingdings" panose="05000000000000000000" pitchFamily="2" charset="2"/>
              <a:buChar char="ü"/>
            </a:pPr>
            <a:r>
              <a:rPr lang="en-US" dirty="0"/>
              <a:t>The network performance depends on the following factors:</a:t>
            </a:r>
          </a:p>
          <a:p>
            <a:pPr marL="1371600" lvl="4" indent="-514350">
              <a:lnSpc>
                <a:spcPct val="100000"/>
              </a:lnSpc>
              <a:buFont typeface="+mj-lt"/>
              <a:buAutoNum type="romanLcPeriod"/>
            </a:pPr>
            <a:r>
              <a:rPr lang="en-US" sz="2400" dirty="0"/>
              <a:t>Number of users</a:t>
            </a:r>
          </a:p>
          <a:p>
            <a:pPr marL="1371600" lvl="4" indent="-514350">
              <a:buFont typeface="+mj-lt"/>
              <a:buAutoNum type="romanLcPeriod"/>
            </a:pPr>
            <a:r>
              <a:rPr lang="en-US" sz="2400" dirty="0"/>
              <a:t>Type of transmission medium</a:t>
            </a:r>
          </a:p>
          <a:p>
            <a:pPr marL="1371600" lvl="4" indent="-514350">
              <a:buFont typeface="+mj-lt"/>
              <a:buAutoNum type="romanLcPeriod"/>
            </a:pPr>
            <a:r>
              <a:rPr lang="en-US" sz="2400" dirty="0"/>
              <a:t>Efficiency of software</a:t>
            </a:r>
          </a:p>
          <a:p>
            <a:pPr marL="285750" lvl="4" indent="-285750">
              <a:buFont typeface="Wingdings" panose="05000000000000000000" pitchFamily="2" charset="2"/>
              <a:buChar char="ü"/>
            </a:pPr>
            <a:r>
              <a:rPr lang="en-US" sz="2400" dirty="0"/>
              <a:t>Good performance can be obtained by achieving higher throughput and smaller delay times.</a:t>
            </a:r>
          </a:p>
          <a:p>
            <a:pPr marL="514350" indent="-514350">
              <a:buFont typeface="+mj-lt"/>
              <a:buAutoNum type="alphaLcParenR"/>
            </a:pPr>
            <a:endParaRPr lang="en-US" dirty="0"/>
          </a:p>
          <a:p>
            <a:pPr marL="0" indent="0">
              <a:buNone/>
            </a:pPr>
            <a:endParaRPr lang="en-GB" b="1" dirty="0"/>
          </a:p>
        </p:txBody>
      </p:sp>
    </p:spTree>
    <p:extLst>
      <p:ext uri="{BB962C8B-B14F-4D97-AF65-F5344CB8AC3E}">
        <p14:creationId xmlns:p14="http://schemas.microsoft.com/office/powerpoint/2010/main" val="3300459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87383"/>
            <a:ext cx="10515600" cy="5889580"/>
          </a:xfrm>
        </p:spPr>
        <p:txBody>
          <a:bodyPr/>
          <a:lstStyle/>
          <a:p>
            <a:pPr marL="571500" indent="-571500">
              <a:buFont typeface="+mj-lt"/>
              <a:buAutoNum type="romanLcPeriod" startAt="2"/>
            </a:pPr>
            <a:r>
              <a:rPr lang="en-US" b="1" dirty="0"/>
              <a:t>Reliability</a:t>
            </a:r>
          </a:p>
          <a:p>
            <a:pPr>
              <a:buFont typeface="Wingdings" panose="05000000000000000000" pitchFamily="2" charset="2"/>
              <a:buChar char="ü"/>
            </a:pPr>
            <a:r>
              <a:rPr lang="en-US" dirty="0"/>
              <a:t>Reliability is measured by:</a:t>
            </a:r>
          </a:p>
          <a:p>
            <a:pPr lvl="1">
              <a:buFont typeface="Wingdings" panose="05000000000000000000" pitchFamily="2" charset="2"/>
              <a:buChar char="ü"/>
            </a:pPr>
            <a:r>
              <a:rPr lang="en-US" dirty="0"/>
              <a:t>Frequency of network failure</a:t>
            </a:r>
          </a:p>
          <a:p>
            <a:pPr lvl="1">
              <a:buFont typeface="Wingdings" panose="05000000000000000000" pitchFamily="2" charset="2"/>
              <a:buChar char="ü"/>
            </a:pPr>
            <a:r>
              <a:rPr lang="en-US" dirty="0"/>
              <a:t>Time taken to recover from a network failure</a:t>
            </a:r>
          </a:p>
          <a:p>
            <a:pPr lvl="1">
              <a:buFont typeface="Wingdings" panose="05000000000000000000" pitchFamily="2" charset="2"/>
              <a:buChar char="ü"/>
            </a:pPr>
            <a:r>
              <a:rPr lang="en-US" dirty="0"/>
              <a:t>Network’s robustness in a disaster.</a:t>
            </a:r>
          </a:p>
          <a:p>
            <a:pPr marL="0" lvl="1" indent="0">
              <a:buNone/>
            </a:pPr>
            <a:r>
              <a:rPr lang="en-US" dirty="0"/>
              <a:t>More the failures are, less is the network’s reliability.</a:t>
            </a:r>
          </a:p>
          <a:p>
            <a:pPr marL="0" lvl="1" indent="0">
              <a:buNone/>
            </a:pPr>
            <a:endParaRPr lang="en-US" dirty="0"/>
          </a:p>
          <a:p>
            <a:pPr marL="571500" indent="-571500">
              <a:buFont typeface="+mj-lt"/>
              <a:buAutoNum type="romanLcPeriod" startAt="3"/>
            </a:pPr>
            <a:r>
              <a:rPr lang="en-US" b="1" dirty="0"/>
              <a:t>Security</a:t>
            </a:r>
          </a:p>
          <a:p>
            <a:pPr>
              <a:buFont typeface="Wingdings" panose="05000000000000000000" pitchFamily="2" charset="2"/>
              <a:buChar char="ü"/>
            </a:pPr>
            <a:r>
              <a:rPr lang="en-US" dirty="0"/>
              <a:t>Security refers to the protection of data from the unauthorized access or damage.</a:t>
            </a:r>
          </a:p>
          <a:p>
            <a:pPr>
              <a:buFont typeface="Wingdings" panose="05000000000000000000" pitchFamily="2" charset="2"/>
              <a:buChar char="ü"/>
            </a:pPr>
            <a:r>
              <a:rPr lang="en-US" dirty="0"/>
              <a:t>It also involves implementing policies for recovery from data-losses.</a:t>
            </a:r>
          </a:p>
          <a:p>
            <a:endParaRPr lang="en-GB" dirty="0"/>
          </a:p>
        </p:txBody>
      </p:sp>
    </p:spTree>
    <p:extLst>
      <p:ext uri="{BB962C8B-B14F-4D97-AF65-F5344CB8AC3E}">
        <p14:creationId xmlns:p14="http://schemas.microsoft.com/office/powerpoint/2010/main" val="602201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55171" y="97971"/>
            <a:ext cx="10983686" cy="4524315"/>
          </a:xfrm>
          <a:prstGeom prst="rect">
            <a:avLst/>
          </a:prstGeom>
          <a:noFill/>
        </p:spPr>
        <p:txBody>
          <a:bodyPr wrap="square" lIns="91440" tIns="45720" rIns="91440" bIns="45720" anchor="t">
            <a:spAutoFit/>
          </a:bodyPr>
          <a:lstStyle/>
          <a:p>
            <a:r>
              <a:rPr lang="en-US" sz="3600" b="1" dirty="0"/>
              <a:t>STEPS REQUIRED TO DESIGN A GOOD NETWORK ARE: </a:t>
            </a:r>
          </a:p>
          <a:p>
            <a:r>
              <a:rPr lang="en-US" sz="3600" dirty="0"/>
              <a:t>Step 1. Verify the business goals and technical requirements.</a:t>
            </a:r>
          </a:p>
          <a:p>
            <a:r>
              <a:rPr lang="en-US" sz="3600" dirty="0"/>
              <a:t> Step 2. Determine the features and functions required to meet the needs identified in Step 1. </a:t>
            </a:r>
          </a:p>
          <a:p>
            <a:r>
              <a:rPr lang="en-US" sz="3600" dirty="0"/>
              <a:t>Step 3. Perform a network-readiness assessment. </a:t>
            </a:r>
          </a:p>
          <a:p>
            <a:r>
              <a:rPr lang="en-US" sz="3600" dirty="0"/>
              <a:t>Step 4. Create a solution and site acceptance test plan. </a:t>
            </a:r>
          </a:p>
          <a:p>
            <a:r>
              <a:rPr lang="en-US" sz="3600" dirty="0"/>
              <a:t>Step 5. Create a project plan.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26572" y="243512"/>
            <a:ext cx="11332028" cy="5016758"/>
          </a:xfrm>
          <a:prstGeom prst="rect">
            <a:avLst/>
          </a:prstGeom>
          <a:noFill/>
        </p:spPr>
        <p:txBody>
          <a:bodyPr wrap="square" lIns="91440" tIns="45720" rIns="91440" bIns="45720" anchor="t">
            <a:spAutoFit/>
          </a:bodyPr>
          <a:lstStyle/>
          <a:p>
            <a:pPr algn="ctr"/>
            <a:r>
              <a:rPr lang="en-US" sz="3200" b="1" dirty="0"/>
              <a:t>FUNDAMENTAL DESIGN GOALS</a:t>
            </a:r>
          </a:p>
          <a:p>
            <a:r>
              <a:rPr lang="en-US" sz="2400" dirty="0"/>
              <a:t>■</a:t>
            </a:r>
            <a:r>
              <a:rPr lang="en-US" sz="2400" b="1" dirty="0"/>
              <a:t> Scalability</a:t>
            </a:r>
            <a:r>
              <a:rPr lang="en-US" sz="2400" dirty="0"/>
              <a:t>: Scalable network designs can grow to include new user groups and remote sites and can support new applications without impacting the level of service delivered to existing users. </a:t>
            </a:r>
          </a:p>
          <a:p>
            <a:r>
              <a:rPr lang="en-US" sz="2400" dirty="0"/>
              <a:t>■ </a:t>
            </a:r>
            <a:r>
              <a:rPr lang="en-US" sz="2400" b="1" dirty="0"/>
              <a:t>Availability</a:t>
            </a:r>
            <a:r>
              <a:rPr lang="en-US" sz="2400" dirty="0"/>
              <a:t>: A network designed for availability is one that delivers consistent, reliable performance, 24 hours a day, 7 days a week. In addition, the failure of a single link or piece of equipment should not significantly impact network performance. </a:t>
            </a:r>
          </a:p>
          <a:p>
            <a:r>
              <a:rPr lang="en-US" sz="2400" dirty="0"/>
              <a:t>■</a:t>
            </a:r>
            <a:r>
              <a:rPr lang="en-US" sz="2400" b="1" dirty="0"/>
              <a:t> Security</a:t>
            </a:r>
            <a:r>
              <a:rPr lang="en-US" sz="2400" dirty="0"/>
              <a:t>: Security is a feature that must be designed into the network, not added on after the network is complete. Planning the location of security devices, filters, and firewall features is critical to safeguarding network resources.</a:t>
            </a:r>
          </a:p>
          <a:p>
            <a:r>
              <a:rPr lang="en-US" sz="2400" b="1" dirty="0"/>
              <a:t>■ Manageability</a:t>
            </a:r>
            <a:r>
              <a:rPr lang="en-US" sz="2400" dirty="0"/>
              <a:t>: No matter how good the initial network design is, the available network staff must be able to manage and support the network. A network that is too complex or difficult to maintain cannot function effectively and efficiently.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93914" y="307540"/>
            <a:ext cx="11353800" cy="6370975"/>
          </a:xfrm>
          <a:prstGeom prst="rect">
            <a:avLst/>
          </a:prstGeom>
          <a:noFill/>
        </p:spPr>
        <p:txBody>
          <a:bodyPr wrap="square">
            <a:spAutoFit/>
          </a:bodyPr>
          <a:lstStyle/>
          <a:p>
            <a:pPr algn="ctr"/>
            <a:r>
              <a:rPr lang="en-US" sz="2400" b="1" dirty="0"/>
              <a:t>FACTORS IMPACTING THE ENTIRE NETWORK</a:t>
            </a:r>
          </a:p>
          <a:p>
            <a:r>
              <a:rPr lang="en-US" sz="2400" b="1" dirty="0"/>
              <a:t> </a:t>
            </a:r>
            <a:r>
              <a:rPr lang="en-US" sz="2400" dirty="0"/>
              <a:t>Network requirements that impact the entire network include the following: </a:t>
            </a:r>
          </a:p>
          <a:p>
            <a:r>
              <a:rPr lang="en-US" sz="2400" dirty="0"/>
              <a:t>■ Adding new network applications and making major changes to existing applications, such as database or Domain Name System (DNS) structure changes</a:t>
            </a:r>
          </a:p>
          <a:p>
            <a:r>
              <a:rPr lang="en-US" sz="2400" dirty="0"/>
              <a:t> ■ Improving the efficiency of network addressing or routing protocol changes</a:t>
            </a:r>
          </a:p>
          <a:p>
            <a:r>
              <a:rPr lang="en-US" sz="2400" dirty="0"/>
              <a:t> ■ Integrating new security measures </a:t>
            </a:r>
          </a:p>
          <a:p>
            <a:r>
              <a:rPr lang="en-US" sz="2400" dirty="0"/>
              <a:t>■ Adding new network services, such as voice traffic, content networking, and storage networking </a:t>
            </a:r>
          </a:p>
          <a:p>
            <a:r>
              <a:rPr lang="en-US" sz="2400" dirty="0"/>
              <a:t>■ Relocating servers to a data center server farm</a:t>
            </a:r>
          </a:p>
          <a:p>
            <a:endParaRPr lang="en-US" sz="2400" dirty="0"/>
          </a:p>
          <a:p>
            <a:pPr algn="ctr"/>
            <a:r>
              <a:rPr lang="en-US" sz="2400" b="1" dirty="0"/>
              <a:t>FACTORS IMPACTING A PORTION OF THE NETWORK</a:t>
            </a:r>
          </a:p>
          <a:p>
            <a:r>
              <a:rPr lang="en-US" sz="2400" dirty="0"/>
              <a:t> Requirements that may only affect a portion of the network include the following: </a:t>
            </a:r>
          </a:p>
          <a:p>
            <a:r>
              <a:rPr lang="en-US" sz="2400" dirty="0"/>
              <a:t>■ Improving Internet connectivity and adding bandwidth </a:t>
            </a:r>
          </a:p>
          <a:p>
            <a:r>
              <a:rPr lang="en-US" sz="2400" dirty="0"/>
              <a:t>■ Updating access layer LAN cabling </a:t>
            </a:r>
          </a:p>
          <a:p>
            <a:r>
              <a:rPr lang="en-US" sz="2400" dirty="0"/>
              <a:t>■ Providing redundancy for key services </a:t>
            </a:r>
          </a:p>
          <a:p>
            <a:r>
              <a:rPr lang="en-US" sz="2400"/>
              <a:t>■ </a:t>
            </a:r>
            <a:r>
              <a:rPr lang="en-US" sz="2400" dirty="0"/>
              <a:t>Supporting wireless access in defined </a:t>
            </a:r>
            <a:r>
              <a:rPr lang="en-US" sz="2400"/>
              <a:t>areas </a:t>
            </a:r>
          </a:p>
          <a:p>
            <a:r>
              <a:rPr lang="en-US" sz="2400"/>
              <a:t>■ </a:t>
            </a:r>
            <a:r>
              <a:rPr lang="en-US" sz="2400" dirty="0"/>
              <a:t>Upgrading WAN bandwidth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Types of computer networks Based on Geographical Span</a:t>
            </a:r>
          </a:p>
        </p:txBody>
      </p:sp>
      <p:sp>
        <p:nvSpPr>
          <p:cNvPr id="3" name="Content Placeholder 2"/>
          <p:cNvSpPr>
            <a:spLocks noGrp="1"/>
          </p:cNvSpPr>
          <p:nvPr>
            <p:ph idx="1"/>
          </p:nvPr>
        </p:nvSpPr>
        <p:spPr/>
        <p:txBody>
          <a:bodyPr>
            <a:normAutofit/>
          </a:bodyPr>
          <a:lstStyle/>
          <a:p>
            <a:pPr algn="just">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Personal Area Network (PAN)</a:t>
            </a:r>
          </a:p>
          <a:p>
            <a:pPr algn="just"/>
            <a:r>
              <a:rPr lang="en-US" dirty="0">
                <a:latin typeface="Times New Roman" panose="02020603050405020304" pitchFamily="18" charset="0"/>
                <a:cs typeface="Times New Roman" panose="02020603050405020304" pitchFamily="18" charset="0"/>
              </a:rPr>
              <a:t>Is smallest network which is very personal to a user. This may include Bluetooth enabled devices or infra-red enabled devices. PAN has connectivity range up to 10 meters. </a:t>
            </a:r>
          </a:p>
          <a:p>
            <a:pPr algn="just"/>
            <a:r>
              <a:rPr lang="en-US" dirty="0">
                <a:latin typeface="Times New Roman" panose="02020603050405020304" pitchFamily="18" charset="0"/>
                <a:cs typeface="Times New Roman" panose="02020603050405020304" pitchFamily="18" charset="0"/>
              </a:rPr>
              <a:t>PAN may include wireless computer keyboard and mouse, Bluetooth enabled headphones, wireless printers, and TV remotes. </a:t>
            </a:r>
          </a:p>
          <a:p>
            <a:pPr marL="0" indent="0">
              <a:buNone/>
            </a:pPr>
            <a:endParaRPr lang="en-US" dirty="0"/>
          </a:p>
          <a:p>
            <a:pPr marL="0" indent="0">
              <a:buNone/>
            </a:pPr>
            <a:endParaRPr lang="en-US" dirty="0"/>
          </a:p>
          <a:p>
            <a:pPr marL="0" indent="0">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3030"/>
            <a:ext cx="10515600" cy="6678769"/>
          </a:xfrm>
        </p:spPr>
        <p:txBody>
          <a:bodyPr/>
          <a:lstStyle/>
          <a:p>
            <a:pPr>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Local Area Network (LAN)</a:t>
            </a:r>
          </a:p>
          <a:p>
            <a:r>
              <a:rPr lang="en-US" dirty="0">
                <a:latin typeface="Times New Roman" panose="02020603050405020304" pitchFamily="18" charset="0"/>
                <a:cs typeface="Times New Roman" panose="02020603050405020304" pitchFamily="18" charset="0"/>
              </a:rPr>
              <a:t>A computer network spanned inside a building and operated under single administrative system. </a:t>
            </a:r>
          </a:p>
          <a:p>
            <a:r>
              <a:rPr lang="en-US" dirty="0">
                <a:latin typeface="Times New Roman" panose="02020603050405020304" pitchFamily="18" charset="0"/>
                <a:cs typeface="Times New Roman" panose="02020603050405020304" pitchFamily="18" charset="0"/>
              </a:rPr>
              <a:t>Usually, LAN covers an organization offices.</a:t>
            </a:r>
          </a:p>
          <a:p>
            <a:r>
              <a:rPr lang="en-US" dirty="0">
                <a:latin typeface="Times New Roman" panose="02020603050405020304" pitchFamily="18" charset="0"/>
                <a:cs typeface="Times New Roman" panose="02020603050405020304" pitchFamily="18" charset="0"/>
              </a:rPr>
              <a:t>LAN provides a useful way of sharing the resources between end users. The resources such as printers, file servers, scanners, and internet are easily sharable among computers. </a:t>
            </a:r>
          </a:p>
          <a:p>
            <a:r>
              <a:rPr lang="en-US" dirty="0">
                <a:latin typeface="Times New Roman" panose="02020603050405020304" pitchFamily="18" charset="0"/>
                <a:cs typeface="Times New Roman" panose="02020603050405020304" pitchFamily="18" charset="0"/>
              </a:rPr>
              <a:t>LANs are capable of transmitting data at very fast rates, much faster than data can be transmitted over a telephone line; but the distances are limited, and there is also a limit on the number of computers that can be attached to a single LAN.</a:t>
            </a:r>
          </a:p>
          <a:p>
            <a:pPr marL="0" indent="0">
              <a:buNone/>
            </a:pPr>
            <a:endParaRPr lang="en-US" dirty="0">
              <a:latin typeface="Times New Roman" panose="02020603050405020304" pitchFamily="18" charset="0"/>
              <a:cs typeface="Times New Roman" panose="02020603050405020304" pitchFamily="18" charset="0"/>
            </a:endParaRPr>
          </a:p>
          <a:p>
            <a:endParaRPr lang="en-US" dirty="0"/>
          </a:p>
          <a:p>
            <a:endParaRPr lang="en-US" dirty="0"/>
          </a:p>
          <a:p>
            <a:endParaRPr lang="en-US" dirty="0"/>
          </a:p>
        </p:txBody>
      </p:sp>
      <p:pic>
        <p:nvPicPr>
          <p:cNvPr id="4" name="Picture 3"/>
          <p:cNvPicPr>
            <a:picLocks noChangeAspect="1"/>
          </p:cNvPicPr>
          <p:nvPr/>
        </p:nvPicPr>
        <p:blipFill>
          <a:blip r:embed="rId2"/>
          <a:stretch>
            <a:fillRect/>
          </a:stretch>
        </p:blipFill>
        <p:spPr>
          <a:xfrm>
            <a:off x="2952566" y="5018313"/>
            <a:ext cx="5076897" cy="15621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TYPES OF LAN</a:t>
            </a:r>
          </a:p>
        </p:txBody>
      </p:sp>
      <p:sp>
        <p:nvSpPr>
          <p:cNvPr id="3" name="Content Placeholder 2"/>
          <p:cNvSpPr>
            <a:spLocks noGrp="1"/>
          </p:cNvSpPr>
          <p:nvPr>
            <p:ph idx="1"/>
          </p:nvPr>
        </p:nvSpPr>
        <p:spPr/>
        <p:txBody>
          <a:bodyPr/>
          <a:lstStyle/>
          <a:p>
            <a:r>
              <a:rPr lang="en-US" b="1" i="0" dirty="0">
                <a:solidFill>
                  <a:srgbClr val="273239"/>
                </a:solidFill>
                <a:effectLst/>
                <a:latin typeface="Nunito" pitchFamily="2" charset="0"/>
              </a:rPr>
              <a:t> </a:t>
            </a:r>
            <a:r>
              <a:rPr lang="en-US" b="1" i="0" u="sng" dirty="0">
                <a:effectLst/>
                <a:latin typeface="Nunito" pitchFamily="2" charset="0"/>
                <a:hlinkClick r:id="rId2"/>
              </a:rPr>
              <a:t>Token Ring</a:t>
            </a:r>
            <a:r>
              <a:rPr lang="en-US" b="1" i="0" dirty="0">
                <a:solidFill>
                  <a:srgbClr val="273239"/>
                </a:solidFill>
                <a:effectLst/>
                <a:latin typeface="Nunito" pitchFamily="2" charset="0"/>
              </a:rPr>
              <a:t> :</a:t>
            </a:r>
            <a:r>
              <a:rPr lang="en-US" b="0" i="0" dirty="0">
                <a:solidFill>
                  <a:srgbClr val="273239"/>
                </a:solidFill>
                <a:effectLst/>
                <a:latin typeface="Nunito" pitchFamily="2" charset="0"/>
              </a:rPr>
              <a:t> </a:t>
            </a:r>
            <a:br>
              <a:rPr lang="en-US" dirty="0"/>
            </a:br>
            <a:r>
              <a:rPr lang="en-US" b="0" i="0" dirty="0">
                <a:solidFill>
                  <a:srgbClr val="273239"/>
                </a:solidFill>
                <a:effectLst/>
                <a:latin typeface="Nunito" pitchFamily="2" charset="0"/>
              </a:rPr>
              <a:t>In the token ring a token ring passes over a physical ring. Token ring is defined by IEEE 802.5 standard. In token ring, there is a station and a special frame called token. A station in token ring can transmit data frame if it contains a token. After the successful transmission of data frame token are pointed(issued). Token ring is a Star shaped topology and handles priority in which some nodes may give priority to the token.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0228" y="573767"/>
            <a:ext cx="10515600" cy="4351338"/>
          </a:xfrm>
        </p:spPr>
        <p:txBody>
          <a:bodyPr/>
          <a:lstStyle/>
          <a:p>
            <a:pPr marL="0" indent="0" algn="l" fontAlgn="base">
              <a:buNone/>
            </a:pPr>
            <a:r>
              <a:rPr lang="en-US" b="1" i="0" dirty="0">
                <a:solidFill>
                  <a:srgbClr val="273239"/>
                </a:solidFill>
                <a:effectLst/>
                <a:latin typeface="Nunito" pitchFamily="2" charset="0"/>
              </a:rPr>
              <a:t>2. </a:t>
            </a:r>
            <a:r>
              <a:rPr lang="en-US" b="1" i="0" u="sng" dirty="0">
                <a:solidFill>
                  <a:srgbClr val="273239"/>
                </a:solidFill>
                <a:effectLst/>
                <a:latin typeface="Nunito" pitchFamily="2" charset="0"/>
                <a:hlinkClick r:id="rId2"/>
              </a:rPr>
              <a:t>Ethernet</a:t>
            </a:r>
            <a:r>
              <a:rPr lang="en-US" b="1" i="0" dirty="0">
                <a:solidFill>
                  <a:srgbClr val="273239"/>
                </a:solidFill>
                <a:effectLst/>
                <a:latin typeface="Nunito" pitchFamily="2" charset="0"/>
              </a:rPr>
              <a:t> :</a:t>
            </a:r>
            <a:r>
              <a:rPr lang="en-US" b="0" i="0" dirty="0">
                <a:solidFill>
                  <a:srgbClr val="273239"/>
                </a:solidFill>
                <a:effectLst/>
                <a:latin typeface="Nunito" pitchFamily="2" charset="0"/>
              </a:rPr>
              <a:t> </a:t>
            </a:r>
            <a:br>
              <a:rPr lang="en-US" b="0" i="0" dirty="0">
                <a:solidFill>
                  <a:srgbClr val="273239"/>
                </a:solidFill>
                <a:effectLst/>
                <a:latin typeface="Nunito" pitchFamily="2" charset="0"/>
              </a:rPr>
            </a:br>
            <a:r>
              <a:rPr lang="en-US" b="0" i="0" dirty="0">
                <a:solidFill>
                  <a:srgbClr val="273239"/>
                </a:solidFill>
                <a:effectLst/>
                <a:latin typeface="Nunito" pitchFamily="2" charset="0"/>
              </a:rPr>
              <a:t>IEEE 802.3 defines the Ethernet. It uses CSMA/CD mechanism. It means that if many stations exist at the same time to talk, all stations will be closed. To resume them, wait for a random time. Unlike token ring it doesn’t employ any priorities. And it is less costly than token ring network. </a:t>
            </a:r>
          </a:p>
          <a:p>
            <a:pPr marL="0" indent="0" algn="l" fontAlgn="base">
              <a:buNone/>
            </a:pPr>
            <a:endParaRPr lang="en-US" b="0" i="0" dirty="0">
              <a:solidFill>
                <a:srgbClr val="273239"/>
              </a:solidFill>
              <a:effectLst/>
              <a:latin typeface="Nunito" pitchFamily="2" charset="0"/>
            </a:endParaRPr>
          </a:p>
          <a:p>
            <a:pPr marL="0" indent="0">
              <a:buNone/>
            </a:pPr>
            <a:br>
              <a:rPr lang="en-US" dirty="0"/>
            </a:b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9229" y="1028343"/>
            <a:ext cx="11342914" cy="4801314"/>
          </a:xfrm>
          <a:prstGeom prst="rect">
            <a:avLst/>
          </a:prstGeom>
          <a:noFill/>
        </p:spPr>
        <p:txBody>
          <a:bodyPr wrap="square">
            <a:spAutoFit/>
          </a:bodyPr>
          <a:lstStyle/>
          <a:p>
            <a:pPr algn="l"/>
            <a:r>
              <a:rPr lang="en-US" b="1" i="0" dirty="0">
                <a:solidFill>
                  <a:srgbClr val="0693A0"/>
                </a:solidFill>
                <a:effectLst/>
                <a:latin typeface="Nunito Sans" pitchFamily="2" charset="0"/>
              </a:rPr>
              <a:t>3. Token Bus</a:t>
            </a:r>
          </a:p>
          <a:p>
            <a:pPr algn="l">
              <a:buFont typeface="Arial" panose="020B0604020202020204" pitchFamily="34" charset="0"/>
              <a:buChar char="•"/>
            </a:pPr>
            <a:r>
              <a:rPr lang="en-US" sz="2400" b="0" i="0" dirty="0">
                <a:solidFill>
                  <a:srgbClr val="4D5968"/>
                </a:solidFill>
                <a:effectLst/>
                <a:latin typeface="Nunito Sans" pitchFamily="2" charset="0"/>
              </a:rPr>
              <a:t>This is also a type of Local Area Network developed by IBM.</a:t>
            </a:r>
          </a:p>
          <a:p>
            <a:pPr algn="l">
              <a:buFont typeface="Arial" panose="020B0604020202020204" pitchFamily="34" charset="0"/>
              <a:buChar char="•"/>
            </a:pPr>
            <a:r>
              <a:rPr lang="en-US" sz="2400" b="0" i="0" dirty="0">
                <a:solidFill>
                  <a:srgbClr val="4D5968"/>
                </a:solidFill>
                <a:effectLst/>
                <a:latin typeface="Nunito Sans" pitchFamily="2" charset="0"/>
              </a:rPr>
              <a:t>Token Bus standard uses copper cables which are coaxial for connecting multiple devices to the main large computers or workstations. The coaxial cable acts as the common communication bus.</a:t>
            </a:r>
          </a:p>
          <a:p>
            <a:pPr algn="l">
              <a:buFont typeface="Arial" panose="020B0604020202020204" pitchFamily="34" charset="0"/>
              <a:buChar char="•"/>
            </a:pPr>
            <a:r>
              <a:rPr lang="en-US" sz="2400" b="0" i="0" dirty="0">
                <a:solidFill>
                  <a:srgbClr val="4D5968"/>
                </a:solidFill>
                <a:effectLst/>
                <a:latin typeface="Nunito Sans" pitchFamily="2" charset="0"/>
              </a:rPr>
              <a:t>In this protocol, also a token is created by this protocol to manage access for communication.</a:t>
            </a:r>
          </a:p>
          <a:p>
            <a:pPr algn="l">
              <a:buFont typeface="Arial" panose="020B0604020202020204" pitchFamily="34" charset="0"/>
              <a:buChar char="•"/>
            </a:pPr>
            <a:r>
              <a:rPr lang="en-US" sz="2400" b="0" i="0" dirty="0">
                <a:solidFill>
                  <a:srgbClr val="4D5968"/>
                </a:solidFill>
                <a:effectLst/>
                <a:latin typeface="Nunito Sans" pitchFamily="2" charset="0"/>
              </a:rPr>
              <a:t>Any computer that holds the token can transfer the data. The token is released when the station completes its data transmission or when a higher priority device needs to transmit (such as the mainframe).</a:t>
            </a:r>
          </a:p>
          <a:p>
            <a:pPr algn="l">
              <a:buFont typeface="Arial" panose="020B0604020202020204" pitchFamily="34" charset="0"/>
              <a:buChar char="•"/>
            </a:pPr>
            <a:r>
              <a:rPr lang="en-US" sz="2400" b="0" i="0" dirty="0">
                <a:solidFill>
                  <a:srgbClr val="4D5968"/>
                </a:solidFill>
                <a:effectLst/>
                <a:latin typeface="Nunito Sans" pitchFamily="2" charset="0"/>
              </a:rPr>
              <a:t>Due to the token freeing mechanism, there is no collision, i.e. two or more devices can easily transmit information on the bus at the same time, and the transmitted data is also saved from being destroying</a:t>
            </a:r>
            <a:r>
              <a:rPr lang="en-US" b="0" i="0" dirty="0">
                <a:solidFill>
                  <a:srgbClr val="4D5968"/>
                </a:solidFill>
                <a:effectLst/>
                <a:latin typeface="Nunito Sans" pitchFamily="2" charset="0"/>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93914" y="612845"/>
            <a:ext cx="11593286" cy="4524315"/>
          </a:xfrm>
          <a:prstGeom prst="rect">
            <a:avLst/>
          </a:prstGeom>
          <a:noFill/>
        </p:spPr>
        <p:txBody>
          <a:bodyPr wrap="square">
            <a:spAutoFit/>
          </a:bodyPr>
          <a:lstStyle/>
          <a:p>
            <a:pPr algn="l"/>
            <a:r>
              <a:rPr lang="en-US" sz="2400" b="1" dirty="0">
                <a:solidFill>
                  <a:srgbClr val="0693A0"/>
                </a:solidFill>
                <a:latin typeface="Nunito Sans" pitchFamily="2" charset="0"/>
              </a:rPr>
              <a:t>4. </a:t>
            </a:r>
            <a:r>
              <a:rPr lang="en-US" sz="2400" b="1" i="0" dirty="0">
                <a:solidFill>
                  <a:srgbClr val="0693A0"/>
                </a:solidFill>
                <a:effectLst/>
                <a:latin typeface="Nunito Sans" pitchFamily="2" charset="0"/>
              </a:rPr>
              <a:t>Fiber Distributed Data Interface (FDDI)</a:t>
            </a:r>
          </a:p>
          <a:p>
            <a:pPr algn="l">
              <a:buFont typeface="Arial" panose="020B0604020202020204" pitchFamily="34" charset="0"/>
              <a:buChar char="•"/>
            </a:pPr>
            <a:r>
              <a:rPr lang="en-US" sz="2400" b="0" i="0" dirty="0">
                <a:solidFill>
                  <a:srgbClr val="4D5968"/>
                </a:solidFill>
                <a:effectLst/>
                <a:latin typeface="Nunito Sans" pitchFamily="2" charset="0"/>
              </a:rPr>
              <a:t>It is a LAN standard used for data transmission via optical media.</a:t>
            </a:r>
          </a:p>
          <a:p>
            <a:pPr algn="l">
              <a:buFont typeface="Arial" panose="020B0604020202020204" pitchFamily="34" charset="0"/>
              <a:buChar char="•"/>
            </a:pPr>
            <a:r>
              <a:rPr lang="en-US" sz="2400" b="0" i="0" dirty="0">
                <a:solidFill>
                  <a:srgbClr val="4D5968"/>
                </a:solidFill>
                <a:effectLst/>
                <a:latin typeface="Nunito Sans" pitchFamily="2" charset="0"/>
              </a:rPr>
              <a:t>Used for long-distance networks. Uses optical fiber and copper cable.</a:t>
            </a:r>
          </a:p>
          <a:p>
            <a:pPr algn="l">
              <a:buFont typeface="Arial" panose="020B0604020202020204" pitchFamily="34" charset="0"/>
              <a:buChar char="•"/>
            </a:pPr>
            <a:r>
              <a:rPr lang="en-US" sz="2400" b="0" i="0" dirty="0">
                <a:solidFill>
                  <a:srgbClr val="4D5968"/>
                </a:solidFill>
                <a:effectLst/>
                <a:latin typeface="Nunito Sans" pitchFamily="2" charset="0"/>
              </a:rPr>
              <a:t>It provides communication with fiber optic cables up to 200 kilometers at a speed of 100 Mbps. FDDI has two token rings, primary and secondary communication rings. One ring is for backup in the case when the primary one fails.</a:t>
            </a:r>
          </a:p>
          <a:p>
            <a:pPr algn="l">
              <a:buFont typeface="Arial" panose="020B0604020202020204" pitchFamily="34" charset="0"/>
              <a:buChar char="•"/>
            </a:pPr>
            <a:r>
              <a:rPr lang="en-US" sz="2400" b="0" i="0" dirty="0">
                <a:solidFill>
                  <a:srgbClr val="4D5968"/>
                </a:solidFill>
                <a:effectLst/>
                <a:latin typeface="Nunito Sans" pitchFamily="2" charset="0"/>
              </a:rPr>
              <a:t>The primary ring works, and the second one remains free and is available for backup. It is extended to FDDI-2 for long-distance voice and multimedia communication. It is used for huge and fast data transfer, such as in voice and video conferences, online lectures, news, etc.</a:t>
            </a:r>
          </a:p>
          <a:p>
            <a:pPr algn="l">
              <a:buFont typeface="Arial" panose="020B0604020202020204" pitchFamily="34" charset="0"/>
              <a:buChar char="•"/>
            </a:pPr>
            <a:r>
              <a:rPr lang="en-US" sz="2400" b="0" i="0" dirty="0">
                <a:solidFill>
                  <a:srgbClr val="4D5968"/>
                </a:solidFill>
                <a:effectLst/>
                <a:latin typeface="Nunito Sans" pitchFamily="2" charset="0"/>
              </a:rPr>
              <a:t>It was displaced by fast Ethernet, which is cheaper and has a faster data transfer rate. It is used in a large geographical scenario with thousands of end-users.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000" b="1" i="0" u="none" strike="noStrike" baseline="0" dirty="0">
                <a:solidFill>
                  <a:srgbClr val="0D0D0D"/>
                </a:solidFill>
                <a:latin typeface="Times New Roman" panose="02020603050405020304" pitchFamily="18" charset="0"/>
                <a:cs typeface="Times New Roman" panose="02020603050405020304" pitchFamily="18" charset="0"/>
              </a:rPr>
              <a:t>ADVANTAGES OF LAN</a:t>
            </a:r>
            <a:br>
              <a:rPr lang="en-US" sz="4400" b="0" i="0" u="none" strike="noStrike" baseline="0" dirty="0">
                <a:solidFill>
                  <a:srgbClr val="0D0D0D"/>
                </a:solidFill>
                <a:latin typeface="Helvetica-Narrow"/>
              </a:rPr>
            </a:br>
            <a:endParaRPr lang="en-US" dirty="0"/>
          </a:p>
        </p:txBody>
      </p:sp>
      <p:sp>
        <p:nvSpPr>
          <p:cNvPr id="3" name="Content Placeholder 2"/>
          <p:cNvSpPr>
            <a:spLocks noGrp="1"/>
          </p:cNvSpPr>
          <p:nvPr>
            <p:ph idx="1"/>
          </p:nvPr>
        </p:nvSpPr>
        <p:spPr/>
        <p:txBody>
          <a:bodyPr>
            <a:noAutofit/>
          </a:bodyPr>
          <a:lstStyle/>
          <a:p>
            <a:pPr marL="400050" indent="-400050" algn="l">
              <a:buFont typeface="+mj-lt"/>
              <a:buAutoNum type="romanLcPeriod"/>
            </a:pPr>
            <a:r>
              <a:rPr lang="en-US" sz="2400" b="0" i="0" u="none" strike="noStrike" baseline="0" dirty="0">
                <a:solidFill>
                  <a:srgbClr val="000000"/>
                </a:solidFill>
                <a:latin typeface="Times New Roman" panose="02020603050405020304" pitchFamily="18" charset="0"/>
                <a:cs typeface="Times New Roman" panose="02020603050405020304" pitchFamily="18" charset="0"/>
              </a:rPr>
              <a:t>Files can be stored on a central computer (the file server) allowing data to be shared throughout an organization.</a:t>
            </a:r>
          </a:p>
          <a:p>
            <a:pPr marL="400050" indent="-400050" algn="l">
              <a:buFont typeface="+mj-lt"/>
              <a:buAutoNum type="romanLcPeriod"/>
            </a:pPr>
            <a:r>
              <a:rPr lang="en-US" sz="2400" b="0" i="0" u="none" strike="noStrike" baseline="0" dirty="0">
                <a:solidFill>
                  <a:srgbClr val="000000"/>
                </a:solidFill>
                <a:latin typeface="Times New Roman" panose="02020603050405020304" pitchFamily="18" charset="0"/>
                <a:cs typeface="Times New Roman" panose="02020603050405020304" pitchFamily="18" charset="0"/>
              </a:rPr>
              <a:t>Files can be backed up more easily when they are all on a central fileserver rather than when they are scattered across a number of independent workstations.</a:t>
            </a:r>
          </a:p>
          <a:p>
            <a:pPr marL="400050" indent="-400050" algn="l">
              <a:buFont typeface="+mj-lt"/>
              <a:buAutoNum type="romanLcPeriod"/>
            </a:pPr>
            <a:r>
              <a:rPr lang="en-US" sz="2400" b="0" i="0" u="none" strike="noStrike" baseline="0" dirty="0">
                <a:solidFill>
                  <a:srgbClr val="000000"/>
                </a:solidFill>
                <a:latin typeface="Times New Roman" panose="02020603050405020304" pitchFamily="18" charset="0"/>
                <a:cs typeface="Times New Roman" panose="02020603050405020304" pitchFamily="18" charset="0"/>
              </a:rPr>
              <a:t>Networks also allow security to be established, ensuring that the network users may only have access to certain files and applications.</a:t>
            </a:r>
          </a:p>
          <a:p>
            <a:pPr marL="400050" indent="-400050" algn="l">
              <a:buFont typeface="+mj-lt"/>
              <a:buAutoNum type="romanLcPeriod"/>
            </a:pPr>
            <a:r>
              <a:rPr lang="en-US" sz="2400" b="0" i="0" u="none" strike="noStrike" baseline="0" dirty="0">
                <a:solidFill>
                  <a:srgbClr val="000000"/>
                </a:solidFill>
                <a:latin typeface="Times New Roman" panose="02020603050405020304" pitchFamily="18" charset="0"/>
                <a:cs typeface="Times New Roman" panose="02020603050405020304" pitchFamily="18" charset="0"/>
              </a:rPr>
              <a:t>Software and resources can be centrally managed.</a:t>
            </a:r>
          </a:p>
          <a:p>
            <a:pPr marL="400050" indent="-400050" algn="l">
              <a:buFont typeface="+mj-lt"/>
              <a:buAutoNum type="romanLcPeriod"/>
            </a:pPr>
            <a:r>
              <a:rPr lang="en-US" sz="2400" b="0" i="0" u="none" strike="noStrike" baseline="0" dirty="0">
                <a:solidFill>
                  <a:srgbClr val="000000"/>
                </a:solidFill>
                <a:latin typeface="Times New Roman" panose="02020603050405020304" pitchFamily="18" charset="0"/>
                <a:cs typeface="Times New Roman" panose="02020603050405020304" pitchFamily="18" charset="0"/>
              </a:rPr>
              <a:t>Network versions of software often allow for their speedy installation on workstations from the file server.</a:t>
            </a:r>
          </a:p>
          <a:p>
            <a:pPr marL="400050" indent="-400050" algn="l">
              <a:buFont typeface="+mj-lt"/>
              <a:buAutoNum type="romanLcPeriod"/>
            </a:pPr>
            <a:r>
              <a:rPr lang="en-US" sz="2400" b="0" i="0" u="none" strike="noStrike" baseline="0" dirty="0">
                <a:solidFill>
                  <a:srgbClr val="000000"/>
                </a:solidFill>
                <a:latin typeface="Times New Roman" panose="02020603050405020304" pitchFamily="18" charset="0"/>
                <a:cs typeface="Times New Roman" panose="02020603050405020304" pitchFamily="18" charset="0"/>
              </a:rPr>
              <a:t>Expensive devices such as laser printers or scanners can be shared.</a:t>
            </a:r>
          </a:p>
          <a:p>
            <a:pPr marL="400050" indent="-400050" algn="l">
              <a:buFont typeface="+mj-lt"/>
              <a:buAutoNum type="romanLcPeriod"/>
            </a:pPr>
            <a:r>
              <a:rPr lang="en-US" sz="2400" b="0" i="0" u="none" strike="noStrike" baseline="0" dirty="0">
                <a:solidFill>
                  <a:srgbClr val="000000"/>
                </a:solidFill>
                <a:latin typeface="Times New Roman" panose="02020603050405020304" pitchFamily="18" charset="0"/>
                <a:cs typeface="Times New Roman" panose="02020603050405020304" pitchFamily="18" charset="0"/>
              </a:rPr>
              <a:t>Users can access their files from any workstation</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000" b="1" i="0" u="none" strike="noStrike" baseline="0" dirty="0">
                <a:solidFill>
                  <a:srgbClr val="0D0D0D"/>
                </a:solidFill>
                <a:latin typeface="Times New Roman" panose="02020603050405020304" pitchFamily="18" charset="0"/>
                <a:cs typeface="Times New Roman" panose="02020603050405020304" pitchFamily="18" charset="0"/>
              </a:rPr>
              <a:t>DISADVANTAGES OF LAN</a:t>
            </a:r>
            <a:br>
              <a:rPr lang="en-US" sz="4400" b="0" i="0" u="none" strike="noStrike" baseline="0" dirty="0">
                <a:solidFill>
                  <a:srgbClr val="0D0D0D"/>
                </a:solidFill>
                <a:latin typeface="Helvetica-Narrow"/>
              </a:rPr>
            </a:br>
            <a:endParaRPr lang="en-US" dirty="0"/>
          </a:p>
        </p:txBody>
      </p:sp>
      <p:sp>
        <p:nvSpPr>
          <p:cNvPr id="3" name="Content Placeholder 2"/>
          <p:cNvSpPr>
            <a:spLocks noGrp="1"/>
          </p:cNvSpPr>
          <p:nvPr>
            <p:ph idx="1"/>
          </p:nvPr>
        </p:nvSpPr>
        <p:spPr/>
        <p:txBody>
          <a:bodyPr>
            <a:normAutofit/>
          </a:bodyPr>
          <a:lstStyle/>
          <a:p>
            <a:pPr marL="514350" indent="-514350" algn="just">
              <a:buFont typeface="+mj-lt"/>
              <a:buAutoNum type="romanLcPeriod"/>
            </a:pPr>
            <a:r>
              <a:rPr lang="en-US" sz="2400" b="0" i="0" u="none" strike="noStrike" baseline="0" dirty="0">
                <a:solidFill>
                  <a:srgbClr val="000000"/>
                </a:solidFill>
                <a:latin typeface="Times New Roman" panose="02020603050405020304" pitchFamily="18" charset="0"/>
                <a:cs typeface="Times New Roman" panose="02020603050405020304" pitchFamily="18" charset="0"/>
              </a:rPr>
              <a:t>Power - a good LAN is required to be on all the times.</a:t>
            </a:r>
          </a:p>
          <a:p>
            <a:pPr marL="400050" indent="-400050" algn="just">
              <a:buFont typeface="+mj-lt"/>
              <a:buAutoNum type="romanLcPeriod"/>
            </a:pPr>
            <a:r>
              <a:rPr lang="en-US" sz="2400" b="0" i="0" u="none" strike="noStrike" baseline="0" dirty="0">
                <a:solidFill>
                  <a:srgbClr val="000000"/>
                </a:solidFill>
                <a:latin typeface="Times New Roman" panose="02020603050405020304" pitchFamily="18" charset="0"/>
                <a:cs typeface="Times New Roman" panose="02020603050405020304" pitchFamily="18" charset="0"/>
              </a:rPr>
              <a:t>Security - each computer and device become another point of entry for undesirables.</a:t>
            </a:r>
          </a:p>
          <a:p>
            <a:pPr marL="400050" indent="-400050" algn="just">
              <a:buFont typeface="+mj-lt"/>
              <a:buAutoNum type="romanLcPeriod"/>
            </a:pPr>
            <a:r>
              <a:rPr lang="en-US" sz="2400" b="0" i="0" u="none" strike="noStrike" baseline="0" dirty="0">
                <a:solidFill>
                  <a:srgbClr val="000000"/>
                </a:solidFill>
                <a:latin typeface="Times New Roman" panose="02020603050405020304" pitchFamily="18" charset="0"/>
                <a:cs typeface="Times New Roman" panose="02020603050405020304" pitchFamily="18" charset="0"/>
              </a:rPr>
              <a:t>Upkeep - when things go wrong or the software gets updated.</a:t>
            </a:r>
          </a:p>
          <a:p>
            <a:pPr marL="400050" indent="-400050" algn="just">
              <a:buFont typeface="+mj-lt"/>
              <a:buAutoNum type="romanLcPeriod"/>
            </a:pPr>
            <a:r>
              <a:rPr lang="en-US" sz="2400" b="0" i="0" u="none" strike="noStrike" baseline="0" dirty="0">
                <a:solidFill>
                  <a:srgbClr val="000000"/>
                </a:solidFill>
                <a:latin typeface="Times New Roman" panose="02020603050405020304" pitchFamily="18" charset="0"/>
                <a:cs typeface="Times New Roman" panose="02020603050405020304" pitchFamily="18" charset="0"/>
              </a:rPr>
              <a:t>Frustration if having a problem setting up.</a:t>
            </a:r>
          </a:p>
          <a:p>
            <a:pPr marL="400050" indent="-400050" algn="just">
              <a:buFont typeface="+mj-lt"/>
              <a:buAutoNum type="romanLcPeriod"/>
            </a:pPr>
            <a:r>
              <a:rPr lang="en-US" sz="2400" b="0" i="0" u="none" strike="noStrike" baseline="0" dirty="0">
                <a:solidFill>
                  <a:srgbClr val="000000"/>
                </a:solidFill>
                <a:latin typeface="Times New Roman" panose="02020603050405020304" pitchFamily="18" charset="0"/>
                <a:cs typeface="Times New Roman" panose="02020603050405020304" pitchFamily="18" charset="0"/>
              </a:rPr>
              <a:t>A lot of times a network shares one Internet connection - if all computers are running at once, there can be reduced speed for each.</a:t>
            </a:r>
          </a:p>
          <a:p>
            <a:pPr marL="400050" indent="-400050" algn="just">
              <a:buFont typeface="+mj-lt"/>
              <a:buAutoNum type="romanLcPeriod"/>
            </a:pPr>
            <a:r>
              <a:rPr lang="en-US" sz="2400" b="0" i="0" u="none" strike="noStrike" baseline="0" dirty="0">
                <a:solidFill>
                  <a:srgbClr val="000000"/>
                </a:solidFill>
                <a:latin typeface="Times New Roman" panose="02020603050405020304" pitchFamily="18" charset="0"/>
                <a:cs typeface="Times New Roman" panose="02020603050405020304" pitchFamily="18" charset="0"/>
              </a:rPr>
              <a:t>Area covered is limited.</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5910"/>
            <a:ext cx="10515600" cy="6061053"/>
          </a:xfrm>
        </p:spPr>
        <p:txBody>
          <a:bodyPr/>
          <a:lstStyle/>
          <a:p>
            <a:pPr algn="just">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Metropolitan Area Network (MAN)</a:t>
            </a:r>
          </a:p>
          <a:p>
            <a:pPr algn="just"/>
            <a:r>
              <a:rPr lang="en-US" dirty="0">
                <a:latin typeface="Times New Roman" panose="02020603050405020304" pitchFamily="18" charset="0"/>
                <a:cs typeface="Times New Roman" panose="02020603050405020304" pitchFamily="18" charset="0"/>
              </a:rPr>
              <a:t>A data network designed for a town or city. </a:t>
            </a:r>
          </a:p>
          <a:p>
            <a:pPr algn="just"/>
            <a:r>
              <a:rPr lang="en-US" dirty="0">
                <a:latin typeface="Times New Roman" panose="02020603050405020304" pitchFamily="18" charset="0"/>
                <a:cs typeface="Times New Roman" panose="02020603050405020304" pitchFamily="18" charset="0"/>
              </a:rPr>
              <a:t>In terms of geographic breadth, MANs are larger than local-area networks (LANs), but smaller than wide-area networks (WANs). MANs are usually characterized by very high-speed connections using fiber optical cable or other digital media.</a:t>
            </a:r>
          </a:p>
          <a:p>
            <a:endParaRPr lang="en-US" dirty="0"/>
          </a:p>
        </p:txBody>
      </p:sp>
      <p:pic>
        <p:nvPicPr>
          <p:cNvPr id="4" name="Picture 3"/>
          <p:cNvPicPr>
            <a:picLocks noChangeAspect="1"/>
          </p:cNvPicPr>
          <p:nvPr/>
        </p:nvPicPr>
        <p:blipFill>
          <a:blip r:embed="rId2"/>
          <a:stretch>
            <a:fillRect/>
          </a:stretch>
        </p:blipFill>
        <p:spPr>
          <a:xfrm>
            <a:off x="3512475" y="2859726"/>
            <a:ext cx="5076897" cy="303731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70456"/>
            <a:ext cx="10515600" cy="5906507"/>
          </a:xfrm>
        </p:spPr>
        <p:txBody>
          <a:bodyPr/>
          <a:lstStyle/>
          <a:p>
            <a:pPr algn="just">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Wide-Area Network - WAN</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 computer network that spans a relatively large geographical area. Typically, a WAN consists of two or more local-area networks (LANs).</a:t>
            </a:r>
          </a:p>
          <a:p>
            <a:pPr algn="just"/>
            <a:r>
              <a:rPr lang="en-US" dirty="0">
                <a:latin typeface="Times New Roman" panose="02020603050405020304" pitchFamily="18" charset="0"/>
                <a:cs typeface="Times New Roman" panose="02020603050405020304" pitchFamily="18" charset="0"/>
              </a:rPr>
              <a:t>Computers connected to a wide-area network are often connected through public networks, such as the telephone system. They can also be connected through leased lines or satellites. The largest WAN in existence is the Internet.</a:t>
            </a:r>
          </a:p>
          <a:p>
            <a:pPr algn="just"/>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Campus network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640169" y="0"/>
            <a:ext cx="7302321" cy="66960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BASIC TERMINOLOGIES</a:t>
            </a:r>
          </a:p>
        </p:txBody>
      </p:sp>
      <p:sp>
        <p:nvSpPr>
          <p:cNvPr id="3" name="Content Placeholder 2"/>
          <p:cNvSpPr>
            <a:spLocks noGrp="1"/>
          </p:cNvSpPr>
          <p:nvPr>
            <p:ph idx="1"/>
          </p:nvPr>
        </p:nvSpPr>
        <p:spPr/>
        <p:txBody>
          <a:bodyPr>
            <a:normAutofit/>
          </a:bodyPr>
          <a:lstStyle/>
          <a:p>
            <a:pPr algn="just"/>
            <a:r>
              <a:rPr lang="en-US" b="1" dirty="0">
                <a:latin typeface="Times New Roman" panose="02020603050405020304" pitchFamily="18" charset="0"/>
                <a:cs typeface="Times New Roman" panose="02020603050405020304" pitchFamily="18" charset="0"/>
              </a:rPr>
              <a:t>Topology </a:t>
            </a:r>
            <a:r>
              <a:rPr lang="en-US" dirty="0">
                <a:latin typeface="Times New Roman" panose="02020603050405020304" pitchFamily="18" charset="0"/>
                <a:cs typeface="Times New Roman" panose="02020603050405020304" pitchFamily="18" charset="0"/>
              </a:rPr>
              <a:t>: The geometric arrangement of devices on the network. For example, devices can be arranged in a ring or in a straight line.</a:t>
            </a:r>
          </a:p>
          <a:p>
            <a:pPr algn="just"/>
            <a:r>
              <a:rPr lang="en-US" b="1" dirty="0">
                <a:latin typeface="Times New Roman" panose="02020603050405020304" pitchFamily="18" charset="0"/>
                <a:cs typeface="Times New Roman" panose="02020603050405020304" pitchFamily="18" charset="0"/>
              </a:rPr>
              <a:t>Protocols </a:t>
            </a:r>
            <a:r>
              <a:rPr lang="en-US" dirty="0">
                <a:latin typeface="Times New Roman" panose="02020603050405020304" pitchFamily="18" charset="0"/>
                <a:cs typeface="Times New Roman" panose="02020603050405020304" pitchFamily="18" charset="0"/>
              </a:rPr>
              <a:t>: The rules and encoding specifications for sending data. The protocols also determine whether the network uses a peer-to-peer or client/server architecture.</a:t>
            </a:r>
          </a:p>
          <a:p>
            <a:pPr algn="just"/>
            <a:r>
              <a:rPr lang="en-US" b="1" dirty="0">
                <a:latin typeface="Times New Roman" panose="02020603050405020304" pitchFamily="18" charset="0"/>
                <a:cs typeface="Times New Roman" panose="02020603050405020304" pitchFamily="18" charset="0"/>
              </a:rPr>
              <a:t>Media </a:t>
            </a:r>
            <a:r>
              <a:rPr lang="en-US" dirty="0">
                <a:latin typeface="Times New Roman" panose="02020603050405020304" pitchFamily="18" charset="0"/>
                <a:cs typeface="Times New Roman" panose="02020603050405020304" pitchFamily="18" charset="0"/>
              </a:rPr>
              <a:t>: Devices can be connected by twisted-pair wire, coaxial cables, or fiber optic cables. Some networks do without connecting media altogether, communicating instead via radio waves.</a:t>
            </a:r>
          </a:p>
          <a:p>
            <a:pPr marL="0" indent="0" algn="just">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CATEGORIES OF NETWORK TOPOLOGIES</a:t>
            </a:r>
          </a:p>
        </p:txBody>
      </p:sp>
      <p:sp>
        <p:nvSpPr>
          <p:cNvPr id="10" name="TextBox 9"/>
          <p:cNvSpPr txBox="1"/>
          <p:nvPr/>
        </p:nvSpPr>
        <p:spPr>
          <a:xfrm>
            <a:off x="283028" y="1443841"/>
            <a:ext cx="11789229" cy="4708981"/>
          </a:xfrm>
          <a:prstGeom prst="rect">
            <a:avLst/>
          </a:prstGeom>
          <a:noFill/>
        </p:spPr>
        <p:txBody>
          <a:bodyPr wrap="square">
            <a:spAutoFit/>
          </a:bodyPr>
          <a:lstStyle/>
          <a:p>
            <a:pPr algn="l" fontAlgn="base"/>
            <a:r>
              <a:rPr lang="en-US" sz="2000" b="1" i="0" dirty="0">
                <a:solidFill>
                  <a:srgbClr val="273239"/>
                </a:solidFill>
                <a:effectLst/>
                <a:latin typeface="Nunito" pitchFamily="2" charset="0"/>
              </a:rPr>
              <a:t>1. Physical Topology :</a:t>
            </a:r>
            <a:br>
              <a:rPr lang="en-US" sz="2000" b="0" i="0" dirty="0">
                <a:solidFill>
                  <a:srgbClr val="273239"/>
                </a:solidFill>
                <a:effectLst/>
                <a:latin typeface="Nunito" pitchFamily="2" charset="0"/>
              </a:rPr>
            </a:br>
            <a:r>
              <a:rPr lang="en-US" sz="2000" b="0" i="0" dirty="0">
                <a:solidFill>
                  <a:srgbClr val="273239"/>
                </a:solidFill>
                <a:effectLst/>
                <a:latin typeface="Nunito" pitchFamily="2" charset="0"/>
              </a:rPr>
              <a:t>It reflects physical layout of devices and cables to a form a connected network. It is concerned with essentials of network ignoring minute details like transfer of data and device type. The pattern of arrangement of nodes (computers) and network cables depends on ease of installation and setup of the network. It affects cost and bandwidth capacity based on solution of devices. It takes into account placement of nodes and distance between them. Devices can be arranged to form a ring (Ring Topology) or linearly connected in a line called </a:t>
            </a:r>
            <a:r>
              <a:rPr lang="en-US" sz="2000" b="0" i="0" u="sng" dirty="0">
                <a:solidFill>
                  <a:srgbClr val="273239"/>
                </a:solidFill>
                <a:effectLst/>
                <a:latin typeface="Nunito" pitchFamily="2" charset="0"/>
                <a:hlinkClick r:id="rId2"/>
              </a:rPr>
              <a:t>Bus Topology</a:t>
            </a:r>
            <a:r>
              <a:rPr lang="en-US" sz="2000" b="0" i="0" dirty="0">
                <a:solidFill>
                  <a:srgbClr val="273239"/>
                </a:solidFill>
                <a:effectLst/>
                <a:latin typeface="Nunito" pitchFamily="2" charset="0"/>
              </a:rPr>
              <a:t>.</a:t>
            </a:r>
          </a:p>
          <a:p>
            <a:pPr algn="l" fontAlgn="base"/>
            <a:r>
              <a:rPr lang="en-US" sz="2000" b="1" i="0" dirty="0">
                <a:solidFill>
                  <a:srgbClr val="273239"/>
                </a:solidFill>
                <a:effectLst/>
                <a:latin typeface="Nunito" pitchFamily="2" charset="0"/>
              </a:rPr>
              <a:t>2. Logical Topology :</a:t>
            </a:r>
            <a:br>
              <a:rPr lang="en-US" sz="2000" b="0" i="0" dirty="0">
                <a:solidFill>
                  <a:srgbClr val="273239"/>
                </a:solidFill>
                <a:effectLst/>
                <a:latin typeface="Nunito" pitchFamily="2" charset="0"/>
              </a:rPr>
            </a:br>
            <a:r>
              <a:rPr lang="en-US" sz="2000" b="0" i="0" dirty="0">
                <a:solidFill>
                  <a:srgbClr val="273239"/>
                </a:solidFill>
                <a:effectLst/>
                <a:latin typeface="Nunito" pitchFamily="2" charset="0"/>
              </a:rPr>
              <a:t>Logical Topology reflects arrangement of devices and their communication. It is the transmission of data over physical topology. It is independent of physical topology, irrespective of arrangements of nodes. It is concerned with intricate details of network like type of </a:t>
            </a:r>
            <a:r>
              <a:rPr lang="en-US" sz="2000" b="0" i="0" u="sng" dirty="0">
                <a:solidFill>
                  <a:srgbClr val="273239"/>
                </a:solidFill>
                <a:effectLst/>
                <a:latin typeface="Nunito" pitchFamily="2" charset="0"/>
                <a:hlinkClick r:id="rId3"/>
              </a:rPr>
              <a:t>devices (switches, routers)</a:t>
            </a:r>
            <a:r>
              <a:rPr lang="en-US" sz="2000" b="0" i="0" dirty="0">
                <a:solidFill>
                  <a:srgbClr val="273239"/>
                </a:solidFill>
                <a:effectLst/>
                <a:latin typeface="Nunito" pitchFamily="2" charset="0"/>
              </a:rPr>
              <a:t> chosen and their quality, which affect rate and speed of data packets delivery. The logical topology ensures optimal flow control that can be regulated within network.</a:t>
            </a:r>
            <a:br>
              <a:rPr lang="en-US" sz="2000" b="0" i="0" dirty="0">
                <a:solidFill>
                  <a:srgbClr val="273239"/>
                </a:solidFill>
                <a:effectLst/>
                <a:latin typeface="Nunito" pitchFamily="2" charset="0"/>
              </a:rPr>
            </a:br>
            <a:r>
              <a:rPr lang="en-US" sz="2000" b="0" i="0" dirty="0">
                <a:solidFill>
                  <a:srgbClr val="273239"/>
                </a:solidFill>
                <a:effectLst/>
                <a:latin typeface="Nunito" pitchFamily="2" charset="0"/>
              </a:rPr>
              <a:t>The data can either flow in a linear pattern called </a:t>
            </a:r>
            <a:r>
              <a:rPr lang="en-US" sz="2000" b="1" i="0" dirty="0">
                <a:solidFill>
                  <a:srgbClr val="273239"/>
                </a:solidFill>
                <a:effectLst/>
                <a:latin typeface="Nunito" pitchFamily="2" charset="0"/>
              </a:rPr>
              <a:t>Broadcast/Logical bus </a:t>
            </a:r>
            <a:r>
              <a:rPr lang="en-US" sz="2000" b="0" i="0" dirty="0">
                <a:solidFill>
                  <a:srgbClr val="273239"/>
                </a:solidFill>
                <a:effectLst/>
                <a:latin typeface="Nunito" pitchFamily="2" charset="0"/>
              </a:rPr>
              <a:t>or in form of a </a:t>
            </a:r>
            <a:r>
              <a:rPr lang="en-US" sz="2000" b="1" i="0" dirty="0">
                <a:solidFill>
                  <a:srgbClr val="273239"/>
                </a:solidFill>
                <a:effectLst/>
                <a:latin typeface="Nunito" pitchFamily="2" charset="0"/>
              </a:rPr>
              <a:t>Sequential/ Logical ring/.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87829" y="157486"/>
            <a:ext cx="11342914" cy="6000750"/>
          </a:xfrm>
          <a:prstGeom prst="rect">
            <a:avLst/>
          </a:prstGeom>
          <a:noFill/>
        </p:spPr>
        <p:txBody>
          <a:bodyPr wrap="square" lIns="91440" tIns="45720" rIns="91440" bIns="45720" anchor="t">
            <a:spAutoFit/>
          </a:bodyPr>
          <a:lstStyle/>
          <a:p>
            <a:pPr algn="ctr"/>
            <a:r>
              <a:rPr lang="en-US" sz="2400" b="1" dirty="0"/>
              <a:t>TYPES OF NETWORKS BASED ON LOGICAL TOPOLOGY</a:t>
            </a:r>
          </a:p>
          <a:p>
            <a:pPr marL="457200" indent="-457200">
              <a:buFont typeface="+mj-lt"/>
              <a:buAutoNum type="arabicPeriod"/>
            </a:pPr>
            <a:r>
              <a:rPr lang="en-US" sz="2400" b="1" dirty="0"/>
              <a:t>Hierarchical Network Design </a:t>
            </a:r>
          </a:p>
          <a:p>
            <a:r>
              <a:rPr lang="en-US" sz="2400" dirty="0"/>
              <a:t>In networking, a hierarchical design is used to group devices into multiple networks. The networks are organized in a layered approach. </a:t>
            </a:r>
          </a:p>
          <a:p>
            <a:r>
              <a:rPr lang="en-US" sz="2400" dirty="0"/>
              <a:t>The hierarchical design model has three basic layers: </a:t>
            </a:r>
          </a:p>
          <a:p>
            <a:r>
              <a:rPr lang="en-US" sz="2400" dirty="0"/>
              <a:t>■ Core layer: Connects distribution layer devices </a:t>
            </a:r>
          </a:p>
          <a:p>
            <a:r>
              <a:rPr lang="en-US" sz="2400" dirty="0"/>
              <a:t>■ Distribution layer: Interconnects the smaller local networks </a:t>
            </a:r>
          </a:p>
          <a:p>
            <a:r>
              <a:rPr lang="en-US" sz="2400" dirty="0"/>
              <a:t>■ Access layer: Provides connectivity for network hosts and end devices</a:t>
            </a:r>
            <a:endParaRPr lang="en-US" sz="2400" b="1" dirty="0"/>
          </a:p>
          <a:p>
            <a:endParaRPr lang="en-US" sz="2400" dirty="0"/>
          </a:p>
          <a:p>
            <a:pPr marL="342900" indent="-342900">
              <a:buFont typeface="Arial" panose="020B0604020202020204" pitchFamily="34" charset="0"/>
              <a:buChar char="•"/>
            </a:pPr>
            <a:r>
              <a:rPr lang="en-US" sz="2400" b="1" dirty="0"/>
              <a:t>Hierarchical networks have advantages over flat network designs. </a:t>
            </a:r>
          </a:p>
          <a:p>
            <a:r>
              <a:rPr lang="en-US" sz="2400" dirty="0"/>
              <a:t>The benefit of dividing a flat network into smaller, more manageable hierarchical blocks is that </a:t>
            </a:r>
            <a:r>
              <a:rPr lang="en-US" sz="2400" b="1" dirty="0"/>
              <a:t>local traffic remains local</a:t>
            </a:r>
            <a:r>
              <a:rPr lang="en-US" sz="2400" dirty="0"/>
              <a:t>. </a:t>
            </a:r>
            <a:r>
              <a:rPr lang="en-US" sz="2400" b="1" dirty="0"/>
              <a:t>Only traffic destined for other networks is moved to a higher layer.</a:t>
            </a:r>
          </a:p>
          <a:p>
            <a:endParaRPr lang="en-US" sz="2400" b="1" dirty="0"/>
          </a:p>
          <a:p>
            <a:pPr marL="342900" indent="-342900">
              <a:buFont typeface="Arial" panose="020B0604020202020204" pitchFamily="34" charset="0"/>
              <a:buChar char="•"/>
            </a:pPr>
            <a:r>
              <a:rPr lang="en-US" sz="2400" dirty="0"/>
              <a:t>Layer 2 devices in a flat network provide little opportunity to control broadcasts or to filter undesirable traffic</a:t>
            </a:r>
            <a:r>
              <a:rPr lang="en-US" sz="2400" b="1" dirty="0"/>
              <a:t> </a:t>
            </a:r>
          </a:p>
        </p:txBody>
      </p:sp>
    </p:spTree>
    <p:extLst>
      <p:ext uri="{BB962C8B-B14F-4D97-AF65-F5344CB8AC3E}">
        <p14:creationId xmlns:p14="http://schemas.microsoft.com/office/powerpoint/2010/main" val="34014097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9971" y="163287"/>
            <a:ext cx="10711543" cy="5631180"/>
          </a:xfrm>
          <a:prstGeom prst="rect">
            <a:avLst/>
          </a:prstGeom>
          <a:noFill/>
        </p:spPr>
        <p:txBody>
          <a:bodyPr wrap="square">
            <a:spAutoFit/>
          </a:bodyPr>
          <a:lstStyle/>
          <a:p>
            <a:pPr marL="457200" indent="-457200">
              <a:buFont typeface="+mj-lt"/>
              <a:buAutoNum type="arabicPeriod" startAt="2"/>
            </a:pPr>
            <a:r>
              <a:rPr lang="en-US" sz="2000" b="1" dirty="0"/>
              <a:t>Flat Network</a:t>
            </a:r>
          </a:p>
          <a:p>
            <a:r>
              <a:rPr lang="en-US" sz="2000" dirty="0"/>
              <a:t>All devices are connected to one connection</a:t>
            </a:r>
          </a:p>
          <a:p>
            <a:r>
              <a:rPr lang="en-US" sz="2000" dirty="0"/>
              <a:t>As more devices and applications are added to a flat network, response times degrade until the network becomes unusable</a:t>
            </a:r>
          </a:p>
          <a:p>
            <a:pPr>
              <a:buFont typeface="+mj-lt"/>
              <a:buAutoNum type="arabicPeriod" startAt="3"/>
            </a:pPr>
            <a:r>
              <a:rPr lang="en-US" sz="2000" b="1" dirty="0"/>
              <a:t>The Cisco Enterprise Architectures </a:t>
            </a:r>
            <a:r>
              <a:rPr lang="en-US" sz="2000" dirty="0"/>
              <a:t>--can be used to further divide the three-layer hierarchical design into modular areas. The modules represent areas that have different physical or logical connectivity. They designate where different functions occur in the network. This modularity enables flexibility in network design. It facilitates implementation and troubleshooting. Three areas of focus in modular network design are as follows: </a:t>
            </a:r>
          </a:p>
          <a:p>
            <a:pPr indent="0">
              <a:buFont typeface="+mj-lt"/>
              <a:buNone/>
            </a:pPr>
            <a:r>
              <a:rPr lang="en-US" sz="2000" dirty="0"/>
              <a:t>■ </a:t>
            </a:r>
            <a:r>
              <a:rPr lang="en-US" sz="2000" b="1" dirty="0"/>
              <a:t>Enterprise campus:</a:t>
            </a:r>
            <a:r>
              <a:rPr lang="en-US" sz="2000" dirty="0"/>
              <a:t> This area contains the network elements required for independent operation within a single campus or branch location. This is where the building access, building distribution, and campus core are located. </a:t>
            </a:r>
          </a:p>
          <a:p>
            <a:pPr indent="0">
              <a:buFont typeface="+mj-lt"/>
              <a:buNone/>
            </a:pPr>
            <a:r>
              <a:rPr lang="en-US" sz="2000" dirty="0"/>
              <a:t>■ </a:t>
            </a:r>
            <a:r>
              <a:rPr lang="en-US" sz="2000" b="1" dirty="0"/>
              <a:t>Server farm:</a:t>
            </a:r>
            <a:r>
              <a:rPr lang="en-US" sz="2000" dirty="0"/>
              <a:t> A component of the enterprise campus, the data center server farm protects the server resources and provides redundant, reliable high-speed connectivity. </a:t>
            </a:r>
          </a:p>
          <a:p>
            <a:pPr indent="0">
              <a:buFont typeface="+mj-lt"/>
              <a:buNone/>
            </a:pPr>
            <a:r>
              <a:rPr lang="en-US" sz="2000" dirty="0"/>
              <a:t>■ </a:t>
            </a:r>
            <a:r>
              <a:rPr lang="en-US" sz="2000" b="1" dirty="0"/>
              <a:t>Enterprise edge:</a:t>
            </a:r>
            <a:r>
              <a:rPr lang="en-US" sz="2000" dirty="0"/>
              <a:t> As traffic comes into the campus network, this area filters traffic from the external resources and routes it into the enterprise network. It contains all the elements required for efficient and secure communication between the enterprise campus and remote locations, remote users, and the Internet.</a:t>
            </a:r>
          </a:p>
        </p:txBody>
      </p:sp>
    </p:spTree>
    <p:extLst>
      <p:ext uri="{BB962C8B-B14F-4D97-AF65-F5344CB8AC3E}">
        <p14:creationId xmlns:p14="http://schemas.microsoft.com/office/powerpoint/2010/main" val="39221768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LAN Transmission Methods</a:t>
            </a:r>
            <a:endParaRPr lang="en-US" dirty="0"/>
          </a:p>
        </p:txBody>
      </p:sp>
      <p:sp>
        <p:nvSpPr>
          <p:cNvPr id="3" name="Content Placeholder 2"/>
          <p:cNvSpPr>
            <a:spLocks noGrp="1"/>
          </p:cNvSpPr>
          <p:nvPr>
            <p:ph idx="1"/>
          </p:nvPr>
        </p:nvSpPr>
        <p:spPr/>
        <p:txBody>
          <a:bodyPr/>
          <a:lstStyle/>
          <a:p>
            <a:r>
              <a:rPr lang="en-US" dirty="0"/>
              <a:t>LAN data transmissions fall into three classifications: unicast, multicast, and broadcast. In each type of transmission, a single packet is sent to one or more nodes.</a:t>
            </a:r>
          </a:p>
          <a:p>
            <a:r>
              <a:rPr lang="en-US" dirty="0"/>
              <a:t>In a </a:t>
            </a:r>
            <a:r>
              <a:rPr lang="en-US" b="1" dirty="0"/>
              <a:t>unicast</a:t>
            </a:r>
            <a:r>
              <a:rPr lang="en-US" dirty="0"/>
              <a:t> transmission, a single packet is sent from the source to a destination on a network.</a:t>
            </a:r>
          </a:p>
          <a:p>
            <a:r>
              <a:rPr lang="en-US" dirty="0"/>
              <a:t>A </a:t>
            </a:r>
            <a:r>
              <a:rPr lang="en-US" b="1" dirty="0"/>
              <a:t>multicast</a:t>
            </a:r>
            <a:r>
              <a:rPr lang="en-US" dirty="0"/>
              <a:t> transmission consists of a single data packet that is copied and sent to a specific subset of nodes on the network.</a:t>
            </a:r>
          </a:p>
          <a:p>
            <a:r>
              <a:rPr lang="en-US" dirty="0"/>
              <a:t>A </a:t>
            </a:r>
            <a:r>
              <a:rPr lang="en-US" b="1" dirty="0"/>
              <a:t>broadcast</a:t>
            </a:r>
            <a:r>
              <a:rPr lang="en-US" dirty="0"/>
              <a:t> transmission consists of a single data packet that is copied and sent to all nodes on the network.</a:t>
            </a:r>
          </a:p>
          <a:p>
            <a:endParaRPr lang="en-US" dirty="0"/>
          </a:p>
        </p:txBody>
      </p:sp>
    </p:spTree>
    <p:extLst>
      <p:ext uri="{BB962C8B-B14F-4D97-AF65-F5344CB8AC3E}">
        <p14:creationId xmlns:p14="http://schemas.microsoft.com/office/powerpoint/2010/main" val="9254044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306286" y="886549"/>
            <a:ext cx="10885714" cy="4555093"/>
          </a:xfrm>
          <a:prstGeom prst="rect">
            <a:avLst/>
          </a:prstGeom>
          <a:noFill/>
        </p:spPr>
        <p:txBody>
          <a:bodyPr wrap="square" lIns="91440" tIns="45720" rIns="91440" bIns="45720" anchor="t">
            <a:spAutoFit/>
          </a:bodyPr>
          <a:lstStyle/>
          <a:p>
            <a:pPr algn="l"/>
            <a:r>
              <a:rPr lang="en-US" sz="3200" b="1" i="0" dirty="0">
                <a:solidFill>
                  <a:srgbClr val="202124"/>
                </a:solidFill>
                <a:effectLst/>
                <a:latin typeface="Google Sans"/>
              </a:rPr>
              <a:t>TYPES OF PHYSICAL NETWORK TOPOLOGIES:</a:t>
            </a:r>
            <a:endParaRPr lang="en-US" sz="3200" b="0" i="0" dirty="0">
              <a:solidFill>
                <a:srgbClr val="202124"/>
              </a:solidFill>
              <a:effectLst/>
              <a:latin typeface="Google Sans"/>
            </a:endParaRPr>
          </a:p>
          <a:p>
            <a:pPr algn="l"/>
            <a:endParaRPr lang="en-US" sz="4400" b="1" i="0" dirty="0">
              <a:solidFill>
                <a:srgbClr val="202124"/>
              </a:solidFill>
              <a:effectLst/>
              <a:latin typeface="Google Sans"/>
              <a:cs typeface="Calibri"/>
            </a:endParaRPr>
          </a:p>
          <a:p>
            <a:pPr marL="285750" indent="-285750">
              <a:buFont typeface="Arial,Sans-Serif"/>
              <a:buChar char="•"/>
            </a:pPr>
            <a:r>
              <a:rPr lang="en-US" sz="2800" dirty="0">
                <a:solidFill>
                  <a:srgbClr val="202124"/>
                </a:solidFill>
                <a:latin typeface="Calibri"/>
                <a:cs typeface="Calibri"/>
              </a:rPr>
              <a:t>Star Topology.</a:t>
            </a:r>
            <a:endParaRPr lang="en-US" sz="2800" dirty="0">
              <a:solidFill>
                <a:srgbClr val="000000"/>
              </a:solidFill>
              <a:latin typeface="Calibri"/>
              <a:cs typeface="Calibri"/>
            </a:endParaRPr>
          </a:p>
          <a:p>
            <a:pPr marL="285750" indent="-285750">
              <a:buFont typeface="Arial,Sans-Serif"/>
              <a:buChar char="•"/>
            </a:pPr>
            <a:r>
              <a:rPr lang="en-US" sz="2800" dirty="0">
                <a:solidFill>
                  <a:srgbClr val="202124"/>
                </a:solidFill>
                <a:latin typeface="Calibri"/>
                <a:cs typeface="Calibri"/>
              </a:rPr>
              <a:t>Bus Topology.</a:t>
            </a:r>
            <a:endParaRPr lang="en-US" sz="2800" dirty="0">
              <a:solidFill>
                <a:srgbClr val="000000"/>
              </a:solidFill>
              <a:latin typeface="Calibri"/>
              <a:cs typeface="Calibri"/>
            </a:endParaRPr>
          </a:p>
          <a:p>
            <a:pPr marL="285750" indent="-285750">
              <a:buFont typeface="Arial,Sans-Serif"/>
              <a:buChar char="•"/>
            </a:pPr>
            <a:r>
              <a:rPr lang="en-US" sz="2800" dirty="0">
                <a:solidFill>
                  <a:srgbClr val="202124"/>
                </a:solidFill>
                <a:latin typeface="Calibri"/>
                <a:cs typeface="Calibri"/>
              </a:rPr>
              <a:t>Ring Topology.</a:t>
            </a:r>
            <a:endParaRPr lang="en-US" sz="2800" dirty="0">
              <a:solidFill>
                <a:srgbClr val="000000"/>
              </a:solidFill>
              <a:latin typeface="Calibri"/>
              <a:cs typeface="Calibri"/>
            </a:endParaRPr>
          </a:p>
          <a:p>
            <a:pPr marL="285750" indent="-285750">
              <a:buFont typeface="Arial,Sans-Serif"/>
              <a:buChar char="•"/>
            </a:pPr>
            <a:r>
              <a:rPr lang="en-US" sz="2800" dirty="0">
                <a:solidFill>
                  <a:srgbClr val="202124"/>
                </a:solidFill>
                <a:latin typeface="Calibri"/>
                <a:cs typeface="Calibri"/>
              </a:rPr>
              <a:t>Mesh Topology.</a:t>
            </a:r>
            <a:endParaRPr lang="en-US" sz="2800" dirty="0">
              <a:solidFill>
                <a:srgbClr val="000000"/>
              </a:solidFill>
              <a:latin typeface="Calibri"/>
              <a:cs typeface="Calibri"/>
            </a:endParaRPr>
          </a:p>
          <a:p>
            <a:pPr marL="285750" indent="-285750">
              <a:buFont typeface="Arial,Sans-Serif"/>
              <a:buChar char="•"/>
            </a:pPr>
            <a:r>
              <a:rPr lang="en-US" sz="2800" dirty="0">
                <a:solidFill>
                  <a:srgbClr val="202124"/>
                </a:solidFill>
                <a:latin typeface="Calibri"/>
                <a:cs typeface="Calibri"/>
              </a:rPr>
              <a:t>Tree Topology.</a:t>
            </a:r>
            <a:endParaRPr lang="en-US" sz="2800" dirty="0">
              <a:solidFill>
                <a:srgbClr val="000000"/>
              </a:solidFill>
              <a:latin typeface="Calibri"/>
              <a:cs typeface="Calibri"/>
            </a:endParaRPr>
          </a:p>
          <a:p>
            <a:pPr marL="285750" indent="-285750">
              <a:buFont typeface="Arial,Sans-Serif"/>
              <a:buChar char="•"/>
            </a:pPr>
            <a:r>
              <a:rPr lang="en-US" sz="2800" dirty="0">
                <a:solidFill>
                  <a:srgbClr val="202124"/>
                </a:solidFill>
                <a:latin typeface="Calibri"/>
                <a:cs typeface="Calibri"/>
              </a:rPr>
              <a:t>Hybrid Topology.</a:t>
            </a:r>
            <a:endParaRPr lang="en-US" dirty="0"/>
          </a:p>
          <a:p>
            <a:pPr>
              <a:buFont typeface="Arial" panose="020B0604020202020204" pitchFamily="34" charset="0"/>
              <a:buChar char="•"/>
            </a:pPr>
            <a:endParaRPr lang="en-US" sz="2800" dirty="0">
              <a:solidFill>
                <a:srgbClr val="202124"/>
              </a:solidFill>
              <a:latin typeface="Calibri"/>
              <a:cs typeface="Calibri"/>
            </a:endParaRPr>
          </a:p>
          <a:p>
            <a:pPr fontAlgn="base"/>
            <a:endParaRPr lang="en-US" dirty="0">
              <a:solidFill>
                <a:srgbClr val="273239"/>
              </a:solidFill>
              <a:latin typeface="Nunito" pitchFamily="2"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8789"/>
            <a:ext cx="10515600" cy="6048175"/>
          </a:xfrm>
        </p:spPr>
        <p:txBody>
          <a:bodyPr>
            <a:normAutofit fontScale="92500" lnSpcReduction="20000"/>
          </a:bodyPr>
          <a:lstStyle/>
          <a:p>
            <a:pPr marL="0" indent="0" algn="ctr">
              <a:buNone/>
            </a:pPr>
            <a:r>
              <a:rPr lang="en-US" b="1" dirty="0">
                <a:latin typeface="Times New Roman" panose="02020603050405020304" pitchFamily="18" charset="0"/>
                <a:cs typeface="Times New Roman" panose="02020603050405020304" pitchFamily="18" charset="0"/>
              </a:rPr>
              <a:t>Bus topology</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It is also known as linear bus. </a:t>
            </a:r>
          </a:p>
          <a:p>
            <a:pPr algn="just"/>
            <a:r>
              <a:rPr lang="en-US" dirty="0">
                <a:latin typeface="Times New Roman" panose="02020603050405020304" pitchFamily="18" charset="0"/>
                <a:cs typeface="Times New Roman" panose="02020603050405020304" pitchFamily="18" charset="0"/>
              </a:rPr>
              <a:t>Consists of a single cable that runs to every work-station. In other words, all the nodes (computers and servers) are connected to the single/central cable (called bus), by the help of interface connectors. </a:t>
            </a:r>
          </a:p>
          <a:p>
            <a:pPr algn="just"/>
            <a:r>
              <a:rPr lang="en-US" dirty="0">
                <a:latin typeface="Times New Roman" panose="02020603050405020304" pitchFamily="18" charset="0"/>
                <a:cs typeface="Times New Roman" panose="02020603050405020304" pitchFamily="18" charset="0"/>
              </a:rPr>
              <a:t>This central cable is the back bone of the network and every workstation communicates with the other device through this bus.</a:t>
            </a:r>
          </a:p>
          <a:p>
            <a:r>
              <a:rPr lang="en-US" dirty="0"/>
              <a:t>A data from the source is broadcasted to all devices connected to the bus.</a:t>
            </a:r>
          </a:p>
          <a:p>
            <a:r>
              <a:rPr lang="en-US" dirty="0"/>
              <a:t>Only the intended-receiver, whose physical-address matches, accepts the data.</a:t>
            </a:r>
          </a:p>
          <a:p>
            <a:r>
              <a:rPr lang="en-US" dirty="0"/>
              <a:t>Devices are connected to the bus by drop-lines and taps.</a:t>
            </a:r>
          </a:p>
          <a:p>
            <a:r>
              <a:rPr lang="en-US" dirty="0"/>
              <a:t>A drop line is a connection running between the device and the bus.</a:t>
            </a:r>
          </a:p>
          <a:p>
            <a:r>
              <a:rPr lang="en-US" dirty="0"/>
              <a:t>A tap is a connector that links to the bus.</a:t>
            </a:r>
          </a:p>
          <a:p>
            <a:r>
              <a:rPr lang="en-US" dirty="0">
                <a:latin typeface="Times New Roman" panose="02020603050405020304" pitchFamily="18" charset="0"/>
                <a:cs typeface="Times New Roman" panose="02020603050405020304" pitchFamily="18" charset="0"/>
              </a:rPr>
              <a:t>The data is sent in only one direction and as soon as it reaches the extreme end, the terminator removes the data from the line.</a:t>
            </a:r>
            <a:endParaRPr lang="en-US" dirty="0"/>
          </a:p>
          <a:p>
            <a:r>
              <a:rPr lang="en-US" dirty="0"/>
              <a:t>Used in </a:t>
            </a:r>
            <a:r>
              <a:rPr lang="en-US" dirty="0">
                <a:latin typeface="Times New Roman" panose="02020603050405020304" pitchFamily="18" charset="0"/>
                <a:cs typeface="Times New Roman" panose="02020603050405020304" pitchFamily="18" charset="0"/>
              </a:rPr>
              <a:t>Ethernet systems.</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209006"/>
            <a:ext cx="10515600" cy="5967957"/>
          </a:xfrm>
        </p:spPr>
        <p:txBody>
          <a:bodyPr>
            <a:normAutofit fontScale="92500" lnSpcReduction="20000"/>
          </a:bodyPr>
          <a:lstStyle/>
          <a:p>
            <a:pPr algn="just"/>
            <a:r>
              <a:rPr lang="en-US" b="1" dirty="0">
                <a:latin typeface="Times New Roman" panose="02020603050405020304" pitchFamily="18" charset="0"/>
                <a:cs typeface="Times New Roman" panose="02020603050405020304" pitchFamily="18" charset="0"/>
              </a:rPr>
              <a:t>Advantages of Bus topology</a:t>
            </a:r>
          </a:p>
          <a:p>
            <a:pPr marL="571500" indent="-571500" algn="just">
              <a:buFont typeface="+mj-lt"/>
              <a:buAutoNum type="romanLcPeriod"/>
            </a:pPr>
            <a:r>
              <a:rPr lang="en-US" dirty="0">
                <a:latin typeface="Times New Roman" panose="02020603050405020304" pitchFamily="18" charset="0"/>
                <a:cs typeface="Times New Roman" panose="02020603050405020304" pitchFamily="18" charset="0"/>
              </a:rPr>
              <a:t>Easy installation</a:t>
            </a:r>
          </a:p>
          <a:p>
            <a:pPr marL="571500" indent="-571500" algn="just">
              <a:buFont typeface="+mj-lt"/>
              <a:buAutoNum type="romanLcPeriod"/>
            </a:pPr>
            <a:r>
              <a:rPr lang="en-US" dirty="0">
                <a:latin typeface="Times New Roman" panose="02020603050405020304" pitchFamily="18" charset="0"/>
                <a:cs typeface="Times New Roman" panose="02020603050405020304" pitchFamily="18" charset="0"/>
              </a:rPr>
              <a:t>Cable required is the least compared to mesh/star topologies</a:t>
            </a:r>
          </a:p>
          <a:p>
            <a:pPr marL="571500" indent="-571500" algn="just">
              <a:buFont typeface="+mj-lt"/>
              <a:buAutoNum type="romanLcPeriod"/>
            </a:pPr>
            <a:r>
              <a:rPr lang="en-US" dirty="0">
                <a:latin typeface="Times New Roman" panose="02020603050405020304" pitchFamily="18" charset="0"/>
                <a:cs typeface="Times New Roman" panose="02020603050405020304" pitchFamily="18" charset="0"/>
              </a:rPr>
              <a:t>Redundancy is limited</a:t>
            </a:r>
          </a:p>
          <a:p>
            <a:pPr marL="571500" indent="-571500" algn="just">
              <a:buFont typeface="+mj-lt"/>
              <a:buAutoNum type="romanLcPeriod"/>
            </a:pPr>
            <a:r>
              <a:rPr lang="en-US" dirty="0">
                <a:latin typeface="Times New Roman" panose="02020603050405020304" pitchFamily="18" charset="0"/>
                <a:cs typeface="Times New Roman" panose="02020603050405020304" pitchFamily="18" charset="0"/>
              </a:rPr>
              <a:t>Costs less (compared to mesh/star topologies)</a:t>
            </a:r>
          </a:p>
          <a:p>
            <a:pPr marL="571500" indent="-571500" algn="just">
              <a:buFont typeface="+mj-lt"/>
              <a:buAutoNum type="romanLcPeriod"/>
            </a:pPr>
            <a:r>
              <a:rPr lang="en-US" dirty="0">
                <a:latin typeface="Times New Roman" panose="02020603050405020304" pitchFamily="18" charset="0"/>
                <a:cs typeface="Times New Roman" panose="02020603050405020304" pitchFamily="18" charset="0"/>
              </a:rPr>
              <a:t>Mostly used in small networks, good for LAN.</a:t>
            </a:r>
          </a:p>
          <a:p>
            <a:pPr algn="just"/>
            <a:r>
              <a:rPr lang="en-US" b="1" dirty="0">
                <a:latin typeface="Times New Roman" panose="02020603050405020304" pitchFamily="18" charset="0"/>
                <a:cs typeface="Times New Roman" panose="02020603050405020304" pitchFamily="18" charset="0"/>
              </a:rPr>
              <a:t>Disadvantages of Bus topology</a:t>
            </a:r>
          </a:p>
          <a:p>
            <a:pPr marL="571500" indent="-571500" algn="just">
              <a:buFont typeface="+mj-lt"/>
              <a:buAutoNum type="romanLcPeriod"/>
            </a:pPr>
            <a:r>
              <a:rPr lang="en-US" dirty="0">
                <a:latin typeface="Times New Roman" panose="02020603050405020304" pitchFamily="18" charset="0"/>
                <a:cs typeface="Times New Roman" panose="02020603050405020304" pitchFamily="18" charset="0"/>
              </a:rPr>
              <a:t>Difficult to detect and troubleshoot fault</a:t>
            </a:r>
          </a:p>
          <a:p>
            <a:pPr marL="571500" indent="-571500" algn="just">
              <a:buFont typeface="+mj-lt"/>
              <a:buAutoNum type="romanLcPeriod"/>
            </a:pPr>
            <a:r>
              <a:rPr lang="en-US" dirty="0">
                <a:latin typeface="Times New Roman" panose="02020603050405020304" pitchFamily="18" charset="0"/>
                <a:cs typeface="Times New Roman" panose="02020603050405020304" pitchFamily="18" charset="0"/>
              </a:rPr>
              <a:t>Signal reflection at the taps can cause degradation in quality</a:t>
            </a:r>
          </a:p>
          <a:p>
            <a:pPr marL="571500" indent="-571500" algn="just">
              <a:buFont typeface="+mj-lt"/>
              <a:buAutoNum type="romanLcPeriod"/>
            </a:pPr>
            <a:r>
              <a:rPr lang="en-US" dirty="0">
                <a:latin typeface="Times New Roman" panose="02020603050405020304" pitchFamily="18" charset="0"/>
                <a:cs typeface="Times New Roman" panose="02020603050405020304" pitchFamily="18" charset="0"/>
              </a:rPr>
              <a:t>A fault / break in the cable stops all transmission</a:t>
            </a:r>
          </a:p>
          <a:p>
            <a:pPr marL="571500" indent="-571500" algn="just">
              <a:buFont typeface="+mj-lt"/>
              <a:buAutoNum type="romanLcPeriod"/>
            </a:pPr>
            <a:r>
              <a:rPr lang="en-US" dirty="0">
                <a:latin typeface="Times New Roman" panose="02020603050405020304" pitchFamily="18" charset="0"/>
                <a:cs typeface="Times New Roman" panose="02020603050405020304" pitchFamily="18" charset="0"/>
              </a:rPr>
              <a:t>There is a limit on:</a:t>
            </a:r>
          </a:p>
          <a:p>
            <a:pPr marL="1028700" lvl="1" indent="-571500" algn="just">
              <a:buFont typeface="+mj-lt"/>
              <a:buAutoNum type="romanLcPeriod"/>
            </a:pPr>
            <a:r>
              <a:rPr lang="en-US" dirty="0">
                <a:latin typeface="Times New Roman" panose="02020603050405020304" pitchFamily="18" charset="0"/>
                <a:cs typeface="Times New Roman" panose="02020603050405020304" pitchFamily="18" charset="0"/>
              </a:rPr>
              <a:t>Cable length</a:t>
            </a:r>
          </a:p>
          <a:p>
            <a:pPr marL="1028700" lvl="1" indent="-571500" algn="just">
              <a:buFont typeface="+mj-lt"/>
              <a:buAutoNum type="romanLcPeriod"/>
            </a:pPr>
            <a:r>
              <a:rPr lang="en-US" dirty="0">
                <a:latin typeface="Times New Roman" panose="02020603050405020304" pitchFamily="18" charset="0"/>
                <a:cs typeface="Times New Roman" panose="02020603050405020304" pitchFamily="18" charset="0"/>
              </a:rPr>
              <a:t>Number of nodes that can be connected.</a:t>
            </a:r>
          </a:p>
          <a:p>
            <a:pPr marL="571500" indent="-571500" algn="just">
              <a:buFont typeface="+mj-lt"/>
              <a:buAutoNum type="romanLcPeriod"/>
            </a:pPr>
            <a:r>
              <a:rPr lang="en-US" dirty="0">
                <a:latin typeface="Times New Roman" panose="02020603050405020304" pitchFamily="18" charset="0"/>
                <a:cs typeface="Times New Roman" panose="02020603050405020304" pitchFamily="18" charset="0"/>
              </a:rPr>
              <a:t>Security is very low because all the devices receive the data sent from the source.</a:t>
            </a:r>
          </a:p>
          <a:p>
            <a:pPr algn="just"/>
            <a:endParaRPr lang="en-US" dirty="0">
              <a:latin typeface="Times New Roman" panose="02020603050405020304" pitchFamily="18" charset="0"/>
              <a:cs typeface="Times New Roman" panose="02020603050405020304" pitchFamily="18" charset="0"/>
            </a:endParaRPr>
          </a:p>
          <a:p>
            <a:endParaRPr lang="en-GB"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p:cNvGrpSpPr/>
          <p:nvPr/>
        </p:nvGrpSpPr>
        <p:grpSpPr>
          <a:xfrm>
            <a:off x="2181496" y="757645"/>
            <a:ext cx="7720149" cy="4484133"/>
            <a:chOff x="2181496" y="757645"/>
            <a:chExt cx="7720149" cy="4484133"/>
          </a:xfrm>
        </p:grpSpPr>
        <p:grpSp>
          <p:nvGrpSpPr>
            <p:cNvPr id="2" name="Group 1"/>
            <p:cNvGrpSpPr/>
            <p:nvPr/>
          </p:nvGrpSpPr>
          <p:grpSpPr>
            <a:xfrm>
              <a:off x="2181496" y="757645"/>
              <a:ext cx="7720149" cy="3566159"/>
              <a:chOff x="3699591" y="4348361"/>
              <a:chExt cx="5673786" cy="2326741"/>
            </a:xfrm>
          </p:grpSpPr>
          <p:pic>
            <p:nvPicPr>
              <p:cNvPr id="3" name="Content Placeholder 3"/>
              <p:cNvPicPr>
                <a:picLocks noChangeAspect="1"/>
              </p:cNvPicPr>
              <p:nvPr/>
            </p:nvPicPr>
            <p:blipFill>
              <a:blip r:embed="rId2"/>
              <a:stretch>
                <a:fillRect/>
              </a:stretch>
            </p:blipFill>
            <p:spPr>
              <a:xfrm>
                <a:off x="3699591" y="4348361"/>
                <a:ext cx="5069941" cy="2326741"/>
              </a:xfrm>
              <a:prstGeom prst="rect">
                <a:avLst/>
              </a:prstGeom>
            </p:spPr>
          </p:pic>
          <p:sp>
            <p:nvSpPr>
              <p:cNvPr id="4" name="Rectangle 3"/>
              <p:cNvSpPr/>
              <p:nvPr/>
            </p:nvSpPr>
            <p:spPr>
              <a:xfrm>
                <a:off x="7757783" y="5408023"/>
                <a:ext cx="261257" cy="1436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6956983" y="5408023"/>
                <a:ext cx="261257" cy="1436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p:cNvSpPr/>
              <p:nvPr/>
            </p:nvSpPr>
            <p:spPr>
              <a:xfrm>
                <a:off x="5355383" y="5408023"/>
                <a:ext cx="261257" cy="1436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6156183" y="5368040"/>
                <a:ext cx="261257" cy="1436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p:cNvSpPr/>
              <p:nvPr/>
            </p:nvSpPr>
            <p:spPr>
              <a:xfrm>
                <a:off x="4463142" y="5368040"/>
                <a:ext cx="261257" cy="1436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p:cNvSpPr txBox="1"/>
              <p:nvPr/>
            </p:nvSpPr>
            <p:spPr>
              <a:xfrm>
                <a:off x="8228975" y="5038691"/>
                <a:ext cx="1144402" cy="369332"/>
              </a:xfrm>
              <a:prstGeom prst="rect">
                <a:avLst/>
              </a:prstGeom>
              <a:noFill/>
            </p:spPr>
            <p:txBody>
              <a:bodyPr wrap="square" rtlCol="0">
                <a:spAutoFit/>
              </a:bodyPr>
              <a:lstStyle/>
              <a:p>
                <a:r>
                  <a:rPr lang="en-US" dirty="0"/>
                  <a:t>Drop line</a:t>
                </a:r>
                <a:endParaRPr lang="en-GB" dirty="0"/>
              </a:p>
            </p:txBody>
          </p:sp>
          <p:sp>
            <p:nvSpPr>
              <p:cNvPr id="10" name="TextBox 9"/>
              <p:cNvSpPr txBox="1"/>
              <p:nvPr/>
            </p:nvSpPr>
            <p:spPr>
              <a:xfrm>
                <a:off x="5260989" y="5055326"/>
                <a:ext cx="530597" cy="369332"/>
              </a:xfrm>
              <a:prstGeom prst="rect">
                <a:avLst/>
              </a:prstGeom>
              <a:noFill/>
            </p:spPr>
            <p:txBody>
              <a:bodyPr wrap="square" rtlCol="0">
                <a:spAutoFit/>
              </a:bodyPr>
              <a:lstStyle/>
              <a:p>
                <a:r>
                  <a:rPr lang="en-US" dirty="0"/>
                  <a:t>Tap</a:t>
                </a:r>
                <a:endParaRPr lang="en-GB" dirty="0"/>
              </a:p>
            </p:txBody>
          </p:sp>
          <p:cxnSp>
            <p:nvCxnSpPr>
              <p:cNvPr id="11" name="Straight Connector 10"/>
              <p:cNvCxnSpPr/>
              <p:nvPr/>
            </p:nvCxnSpPr>
            <p:spPr>
              <a:xfrm flipV="1">
                <a:off x="7888411" y="5223357"/>
                <a:ext cx="471818" cy="16635"/>
              </a:xfrm>
              <a:prstGeom prst="line">
                <a:avLst/>
              </a:prstGeom>
            </p:spPr>
            <p:style>
              <a:lnRef idx="1">
                <a:schemeClr val="accent1"/>
              </a:lnRef>
              <a:fillRef idx="0">
                <a:schemeClr val="accent1"/>
              </a:fillRef>
              <a:effectRef idx="0">
                <a:schemeClr val="accent1"/>
              </a:effectRef>
              <a:fontRef idx="minor">
                <a:schemeClr val="tx1"/>
              </a:fontRef>
            </p:style>
          </p:cxnSp>
        </p:grpSp>
        <p:sp>
          <p:nvSpPr>
            <p:cNvPr id="12" name="TextBox 11"/>
            <p:cNvSpPr txBox="1"/>
            <p:nvPr/>
          </p:nvSpPr>
          <p:spPr>
            <a:xfrm>
              <a:off x="4376057" y="4872446"/>
              <a:ext cx="1724297" cy="369332"/>
            </a:xfrm>
            <a:prstGeom prst="rect">
              <a:avLst/>
            </a:prstGeom>
            <a:noFill/>
          </p:spPr>
          <p:txBody>
            <a:bodyPr wrap="square" rtlCol="0">
              <a:spAutoFit/>
            </a:bodyPr>
            <a:lstStyle/>
            <a:p>
              <a:r>
                <a:rPr lang="en-US" dirty="0"/>
                <a:t>Bus Topology</a:t>
              </a:r>
              <a:endParaRPr lang="en-GB" dirty="0"/>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74320"/>
            <a:ext cx="10515600" cy="5902643"/>
          </a:xfrm>
        </p:spPr>
        <p:txBody>
          <a:bodyPr>
            <a:normAutofit lnSpcReduction="10000"/>
          </a:bodyPr>
          <a:lstStyle/>
          <a:p>
            <a:pPr marL="0" indent="0" algn="ctr">
              <a:buNone/>
            </a:pPr>
            <a:r>
              <a:rPr lang="en-US" b="1" dirty="0">
                <a:latin typeface="Times New Roman" panose="02020603050405020304" pitchFamily="18" charset="0"/>
                <a:cs typeface="Times New Roman" panose="02020603050405020304" pitchFamily="18" charset="0"/>
              </a:rPr>
              <a:t>Ring topology </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All devices are connected to one another in the shape of a closed loop (ring), so that each device is connected directly to two other devices, one on either side of it. </a:t>
            </a:r>
          </a:p>
          <a:p>
            <a:pPr algn="just"/>
            <a:r>
              <a:rPr lang="en-US" dirty="0">
                <a:latin typeface="Times New Roman" panose="02020603050405020304" pitchFamily="18" charset="0"/>
                <a:cs typeface="Times New Roman" panose="02020603050405020304" pitchFamily="18" charset="0"/>
              </a:rPr>
              <a:t>When one device tries to communicate or send message to a device which is not adjacent to it, the data travels in one direction around the network till the destination is reached.</a:t>
            </a:r>
          </a:p>
          <a:p>
            <a:pPr algn="just"/>
            <a:r>
              <a:rPr lang="en-US" dirty="0">
                <a:latin typeface="Times New Roman" panose="02020603050405020304" pitchFamily="18" charset="0"/>
                <a:cs typeface="Times New Roman" panose="02020603050405020304" pitchFamily="18" charset="0"/>
              </a:rPr>
              <a:t>Sending and receiving of data takes place by the help of token.</a:t>
            </a:r>
          </a:p>
          <a:p>
            <a:pPr algn="just"/>
            <a:r>
              <a:rPr lang="en-US" dirty="0">
                <a:latin typeface="Times New Roman" panose="02020603050405020304" pitchFamily="18" charset="0"/>
                <a:cs typeface="Times New Roman" panose="02020603050405020304" pitchFamily="18" charset="0"/>
              </a:rPr>
              <a:t>Each device has a repeater.</a:t>
            </a:r>
          </a:p>
          <a:p>
            <a:pPr algn="just"/>
            <a:r>
              <a:rPr lang="en-US" dirty="0">
                <a:latin typeface="Times New Roman" panose="02020603050405020304" pitchFamily="18" charset="0"/>
                <a:cs typeface="Times New Roman" panose="02020603050405020304" pitchFamily="18" charset="0"/>
              </a:rPr>
              <a:t>A repeater</a:t>
            </a:r>
          </a:p>
          <a:p>
            <a:pPr lvl="1" algn="just"/>
            <a:r>
              <a:rPr lang="en-US" dirty="0">
                <a:latin typeface="Times New Roman" panose="02020603050405020304" pitchFamily="18" charset="0"/>
                <a:cs typeface="Times New Roman" panose="02020603050405020304" pitchFamily="18" charset="0"/>
              </a:rPr>
              <a:t>Receives a signal on transmission medium and</a:t>
            </a:r>
          </a:p>
          <a:p>
            <a:pPr lvl="1" algn="just"/>
            <a:r>
              <a:rPr lang="en-US" dirty="0">
                <a:latin typeface="Times New Roman" panose="02020603050405020304" pitchFamily="18" charset="0"/>
                <a:cs typeface="Times New Roman" panose="02020603050405020304" pitchFamily="18" charset="0"/>
              </a:rPr>
              <a:t>Regenerates and passes the signal to the next device</a:t>
            </a:r>
          </a:p>
          <a:p>
            <a:pPr algn="just"/>
            <a:r>
              <a:rPr lang="en-US" dirty="0">
                <a:latin typeface="Times New Roman" panose="02020603050405020304" pitchFamily="18" charset="0"/>
                <a:cs typeface="Times New Roman" panose="02020603050405020304" pitchFamily="18" charset="0"/>
              </a:rPr>
              <a:t>Failure of any host results in failure of the whole ring. Thus, every connection in the ring is a point of failure.</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28600"/>
            <a:ext cx="10515600" cy="5948363"/>
          </a:xfrm>
        </p:spPr>
        <p:txBody>
          <a:bodyPr>
            <a:normAutofit fontScale="92500" lnSpcReduction="20000"/>
          </a:bodyPr>
          <a:lstStyle/>
          <a:p>
            <a:r>
              <a:rPr lang="en-US" b="1" dirty="0"/>
              <a:t>Advantages of Ring topology</a:t>
            </a:r>
          </a:p>
          <a:p>
            <a:pPr marL="571500" indent="-571500">
              <a:buFont typeface="+mj-lt"/>
              <a:buAutoNum type="romanLcPeriod"/>
            </a:pPr>
            <a:r>
              <a:rPr lang="en-US" dirty="0"/>
              <a:t>Easy to install and reconfigure: to add/delete a device, requires changing only 2 connections.</a:t>
            </a:r>
          </a:p>
          <a:p>
            <a:pPr marL="571500" indent="-571500">
              <a:buFont typeface="+mj-lt"/>
              <a:buAutoNum type="romanLcPeriod"/>
            </a:pPr>
            <a:r>
              <a:rPr lang="en-US" dirty="0"/>
              <a:t>Fault isolation is simplified: if one device does not receive a signal within a specified period, it can issue an alarm. The alarm alerts the network operator  the problem and its location</a:t>
            </a:r>
          </a:p>
          <a:p>
            <a:pPr marL="571500" indent="-571500">
              <a:buFont typeface="+mj-lt"/>
              <a:buAutoNum type="romanLcPeriod"/>
            </a:pPr>
            <a:r>
              <a:rPr lang="en-US" dirty="0"/>
              <a:t>Congestion is reduced: because all the traffic flows in only one direction.</a:t>
            </a:r>
          </a:p>
          <a:p>
            <a:r>
              <a:rPr lang="en-US" b="1" dirty="0"/>
              <a:t>Disadvantages of Ring topology</a:t>
            </a:r>
          </a:p>
          <a:p>
            <a:pPr marL="571500" indent="-571500">
              <a:buFont typeface="+mj-lt"/>
              <a:buAutoNum type="romanLcPeriod"/>
            </a:pPr>
            <a:r>
              <a:rPr lang="en-US" dirty="0"/>
              <a:t>Unidirectional traffic</a:t>
            </a:r>
          </a:p>
          <a:p>
            <a:pPr marL="571500" indent="-571500">
              <a:buFont typeface="+mj-lt"/>
              <a:buAutoNum type="romanLcPeriod"/>
            </a:pPr>
            <a:r>
              <a:rPr lang="en-US" dirty="0"/>
              <a:t>A fault in the ring/device stops all transmission</a:t>
            </a:r>
          </a:p>
          <a:p>
            <a:pPr marL="571500" indent="-571500">
              <a:buFont typeface="+mj-lt"/>
              <a:buAutoNum type="romanLcPeriod"/>
            </a:pPr>
            <a:r>
              <a:rPr lang="en-US" dirty="0"/>
              <a:t>There’s a limit on:</a:t>
            </a:r>
          </a:p>
          <a:p>
            <a:pPr marL="1028700" lvl="1" indent="-571500">
              <a:buFont typeface="+mj-lt"/>
              <a:buAutoNum type="romanLcPeriod"/>
            </a:pPr>
            <a:r>
              <a:rPr lang="en-US" sz="2800" dirty="0"/>
              <a:t>Cable length</a:t>
            </a:r>
          </a:p>
          <a:p>
            <a:pPr marL="1028700" lvl="1" indent="-571500">
              <a:buFont typeface="+mj-lt"/>
              <a:buAutoNum type="romanLcPeriod"/>
            </a:pPr>
            <a:r>
              <a:rPr lang="en-US" sz="2800" dirty="0"/>
              <a:t>Number of nodes that can be connected</a:t>
            </a:r>
          </a:p>
          <a:p>
            <a:pPr marL="571500" indent="-571500">
              <a:buFont typeface="+mj-lt"/>
              <a:buAutoNum type="romanLcPeriod"/>
            </a:pPr>
            <a:r>
              <a:rPr lang="en-US" dirty="0"/>
              <a:t>Slower: each data must pass through all the devices between source and destination.</a:t>
            </a:r>
            <a:endParaRPr lang="en-GB"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410789" y="666206"/>
            <a:ext cx="8569234" cy="5006646"/>
            <a:chOff x="1410789" y="666206"/>
            <a:chExt cx="8569234" cy="5006646"/>
          </a:xfrm>
        </p:grpSpPr>
        <p:pic>
          <p:nvPicPr>
            <p:cNvPr id="2" name="Picture 1"/>
            <p:cNvPicPr>
              <a:picLocks noChangeAspect="1"/>
            </p:cNvPicPr>
            <p:nvPr/>
          </p:nvPicPr>
          <p:blipFill>
            <a:blip r:embed="rId2"/>
            <a:stretch>
              <a:fillRect/>
            </a:stretch>
          </p:blipFill>
          <p:spPr>
            <a:xfrm>
              <a:off x="1410789" y="666206"/>
              <a:ext cx="8569234" cy="4240364"/>
            </a:xfrm>
            <a:prstGeom prst="rect">
              <a:avLst/>
            </a:prstGeom>
          </p:spPr>
        </p:pic>
        <p:sp>
          <p:nvSpPr>
            <p:cNvPr id="3" name="TextBox 2"/>
            <p:cNvSpPr txBox="1"/>
            <p:nvPr/>
          </p:nvSpPr>
          <p:spPr>
            <a:xfrm>
              <a:off x="3722914" y="5303520"/>
              <a:ext cx="2076995" cy="369332"/>
            </a:xfrm>
            <a:prstGeom prst="rect">
              <a:avLst/>
            </a:prstGeom>
            <a:noFill/>
          </p:spPr>
          <p:txBody>
            <a:bodyPr wrap="square" rtlCol="0">
              <a:spAutoFit/>
            </a:bodyPr>
            <a:lstStyle/>
            <a:p>
              <a:r>
                <a:rPr lang="en-US" dirty="0"/>
                <a:t>Ring topology</a:t>
              </a:r>
              <a:endParaRPr lang="en-GB" dirty="0"/>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0"/>
            <a:ext cx="10515600" cy="6176963"/>
          </a:xfrm>
        </p:spPr>
        <p:txBody>
          <a:bodyPr>
            <a:normAutofit lnSpcReduction="10000"/>
          </a:bodyPr>
          <a:lstStyle/>
          <a:p>
            <a:pPr marL="0" indent="0" algn="ctr">
              <a:buNone/>
            </a:pPr>
            <a:r>
              <a:rPr lang="en-US" b="1" dirty="0">
                <a:latin typeface="Times New Roman" panose="02020603050405020304" pitchFamily="18" charset="0"/>
                <a:cs typeface="Times New Roman" panose="02020603050405020304" pitchFamily="18" charset="0"/>
              </a:rPr>
              <a:t>Star topology</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All the devices are connected to a central controller called a hub. </a:t>
            </a:r>
          </a:p>
          <a:p>
            <a:pPr algn="just"/>
            <a:r>
              <a:rPr lang="en-US" dirty="0">
                <a:latin typeface="Times New Roman" panose="02020603050405020304" pitchFamily="18" charset="0"/>
                <a:cs typeface="Times New Roman" panose="02020603050405020304" pitchFamily="18" charset="0"/>
              </a:rPr>
              <a:t>That is, there exists a dedicated point-to-point connection between a device and a hub. </a:t>
            </a:r>
          </a:p>
          <a:p>
            <a:pPr algn="just"/>
            <a:r>
              <a:rPr lang="en-US" dirty="0">
                <a:latin typeface="Times New Roman" panose="02020603050405020304" pitchFamily="18" charset="0"/>
                <a:cs typeface="Times New Roman" panose="02020603050405020304" pitchFamily="18" charset="0"/>
              </a:rPr>
              <a:t>The devices are not directly linked to one another. Thus, there’s no direct traffic between devices.</a:t>
            </a:r>
          </a:p>
          <a:p>
            <a:pPr algn="just"/>
            <a:r>
              <a:rPr lang="en-US" dirty="0">
                <a:latin typeface="Times New Roman" panose="02020603050405020304" pitchFamily="18" charset="0"/>
                <a:cs typeface="Times New Roman" panose="02020603050405020304" pitchFamily="18" charset="0"/>
              </a:rPr>
              <a:t>The hub acts as a junction:</a:t>
            </a:r>
          </a:p>
          <a:p>
            <a:pPr marL="457200" lvl="1" indent="0" algn="just">
              <a:buNone/>
            </a:pPr>
            <a:r>
              <a:rPr lang="en-US" sz="2800" dirty="0">
                <a:latin typeface="Times New Roman" panose="02020603050405020304" pitchFamily="18" charset="0"/>
                <a:cs typeface="Times New Roman" panose="02020603050405020304" pitchFamily="18" charset="0"/>
              </a:rPr>
              <a:t>If a device-1 wants to send data to device-2, </a:t>
            </a:r>
          </a:p>
          <a:p>
            <a:pPr marL="914400" lvl="2" indent="0" algn="just">
              <a:buNone/>
            </a:pPr>
            <a:r>
              <a:rPr lang="en-US" sz="2800" dirty="0">
                <a:latin typeface="Times New Roman" panose="02020603050405020304" pitchFamily="18" charset="0"/>
                <a:cs typeface="Times New Roman" panose="02020603050405020304" pitchFamily="18" charset="0"/>
              </a:rPr>
              <a:t>The device sends the data to the hub,</a:t>
            </a:r>
          </a:p>
          <a:p>
            <a:pPr marL="1371600" lvl="3" indent="0" algn="just">
              <a:buNone/>
            </a:pPr>
            <a:r>
              <a:rPr lang="en-US" sz="2800" dirty="0">
                <a:latin typeface="Times New Roman" panose="02020603050405020304" pitchFamily="18" charset="0"/>
                <a:cs typeface="Times New Roman" panose="02020603050405020304" pitchFamily="18" charset="0"/>
              </a:rPr>
              <a:t>Then, the hub relays the data to the device-2</a:t>
            </a:r>
          </a:p>
          <a:p>
            <a:pPr algn="just"/>
            <a:r>
              <a:rPr lang="en-US" dirty="0">
                <a:latin typeface="Times New Roman" panose="02020603050405020304" pitchFamily="18" charset="0"/>
                <a:cs typeface="Times New Roman" panose="02020603050405020304" pitchFamily="18" charset="0"/>
              </a:rPr>
              <a:t>The central device can be any of the following: </a:t>
            </a:r>
          </a:p>
          <a:p>
            <a:pPr lvl="1" algn="just"/>
            <a:r>
              <a:rPr lang="en-US" sz="2800" dirty="0">
                <a:latin typeface="Times New Roman" panose="02020603050405020304" pitchFamily="18" charset="0"/>
                <a:cs typeface="Times New Roman" panose="02020603050405020304" pitchFamily="18" charset="0"/>
              </a:rPr>
              <a:t>Layer-1 device such as hub or repeater </a:t>
            </a:r>
          </a:p>
          <a:p>
            <a:pPr lvl="1" algn="just"/>
            <a:r>
              <a:rPr lang="en-US" sz="2800" dirty="0">
                <a:latin typeface="Times New Roman" panose="02020603050405020304" pitchFamily="18" charset="0"/>
                <a:cs typeface="Times New Roman" panose="02020603050405020304" pitchFamily="18" charset="0"/>
              </a:rPr>
              <a:t>Layer-2 device such as switch or bridge </a:t>
            </a:r>
          </a:p>
          <a:p>
            <a:pPr lvl="1" algn="just"/>
            <a:r>
              <a:rPr lang="en-US" sz="2800" dirty="0">
                <a:latin typeface="Times New Roman" panose="02020603050405020304" pitchFamily="18" charset="0"/>
                <a:cs typeface="Times New Roman" panose="02020603050405020304" pitchFamily="18" charset="0"/>
              </a:rPr>
              <a:t>Layer-3 device such as router or gateway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567543" y="561703"/>
            <a:ext cx="8216537" cy="5163400"/>
            <a:chOff x="1567543" y="561703"/>
            <a:chExt cx="8216537" cy="5163400"/>
          </a:xfrm>
        </p:grpSpPr>
        <p:pic>
          <p:nvPicPr>
            <p:cNvPr id="2" name="Picture 1"/>
            <p:cNvPicPr>
              <a:picLocks noChangeAspect="1"/>
            </p:cNvPicPr>
            <p:nvPr/>
          </p:nvPicPr>
          <p:blipFill>
            <a:blip r:embed="rId2"/>
            <a:stretch>
              <a:fillRect/>
            </a:stretch>
          </p:blipFill>
          <p:spPr>
            <a:xfrm>
              <a:off x="1567543" y="561703"/>
              <a:ext cx="8216537" cy="4362994"/>
            </a:xfrm>
            <a:prstGeom prst="rect">
              <a:avLst/>
            </a:prstGeom>
          </p:spPr>
        </p:pic>
        <p:sp>
          <p:nvSpPr>
            <p:cNvPr id="3" name="TextBox 2"/>
            <p:cNvSpPr txBox="1"/>
            <p:nvPr/>
          </p:nvSpPr>
          <p:spPr>
            <a:xfrm>
              <a:off x="4493623" y="5355771"/>
              <a:ext cx="2638697" cy="369332"/>
            </a:xfrm>
            <a:prstGeom prst="rect">
              <a:avLst/>
            </a:prstGeom>
            <a:noFill/>
          </p:spPr>
          <p:txBody>
            <a:bodyPr wrap="square" rtlCol="0">
              <a:spAutoFit/>
            </a:bodyPr>
            <a:lstStyle/>
            <a:p>
              <a:r>
                <a:rPr lang="en-US" dirty="0"/>
                <a:t>Start topology</a:t>
              </a:r>
              <a:endParaRPr lang="en-GB" dirty="0"/>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52697"/>
            <a:ext cx="10515600" cy="5824266"/>
          </a:xfrm>
        </p:spPr>
        <p:txBody>
          <a:bodyPr>
            <a:normAutofit fontScale="92500" lnSpcReduction="10000"/>
          </a:bodyPr>
          <a:lstStyle/>
          <a:p>
            <a:r>
              <a:rPr lang="en-US" b="1" dirty="0"/>
              <a:t>Advantages of Star topology</a:t>
            </a:r>
          </a:p>
          <a:p>
            <a:pPr marL="571500" indent="-571500">
              <a:buFont typeface="+mj-lt"/>
              <a:buAutoNum type="romanLcPeriod"/>
            </a:pPr>
            <a:r>
              <a:rPr lang="en-US" dirty="0"/>
              <a:t>Less expensive: each device needs only one link and one I/O port to connect it to any devices.</a:t>
            </a:r>
          </a:p>
          <a:p>
            <a:pPr marL="571500" indent="-571500">
              <a:buFont typeface="+mj-lt"/>
              <a:buAutoNum type="romanLcPeriod"/>
            </a:pPr>
            <a:r>
              <a:rPr lang="en-US" dirty="0"/>
              <a:t>Easy to install and reconfigure: nodes can be added/ removed without affecting the network.</a:t>
            </a:r>
          </a:p>
          <a:p>
            <a:pPr marL="571500" indent="-571500">
              <a:buFont typeface="+mj-lt"/>
              <a:buAutoNum type="romanLcPeriod"/>
            </a:pPr>
            <a:r>
              <a:rPr lang="en-US" dirty="0"/>
              <a:t>Robustness: if one link fails, it does not affect the entire system.</a:t>
            </a:r>
          </a:p>
          <a:p>
            <a:pPr marL="571500" indent="-571500">
              <a:buFont typeface="+mj-lt"/>
              <a:buAutoNum type="romanLcPeriod"/>
            </a:pPr>
            <a:r>
              <a:rPr lang="en-US" dirty="0"/>
              <a:t>Easy to detect and troubleshoot fault.</a:t>
            </a:r>
          </a:p>
          <a:p>
            <a:pPr marL="571500" indent="-571500">
              <a:buFont typeface="+mj-lt"/>
              <a:buAutoNum type="romanLcPeriod"/>
            </a:pPr>
            <a:r>
              <a:rPr lang="en-US" dirty="0"/>
              <a:t>Centralized management: the hub manages and controls the whole network.</a:t>
            </a:r>
          </a:p>
          <a:p>
            <a:pPr marL="0" indent="0">
              <a:buNone/>
            </a:pPr>
            <a:endParaRPr lang="en-US" dirty="0"/>
          </a:p>
          <a:p>
            <a:r>
              <a:rPr lang="en-US" b="1" dirty="0"/>
              <a:t>Disadvantages of star topology</a:t>
            </a:r>
          </a:p>
          <a:p>
            <a:pPr marL="571500" indent="-571500">
              <a:buFont typeface="+mj-lt"/>
              <a:buAutoNum type="romanLcPeriod"/>
            </a:pPr>
            <a:r>
              <a:rPr lang="en-US" dirty="0"/>
              <a:t>Single point of failure: if the hub goes down, the whole network is dead</a:t>
            </a:r>
          </a:p>
          <a:p>
            <a:pPr marL="571500" indent="-571500">
              <a:buFont typeface="+mj-lt"/>
              <a:buAutoNum type="romanLcPeriod"/>
            </a:pPr>
            <a:r>
              <a:rPr lang="en-US" dirty="0"/>
              <a:t>Cable length required is more compared to bus/ring topologies</a:t>
            </a:r>
          </a:p>
          <a:p>
            <a:pPr marL="571500" indent="-571500">
              <a:buFont typeface="+mj-lt"/>
              <a:buAutoNum type="romanLcPeriod"/>
            </a:pPr>
            <a:r>
              <a:rPr lang="en-US" dirty="0"/>
              <a:t>Number of nodes in a network depends on capacity of hub</a:t>
            </a:r>
          </a:p>
          <a:p>
            <a:pPr marL="571500" indent="-571500">
              <a:buFont typeface="+mj-lt"/>
              <a:buAutoNum type="romanLcPeriod"/>
            </a:pPr>
            <a:endParaRPr lang="en-GB"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0304"/>
            <a:ext cx="10515600" cy="5996659"/>
          </a:xfrm>
        </p:spPr>
        <p:txBody>
          <a:bodyPr>
            <a:normAutofit fontScale="92500" lnSpcReduction="20000"/>
          </a:bodyPr>
          <a:lstStyle/>
          <a:p>
            <a:pPr marL="0" indent="0" algn="ctr">
              <a:buNone/>
            </a:pPr>
            <a:r>
              <a:rPr lang="en-US" b="1" dirty="0"/>
              <a:t>Mesh Topology</a:t>
            </a:r>
            <a:endParaRPr lang="en-US" b="1" dirty="0">
              <a:latin typeface="Times New Roman" panose="02020603050405020304" pitchFamily="18" charset="0"/>
              <a:cs typeface="Times New Roman" panose="02020603050405020304" pitchFamily="18" charset="0"/>
            </a:endParaRPr>
          </a:p>
          <a:p>
            <a:pPr algn="l"/>
            <a:r>
              <a:rPr lang="en-US" b="0" i="0" u="none" strike="noStrike" baseline="0" dirty="0">
                <a:latin typeface="Times New Roman" panose="02020603050405020304" pitchFamily="18" charset="0"/>
                <a:cs typeface="Times New Roman" panose="02020603050405020304" pitchFamily="18" charset="0"/>
              </a:rPr>
              <a:t>It is a point-to-point connection to other nodes or </a:t>
            </a:r>
            <a:r>
              <a:rPr lang="en-US" b="0" i="0" u="none" strike="noStrike" baseline="0">
                <a:latin typeface="Times New Roman" panose="02020603050405020304" pitchFamily="18" charset="0"/>
                <a:cs typeface="Times New Roman" panose="02020603050405020304" pitchFamily="18" charset="0"/>
              </a:rPr>
              <a:t>devices. </a:t>
            </a:r>
            <a:endParaRPr lang="en-US" b="0" i="0" u="none" strike="noStrike" baseline="0" dirty="0">
              <a:latin typeface="Times New Roman" panose="02020603050405020304" pitchFamily="18" charset="0"/>
              <a:cs typeface="Times New Roman" panose="02020603050405020304" pitchFamily="18" charset="0"/>
            </a:endParaRPr>
          </a:p>
          <a:p>
            <a:pPr algn="l"/>
            <a:r>
              <a:rPr lang="en-US" dirty="0">
                <a:latin typeface="Times New Roman" panose="02020603050405020304" pitchFamily="18" charset="0"/>
                <a:cs typeface="Times New Roman" panose="02020603050405020304" pitchFamily="18" charset="0"/>
              </a:rPr>
              <a:t>Every device not only sends its only data but also relays data from other nodes.</a:t>
            </a:r>
          </a:p>
          <a:p>
            <a:pPr algn="l"/>
            <a:r>
              <a:rPr lang="en-US" b="0" i="0" u="none" strike="noStrike" baseline="0" dirty="0">
                <a:latin typeface="Times New Roman" panose="02020603050405020304" pitchFamily="18" charset="0"/>
                <a:cs typeface="Times New Roman" panose="02020603050405020304" pitchFamily="18" charset="0"/>
              </a:rPr>
              <a:t>Every</a:t>
            </a:r>
            <a:r>
              <a:rPr lang="en-US" b="0" i="0" u="none" strike="noStrike" dirty="0">
                <a:latin typeface="Times New Roman" panose="02020603050405020304" pitchFamily="18" charset="0"/>
                <a:cs typeface="Times New Roman" panose="02020603050405020304" pitchFamily="18" charset="0"/>
              </a:rPr>
              <a:t> device must have (n-1) I/O ports to be connected to the other (n-1) devices.</a:t>
            </a:r>
            <a:endParaRPr lang="en-US" b="0" i="0" u="none" strike="noStrike" baseline="0" dirty="0">
              <a:latin typeface="Times New Roman" panose="02020603050405020304" pitchFamily="18" charset="0"/>
              <a:cs typeface="Times New Roman" panose="02020603050405020304" pitchFamily="18" charset="0"/>
            </a:endParaRPr>
          </a:p>
          <a:p>
            <a:pPr algn="l"/>
            <a:r>
              <a:rPr lang="en-US" b="0" i="0" u="none" strike="noStrike" baseline="0" dirty="0">
                <a:latin typeface="Times New Roman" panose="02020603050405020304" pitchFamily="18" charset="0"/>
                <a:cs typeface="Times New Roman" panose="02020603050405020304" pitchFamily="18" charset="0"/>
              </a:rPr>
              <a:t>Mesh has n(n-1)/2 physical channels to link n devices.</a:t>
            </a:r>
          </a:p>
          <a:p>
            <a:pPr algn="l"/>
            <a:r>
              <a:rPr lang="en-US" dirty="0">
                <a:latin typeface="Times New Roman" panose="02020603050405020304" pitchFamily="18" charset="0"/>
                <a:cs typeface="Times New Roman" panose="02020603050405020304" pitchFamily="18" charset="0"/>
              </a:rPr>
              <a:t>There are two techniques to transmit data over the Mesh topology, they are :</a:t>
            </a:r>
          </a:p>
          <a:p>
            <a:pPr marL="571500" indent="-571500" algn="l">
              <a:buFont typeface="+mj-lt"/>
              <a:buAutoNum type="romanLcPeriod"/>
            </a:pPr>
            <a:r>
              <a:rPr lang="en-US" dirty="0">
                <a:latin typeface="Times New Roman" panose="02020603050405020304" pitchFamily="18" charset="0"/>
                <a:cs typeface="Times New Roman" panose="02020603050405020304" pitchFamily="18" charset="0"/>
              </a:rPr>
              <a:t>Routing - In routing, the nodes have a routing logic, as per the network requirements. Like routing logic to direct the data to reach the destination using the shortest distance. Or, routing logic which has information about the broken links, and it avoids those node etc. We can even have routing logic, to re-configure the failed nodes.</a:t>
            </a:r>
          </a:p>
          <a:p>
            <a:pPr marL="571500" indent="-571500" algn="l">
              <a:buFont typeface="+mj-lt"/>
              <a:buAutoNum type="romanLcPeriod"/>
            </a:pPr>
            <a:r>
              <a:rPr lang="en-US" dirty="0">
                <a:latin typeface="Times New Roman" panose="02020603050405020304" pitchFamily="18" charset="0"/>
                <a:cs typeface="Times New Roman" panose="02020603050405020304" pitchFamily="18" charset="0"/>
              </a:rPr>
              <a:t>Flooding - In flooding, the same data is transmitted to all the network nodes, hence no routing logic is required. The network is robust, and the its very unlikely to lose the data. But it leads to unwanted load over the network.</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838200" y="347730"/>
            <a:ext cx="10515600" cy="5867869"/>
          </a:xfrm>
        </p:spPr>
        <p:txBody>
          <a:bodyPr/>
          <a:lstStyle/>
          <a:p>
            <a:r>
              <a:rPr lang="en-US" dirty="0"/>
              <a:t>Mesh Topology</a:t>
            </a:r>
          </a:p>
          <a:p>
            <a:endParaRPr lang="en-US" dirty="0"/>
          </a:p>
          <a:p>
            <a:endParaRPr lang="en-US" dirty="0"/>
          </a:p>
          <a:p>
            <a:endParaRPr lang="en-US" dirty="0"/>
          </a:p>
          <a:p>
            <a:endParaRPr lang="en-US" dirty="0"/>
          </a:p>
          <a:p>
            <a:pPr marL="0" indent="0">
              <a:buNone/>
            </a:pPr>
            <a:endParaRPr lang="en-US" dirty="0"/>
          </a:p>
          <a:p>
            <a:r>
              <a:rPr lang="en-US" b="1" i="0" u="none" strike="noStrike" baseline="0" dirty="0">
                <a:latin typeface="Times New Roman" panose="02020603050405020304" pitchFamily="18" charset="0"/>
              </a:rPr>
              <a:t>Types of Mesh Topology</a:t>
            </a:r>
          </a:p>
          <a:p>
            <a:pPr marL="571500" indent="-571500">
              <a:buFont typeface="+mj-lt"/>
              <a:buAutoNum type="romanLcPeriod"/>
            </a:pPr>
            <a:r>
              <a:rPr lang="en-US" b="1" dirty="0">
                <a:latin typeface="Times New Roman" panose="02020603050405020304" pitchFamily="18" charset="0"/>
                <a:cs typeface="Times New Roman" panose="02020603050405020304" pitchFamily="18" charset="0"/>
              </a:rPr>
              <a:t>Partial Mesh Topology </a:t>
            </a:r>
            <a:r>
              <a:rPr lang="en-US" dirty="0">
                <a:latin typeface="Times New Roman" panose="02020603050405020304" pitchFamily="18" charset="0"/>
                <a:cs typeface="Times New Roman" panose="02020603050405020304" pitchFamily="18" charset="0"/>
              </a:rPr>
              <a:t>: In this topology some of the systems are connected in the same fashion as mesh topology but some devices are only connected to two or three devices.</a:t>
            </a:r>
          </a:p>
          <a:p>
            <a:pPr marL="571500" indent="-571500">
              <a:buFont typeface="+mj-lt"/>
              <a:buAutoNum type="romanLcPeriod"/>
            </a:pPr>
            <a:r>
              <a:rPr lang="en-US" b="1" dirty="0">
                <a:latin typeface="Times New Roman" panose="02020603050405020304" pitchFamily="18" charset="0"/>
                <a:cs typeface="Times New Roman" panose="02020603050405020304" pitchFamily="18" charset="0"/>
              </a:rPr>
              <a:t>Full Mesh Topology </a:t>
            </a:r>
            <a:r>
              <a:rPr lang="en-US" dirty="0">
                <a:latin typeface="Times New Roman" panose="02020603050405020304" pitchFamily="18" charset="0"/>
                <a:cs typeface="Times New Roman" panose="02020603050405020304" pitchFamily="18" charset="0"/>
              </a:rPr>
              <a:t>: Each and every nodes or devices are connected to each other.</a:t>
            </a:r>
          </a:p>
        </p:txBody>
      </p:sp>
      <p:pic>
        <p:nvPicPr>
          <p:cNvPr id="9" name="Content Placeholder 4"/>
          <p:cNvPicPr>
            <a:picLocks noChangeAspect="1"/>
          </p:cNvPicPr>
          <p:nvPr/>
        </p:nvPicPr>
        <p:blipFill>
          <a:blip r:embed="rId2"/>
          <a:stretch>
            <a:fillRect/>
          </a:stretch>
        </p:blipFill>
        <p:spPr>
          <a:xfrm>
            <a:off x="3541265" y="441356"/>
            <a:ext cx="4671588" cy="298764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6637" y="249382"/>
            <a:ext cx="10515600" cy="5989927"/>
          </a:xfrm>
        </p:spPr>
        <p:txBody>
          <a:bodyPr>
            <a:normAutofit fontScale="92500" lnSpcReduction="10000"/>
          </a:bodyPr>
          <a:lstStyle/>
          <a:p>
            <a:r>
              <a:rPr lang="en-US" b="1" dirty="0"/>
              <a:t>Advantages of mesh topology</a:t>
            </a:r>
          </a:p>
          <a:p>
            <a:pPr marL="571500" indent="-571500">
              <a:buFont typeface="+mj-lt"/>
              <a:buAutoNum type="romanLcPeriod"/>
            </a:pPr>
            <a:r>
              <a:rPr lang="en-US" dirty="0"/>
              <a:t>Congestion reduced: each connection can carry its own data load.</a:t>
            </a:r>
          </a:p>
          <a:p>
            <a:pPr marL="571500" indent="-571500">
              <a:buFont typeface="+mj-lt"/>
              <a:buAutoNum type="romanLcPeriod"/>
            </a:pPr>
            <a:r>
              <a:rPr lang="en-US" dirty="0"/>
              <a:t>Robustness: if one link fails, it does not affect the entire system</a:t>
            </a:r>
          </a:p>
          <a:p>
            <a:pPr marL="571500" indent="-571500">
              <a:buFont typeface="+mj-lt"/>
              <a:buAutoNum type="romanLcPeriod"/>
            </a:pPr>
            <a:r>
              <a:rPr lang="en-US" dirty="0"/>
              <a:t>Security: when data travels on a dedicated line, only the intended receiver can see the data.</a:t>
            </a:r>
          </a:p>
          <a:p>
            <a:pPr marL="571500" indent="-571500">
              <a:buFont typeface="+mj-lt"/>
              <a:buAutoNum type="romanLcPeriod"/>
            </a:pPr>
            <a:r>
              <a:rPr lang="en-US" dirty="0"/>
              <a:t>Easy fault identification and fault isolation: traffic can be re-routed to avoid problematic links</a:t>
            </a:r>
          </a:p>
          <a:p>
            <a:r>
              <a:rPr lang="en-US" b="1" dirty="0"/>
              <a:t>Disadvantages of mesh topology</a:t>
            </a:r>
          </a:p>
          <a:p>
            <a:pPr marL="571500" indent="-571500">
              <a:buFont typeface="+mj-lt"/>
              <a:buAutoNum type="romanLcPeriod"/>
            </a:pPr>
            <a:r>
              <a:rPr lang="en-US" dirty="0"/>
              <a:t>Difficult to install and reconfigure</a:t>
            </a:r>
          </a:p>
          <a:p>
            <a:pPr marL="571500" indent="-571500">
              <a:buFont typeface="+mj-lt"/>
              <a:buAutoNum type="romanLcPeriod"/>
            </a:pPr>
            <a:r>
              <a:rPr lang="en-US" dirty="0"/>
              <a:t>Bulk of wiring occupy more space than available space</a:t>
            </a:r>
          </a:p>
          <a:p>
            <a:pPr marL="571500" indent="-571500">
              <a:buFont typeface="+mj-lt"/>
              <a:buAutoNum type="romanLcPeriod"/>
            </a:pPr>
            <a:r>
              <a:rPr lang="en-US" dirty="0"/>
              <a:t>Very expensive: as there are many redundant connections</a:t>
            </a:r>
          </a:p>
          <a:p>
            <a:pPr marL="571500" indent="-571500">
              <a:buFont typeface="+mj-lt"/>
              <a:buAutoNum type="romanLcPeriod"/>
            </a:pPr>
            <a:r>
              <a:rPr lang="en-US" dirty="0"/>
              <a:t>Not mostly used in wired computer networks. Commonly used in wireless networks</a:t>
            </a:r>
          </a:p>
          <a:p>
            <a:pPr marL="571500" indent="-571500">
              <a:buFont typeface="+mj-lt"/>
              <a:buAutoNum type="romanLcPeriod"/>
            </a:pPr>
            <a:r>
              <a:rPr lang="en-US" dirty="0"/>
              <a:t>High redundancy of </a:t>
            </a:r>
            <a:r>
              <a:rPr lang="en-US"/>
              <a:t>network connection. </a:t>
            </a:r>
            <a:endParaRPr lang="en-US" dirty="0"/>
          </a:p>
          <a:p>
            <a:endParaRPr lang="en-US" b="1" dirty="0"/>
          </a:p>
          <a:p>
            <a:endParaRPr lang="en-GB"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93183"/>
            <a:ext cx="10515600" cy="5983780"/>
          </a:xfrm>
        </p:spPr>
        <p:txBody>
          <a:bodyPr/>
          <a:lstStyle/>
          <a:p>
            <a:r>
              <a:rPr lang="en-US" b="1" dirty="0">
                <a:latin typeface="Times New Roman" panose="02020603050405020304" pitchFamily="18" charset="0"/>
                <a:cs typeface="Times New Roman" panose="02020603050405020304" pitchFamily="18" charset="0"/>
              </a:rPr>
              <a:t>TREE TOPOLOGY - </a:t>
            </a:r>
            <a:r>
              <a:rPr lang="en-US" dirty="0">
                <a:latin typeface="Times New Roman" panose="02020603050405020304" pitchFamily="18" charset="0"/>
                <a:cs typeface="Times New Roman" panose="02020603050405020304" pitchFamily="18" charset="0"/>
              </a:rPr>
              <a:t>It has a root node and all other nodes are connected to it forming a hierarchy. It is also called hierarchical topology. It should at least have three levels to the hierarchy.</a:t>
            </a:r>
          </a:p>
          <a:p>
            <a:endParaRPr lang="en-US"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2420293" y="2007606"/>
            <a:ext cx="7351414" cy="2842788"/>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76518"/>
            <a:ext cx="10515600" cy="5700445"/>
          </a:xfrm>
        </p:spPr>
        <p:txBody>
          <a:bodyPr/>
          <a:lstStyle/>
          <a:p>
            <a:pPr algn="just"/>
            <a:r>
              <a:rPr lang="en-US" b="1" dirty="0">
                <a:latin typeface="Times New Roman" panose="02020603050405020304" pitchFamily="18" charset="0"/>
                <a:cs typeface="Times New Roman" panose="02020603050405020304" pitchFamily="18" charset="0"/>
              </a:rPr>
              <a:t>Hybrid Topologies</a:t>
            </a:r>
          </a:p>
          <a:p>
            <a:pPr algn="just"/>
            <a:r>
              <a:rPr lang="en-US" dirty="0">
                <a:latin typeface="Times New Roman" panose="02020603050405020304" pitchFamily="18" charset="0"/>
                <a:cs typeface="Times New Roman" panose="02020603050405020304" pitchFamily="18" charset="0"/>
              </a:rPr>
              <a:t>These topologies can also be mixed. For example, a bus-star network consists of a high-bandwidth bus, called the backbone, which connects a collection of slower-bandwidth star segments.</a:t>
            </a:r>
          </a:p>
          <a:p>
            <a:pPr algn="just"/>
            <a:endParaRPr lang="en-US"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LAN Administration </a:t>
            </a:r>
          </a:p>
        </p:txBody>
      </p:sp>
      <p:sp>
        <p:nvSpPr>
          <p:cNvPr id="3" name="Content Placeholder 2"/>
          <p:cNvSpPr>
            <a:spLocks noGrp="1"/>
          </p:cNvSpPr>
          <p:nvPr>
            <p:ph idx="1"/>
          </p:nvPr>
        </p:nvSpPr>
        <p:spPr/>
        <p:txBody>
          <a:bodyPr/>
          <a:lstStyle/>
          <a:p>
            <a:r>
              <a:rPr lang="en-US" dirty="0"/>
              <a:t>From an administrator’s point of view, a network can be private network which belongs a single autonomous system and cannot be accessed outside its physical or logical domain. </a:t>
            </a:r>
          </a:p>
          <a:p>
            <a:r>
              <a:rPr lang="en-US" dirty="0"/>
              <a:t>A network can be public, which is accessed by all.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TotalTime>
  <Words>3852</Words>
  <Application>Microsoft Office PowerPoint</Application>
  <PresentationFormat>Widescreen</PresentationFormat>
  <Paragraphs>263</Paragraphs>
  <Slides>40</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40</vt:i4>
      </vt:variant>
    </vt:vector>
  </HeadingPairs>
  <TitlesOfParts>
    <vt:vector size="51" baseType="lpstr">
      <vt:lpstr>Arial</vt:lpstr>
      <vt:lpstr>Arial,Sans-Serif</vt:lpstr>
      <vt:lpstr>Calibri</vt:lpstr>
      <vt:lpstr>Calibri Light</vt:lpstr>
      <vt:lpstr>Google Sans</vt:lpstr>
      <vt:lpstr>Helvetica-Narrow</vt:lpstr>
      <vt:lpstr>Nunito</vt:lpstr>
      <vt:lpstr>Nunito Sans</vt:lpstr>
      <vt:lpstr>Times New Roman</vt:lpstr>
      <vt:lpstr>Wingdings</vt:lpstr>
      <vt:lpstr>Office Theme</vt:lpstr>
      <vt:lpstr>Computer networks</vt:lpstr>
      <vt:lpstr>ADVANTAGES OF NETWORKS</vt:lpstr>
      <vt:lpstr>Importance of Computer Networks</vt:lpstr>
      <vt:lpstr>NETWORK CRITERIA</vt:lpstr>
      <vt:lpstr>PowerPoint Presentation</vt:lpstr>
      <vt:lpstr>PowerPoint Presentation</vt:lpstr>
      <vt:lpstr>PowerPoint Presentation</vt:lpstr>
      <vt:lpstr>PowerPoint Presentation</vt:lpstr>
      <vt:lpstr>Types of computer networks Based on Geographical Span</vt:lpstr>
      <vt:lpstr>PowerPoint Presentation</vt:lpstr>
      <vt:lpstr>TYPES OF LAN</vt:lpstr>
      <vt:lpstr>PowerPoint Presentation</vt:lpstr>
      <vt:lpstr>PowerPoint Presentation</vt:lpstr>
      <vt:lpstr>PowerPoint Presentation</vt:lpstr>
      <vt:lpstr>ADVANTAGES OF LAN </vt:lpstr>
      <vt:lpstr>DISADVANTAGES OF LAN </vt:lpstr>
      <vt:lpstr>PowerPoint Presentation</vt:lpstr>
      <vt:lpstr>PowerPoint Presentation</vt:lpstr>
      <vt:lpstr>PowerPoint Presentation</vt:lpstr>
      <vt:lpstr>BASIC TERMINOLOGIES</vt:lpstr>
      <vt:lpstr>CATEGORIES OF NETWORK TOPOLOGIES</vt:lpstr>
      <vt:lpstr>PowerPoint Presentation</vt:lpstr>
      <vt:lpstr>PowerPoint Presentation</vt:lpstr>
      <vt:lpstr>LAN Transmission Methods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LAN Administration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Cosc 0160: data communication and computer networks</dc:title>
  <dc:creator>Nancy</dc:creator>
  <cp:lastModifiedBy>Lenovo</cp:lastModifiedBy>
  <cp:revision>82</cp:revision>
  <dcterms:created xsi:type="dcterms:W3CDTF">2020-01-23T07:17:00Z</dcterms:created>
  <dcterms:modified xsi:type="dcterms:W3CDTF">2024-10-30T09:31:16Z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61FAED87FFB64191BE6C0DB9CD67A454_12</vt:lpwstr>
  </property>
  <property fmtid="{D5CDD505-2E9C-101B-9397-08002B2CF9AE}" pid="3" name="KSOProductBuildVer">
    <vt:lpwstr>1033-12.2.0.13431</vt:lpwstr>
  </property>
</Properties>
</file>